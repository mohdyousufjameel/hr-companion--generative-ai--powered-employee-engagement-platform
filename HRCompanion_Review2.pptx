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8" r:id="rId13"/>
  </p:sldIdLst>
  <p:sldSz type="screen16x9" cy="6858000" cx="12192000"/>
  <p:notesSz cx="6858000" cy="12192000"/>
  <p:defaultTextStyle>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611"/>
    <p:restoredTop sz="94610"/>
  </p:normalViewPr>
  <p:slideViewPr>
    <p:cSldViewPr snapToGrid="0" snapToObjects="1">
      <p:cViewPr varScale="1">
        <p:scale>
          <a:sx n="136" d="100"/>
          <a:sy n="136" d="100"/>
        </p:scale>
        <p:origin x="216" y="31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3" name=""/>
        <p:cNvGrpSpPr/>
        <p:nvPr/>
      </p:nvGrpSpPr>
      <p:grpSpPr>
        <a:xfrm>
          <a:off x="0" y="0"/>
          <a:ext cx="0" cy="0"/>
          <a:chOff x="0" y="0"/>
          <a:chExt cx="0" cy="0"/>
        </a:xfrm>
      </p:grpSpPr>
      <p:sp>
        <p:nvSpPr>
          <p:cNvPr id="1048909"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910"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5282F153-3F37-0F45-9E97-73ACFA13230C}" type="datetimeFigureOut">
              <a:rPr lang="en-US"/>
              <a:t>7/23/19</a:t>
            </a:fld>
            <a:endParaRPr lang="en-US"/>
          </a:p>
        </p:txBody>
      </p:sp>
      <p:sp>
        <p:nvSpPr>
          <p:cNvPr id="1048911"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912"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13"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914"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CE5E9CC1-C706-0F49-92D6-E571CC5EEA8F}" type="slidenum">
              <a:rPr lang="en-US"/>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sp>
        <p:nvSpPr>
          <p:cNvPr id="1048589" name="Slide Image Placeholder 1"/>
          <p:cNvSpPr>
            <a:spLocks noChangeAspect="1" noRot="1" noGrp="1"/>
          </p:cNvSpPr>
          <p:nvPr>
            <p:ph type="sldImg"/>
          </p:nvPr>
        </p:nvSpPr>
        <p:spPr/>
      </p:sp>
      <p:sp>
        <p:nvSpPr>
          <p:cNvPr id="1048590" name="Notes Placeholder 2"/>
          <p:cNvSpPr>
            <a:spLocks noGrp="1"/>
          </p:cNvSpPr>
          <p:nvPr>
            <p:ph type="body" idx="1"/>
          </p:nvPr>
        </p:nvSpPr>
        <p:spPr/>
        <p:txBody>
          <a:bodyPr/>
          <a:p>
            <a:r>
              <a:rPr dirty="0" lang="en-US"/>
              <a:t>Introduce the project, team members and guide. Replace bracketed placeholders with real names, roll numbers and designation.</a:t>
            </a:r>
            <a:endParaRPr dirty="0" lang="en-US"/>
          </a:p>
        </p:txBody>
      </p:sp>
      <p:sp>
        <p:nvSpPr>
          <p:cNvPr id="1048591" name="Slide Number Placeholder 3"/>
          <p:cNvSpPr>
            <a:spLocks noGrp="1"/>
          </p:cNvSpPr>
          <p:nvPr>
            <p:ph type="sldNum" sz="quarter" idx="10"/>
          </p:nvPr>
        </p:nvSpPr>
        <p:spPr/>
        <p:txBody>
          <a:bodyPr/>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633" name="Slide Image Placeholder 1"/>
          <p:cNvSpPr>
            <a:spLocks noChangeAspect="1" noRot="1" noGrp="1"/>
          </p:cNvSpPr>
          <p:nvPr>
            <p:ph type="sldImg"/>
          </p:nvPr>
        </p:nvSpPr>
        <p:spPr/>
      </p:sp>
      <p:sp>
        <p:nvSpPr>
          <p:cNvPr id="1048634" name="Notes Placeholder 2"/>
          <p:cNvSpPr>
            <a:spLocks noGrp="1"/>
          </p:cNvSpPr>
          <p:nvPr>
            <p:ph type="body" idx="1"/>
          </p:nvPr>
        </p:nvSpPr>
        <p:spPr/>
        <p:txBody>
          <a:bodyPr/>
          <a:p>
            <a:r>
              <a:rPr dirty="0" lang="en-US"/>
              <a:t>Slide numbers shown on each card match the slide order.</a:t>
            </a:r>
            <a:endParaRPr dirty="0" lang="en-US"/>
          </a:p>
        </p:txBody>
      </p:sp>
      <p:sp>
        <p:nvSpPr>
          <p:cNvPr id="1048635" name="Slide Number Placeholder 3"/>
          <p:cNvSpPr>
            <a:spLocks noGrp="1"/>
          </p:cNvSpPr>
          <p:nvPr>
            <p:ph type="sldNum" sz="quarter" idx="10"/>
          </p:nvPr>
        </p:nvSpPr>
        <p:spPr/>
        <p:txBody>
          <a:bodyPr/>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654" name="Slide Image Placeholder 1"/>
          <p:cNvSpPr>
            <a:spLocks noChangeAspect="1" noRot="1" noGrp="1"/>
          </p:cNvSpPr>
          <p:nvPr>
            <p:ph type="sldImg"/>
          </p:nvPr>
        </p:nvSpPr>
        <p:spPr/>
      </p:sp>
      <p:sp>
        <p:nvSpPr>
          <p:cNvPr id="1048655" name="Notes Placeholder 2"/>
          <p:cNvSpPr>
            <a:spLocks noGrp="1"/>
          </p:cNvSpPr>
          <p:nvPr>
            <p:ph type="body" idx="1"/>
          </p:nvPr>
        </p:nvSpPr>
        <p:spPr/>
        <p:txBody>
          <a:bodyPr/>
          <a:p>
            <a:r>
              <a:rPr dirty="0" lang="en-US"/>
              <a:t>Goal: reduce HR workload, improve response time and enhance employee experience.</a:t>
            </a:r>
            <a:endParaRPr dirty="0" lang="en-US"/>
          </a:p>
        </p:txBody>
      </p:sp>
      <p:sp>
        <p:nvSpPr>
          <p:cNvPr id="1048656" name="Slide Number Placeholder 3"/>
          <p:cNvSpPr>
            <a:spLocks noGrp="1"/>
          </p:cNvSpPr>
          <p:nvPr>
            <p:ph type="sldNum" sz="quarter" idx="10"/>
          </p:nvPr>
        </p:nvSpPr>
        <p:spPr/>
        <p:txBody>
          <a:bodyPr/>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72" name="Slide Image Placeholder 1"/>
          <p:cNvSpPr>
            <a:spLocks noChangeAspect="1" noRot="1" noGrp="1"/>
          </p:cNvSpPr>
          <p:nvPr>
            <p:ph type="sldImg"/>
          </p:nvPr>
        </p:nvSpPr>
        <p:spPr/>
      </p:sp>
      <p:sp>
        <p:nvSpPr>
          <p:cNvPr id="1048673" name="Notes Placeholder 2"/>
          <p:cNvSpPr>
            <a:spLocks noGrp="1"/>
          </p:cNvSpPr>
          <p:nvPr>
            <p:ph type="body" idx="1"/>
          </p:nvPr>
        </p:nvSpPr>
        <p:spPr/>
        <p:txBody>
          <a:bodyPr/>
          <a:p>
            <a:r>
              <a:rPr dirty="0" lang="en-US"/>
              <a:t/>
            </a:r>
            <a:endParaRPr dirty="0" lang="en-US"/>
          </a:p>
        </p:txBody>
      </p:sp>
      <p:sp>
        <p:nvSpPr>
          <p:cNvPr id="1048674" name="Slide Number Placeholder 3"/>
          <p:cNvSpPr>
            <a:spLocks noGrp="1"/>
          </p:cNvSpPr>
          <p:nvPr>
            <p:ph type="sldNum" sz="quarter" idx="10"/>
          </p:nvPr>
        </p:nvSpPr>
        <p:spPr/>
        <p:txBody>
          <a:bodyPr/>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701" name="Slide Image Placeholder 1"/>
          <p:cNvSpPr>
            <a:spLocks noChangeAspect="1" noRot="1" noGrp="1"/>
          </p:cNvSpPr>
          <p:nvPr>
            <p:ph type="sldImg"/>
          </p:nvPr>
        </p:nvSpPr>
        <p:spPr/>
      </p:sp>
      <p:sp>
        <p:nvSpPr>
          <p:cNvPr id="1048702" name="Notes Placeholder 2"/>
          <p:cNvSpPr>
            <a:spLocks noGrp="1"/>
          </p:cNvSpPr>
          <p:nvPr>
            <p:ph type="body" idx="1"/>
          </p:nvPr>
        </p:nvSpPr>
        <p:spPr/>
        <p:txBody>
          <a:bodyPr/>
          <a:p>
            <a:r>
              <a:rPr dirty="0" lang="en-US"/>
              <a:t/>
            </a:r>
            <a:endParaRPr dirty="0" lang="en-US"/>
          </a:p>
        </p:txBody>
      </p:sp>
      <p:sp>
        <p:nvSpPr>
          <p:cNvPr id="1048703" name="Slide Number Placeholder 3"/>
          <p:cNvSpPr>
            <a:spLocks noGrp="1"/>
          </p:cNvSpPr>
          <p:nvPr>
            <p:ph type="sldNum" sz="quarter" idx="10"/>
          </p:nvPr>
        </p:nvSpPr>
        <p:spPr/>
        <p:txBody>
          <a:bodyPr/>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706" name="Slide Image Placeholder 1"/>
          <p:cNvSpPr>
            <a:spLocks noChangeAspect="1" noRot="1" noGrp="1"/>
          </p:cNvSpPr>
          <p:nvPr>
            <p:ph type="sldImg"/>
          </p:nvPr>
        </p:nvSpPr>
        <p:spPr/>
      </p:sp>
      <p:sp>
        <p:nvSpPr>
          <p:cNvPr id="1048707" name="Notes Placeholder 2"/>
          <p:cNvSpPr>
            <a:spLocks noGrp="1"/>
          </p:cNvSpPr>
          <p:nvPr>
            <p:ph type="body" idx="1"/>
          </p:nvPr>
        </p:nvSpPr>
        <p:spPr/>
        <p:txBody>
          <a:bodyPr/>
          <a:p>
            <a:r>
              <a:rPr dirty="0" lang="en-US"/>
              <a:t>Fill this table with the same papers presented in Review-1.</a:t>
            </a:r>
            <a:endParaRPr dirty="0" lang="en-US"/>
          </a:p>
        </p:txBody>
      </p:sp>
      <p:sp>
        <p:nvSpPr>
          <p:cNvPr id="1048708" name="Slide Number Placeholder 3"/>
          <p:cNvSpPr>
            <a:spLocks noGrp="1"/>
          </p:cNvSpPr>
          <p:nvPr>
            <p:ph type="sldNum" sz="quarter" idx="10"/>
          </p:nvPr>
        </p:nvSpPr>
        <p:spPr/>
        <p:txBody>
          <a:bodyPr/>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746" name="Slide Image Placeholder 1"/>
          <p:cNvSpPr>
            <a:spLocks noChangeAspect="1" noRot="1" noGrp="1"/>
          </p:cNvSpPr>
          <p:nvPr>
            <p:ph type="sldImg"/>
          </p:nvPr>
        </p:nvSpPr>
        <p:spPr/>
      </p:sp>
      <p:sp>
        <p:nvSpPr>
          <p:cNvPr id="1048747" name="Notes Placeholder 2"/>
          <p:cNvSpPr>
            <a:spLocks noGrp="1"/>
          </p:cNvSpPr>
          <p:nvPr>
            <p:ph type="body" idx="1"/>
          </p:nvPr>
        </p:nvSpPr>
        <p:spPr/>
        <p:txBody>
          <a:bodyPr/>
          <a:p>
            <a:r>
              <a:rPr dirty="0" lang="en-US"/>
              <a:t/>
            </a:r>
            <a:endParaRPr dirty="0" lang="en-US"/>
          </a:p>
        </p:txBody>
      </p:sp>
      <p:sp>
        <p:nvSpPr>
          <p:cNvPr id="1048748" name="Slide Number Placeholder 3"/>
          <p:cNvSpPr>
            <a:spLocks noGrp="1"/>
          </p:cNvSpPr>
          <p:nvPr>
            <p:ph type="sldNum" sz="quarter" idx="10"/>
          </p:nvPr>
        </p:nvSpPr>
        <p:spPr/>
        <p:txBody>
          <a:bodyPr/>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786" name="Slide Image Placeholder 1"/>
          <p:cNvSpPr>
            <a:spLocks noChangeAspect="1" noRot="1" noGrp="1"/>
          </p:cNvSpPr>
          <p:nvPr>
            <p:ph type="sldImg"/>
          </p:nvPr>
        </p:nvSpPr>
        <p:spPr/>
      </p:sp>
      <p:sp>
        <p:nvSpPr>
          <p:cNvPr id="1048787" name="Notes Placeholder 2"/>
          <p:cNvSpPr>
            <a:spLocks noGrp="1"/>
          </p:cNvSpPr>
          <p:nvPr>
            <p:ph type="body" idx="1"/>
          </p:nvPr>
        </p:nvSpPr>
        <p:spPr/>
        <p:txBody>
          <a:bodyPr/>
          <a:p>
            <a:r>
              <a:rPr dirty="0" lang="en-US"/>
              <a:t/>
            </a:r>
            <a:endParaRPr dirty="0" lang="en-US"/>
          </a:p>
        </p:txBody>
      </p:sp>
      <p:sp>
        <p:nvSpPr>
          <p:cNvPr id="1048788" name="Slide Number Placeholder 3"/>
          <p:cNvSpPr>
            <a:spLocks noGrp="1"/>
          </p:cNvSpPr>
          <p:nvPr>
            <p:ph type="sldNum" sz="quarter" idx="10"/>
          </p:nvPr>
        </p:nvSpPr>
        <p:spPr/>
        <p:txBody>
          <a:bodyPr/>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803" name="Slide Image Placeholder 1"/>
          <p:cNvSpPr>
            <a:spLocks noChangeAspect="1" noRot="1" noGrp="1"/>
          </p:cNvSpPr>
          <p:nvPr>
            <p:ph type="sldImg"/>
          </p:nvPr>
        </p:nvSpPr>
        <p:spPr/>
      </p:sp>
      <p:sp>
        <p:nvSpPr>
          <p:cNvPr id="1048804" name="Notes Placeholder 2"/>
          <p:cNvSpPr>
            <a:spLocks noGrp="1"/>
          </p:cNvSpPr>
          <p:nvPr>
            <p:ph type="body" idx="1"/>
          </p:nvPr>
        </p:nvSpPr>
        <p:spPr/>
        <p:txBody>
          <a:bodyPr/>
          <a:p>
            <a:r>
              <a:rPr dirty="0" lang="en-US"/>
              <a:t>Walk left to right: input layer, core system (interaction &amp; query processing, generative AI engine, engagement &amp; analytics, knowledge &amp; data layer on MySQL), output layer; admin layer below.</a:t>
            </a:r>
            <a:endParaRPr dirty="0" lang="en-US"/>
          </a:p>
        </p:txBody>
      </p:sp>
      <p:sp>
        <p:nvSpPr>
          <p:cNvPr id="1048805" name="Slide Number Placeholder 3"/>
          <p:cNvSpPr>
            <a:spLocks noGrp="1"/>
          </p:cNvSpPr>
          <p:nvPr>
            <p:ph type="sldNum" sz="quarter" idx="10"/>
          </p:nvPr>
        </p:nvSpPr>
        <p:spPr/>
        <p:txBody>
          <a:bodyPr/>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881" name="Slide Image Placeholder 1"/>
          <p:cNvSpPr>
            <a:spLocks noChangeAspect="1" noRot="1" noGrp="1"/>
          </p:cNvSpPr>
          <p:nvPr>
            <p:ph type="sldImg"/>
          </p:nvPr>
        </p:nvSpPr>
        <p:spPr/>
      </p:sp>
      <p:sp>
        <p:nvSpPr>
          <p:cNvPr id="1048882" name="Notes Placeholder 2"/>
          <p:cNvSpPr>
            <a:spLocks noGrp="1"/>
          </p:cNvSpPr>
          <p:nvPr>
            <p:ph type="body" idx="1"/>
          </p:nvPr>
        </p:nvSpPr>
        <p:spPr/>
        <p:txBody>
          <a:bodyPr/>
          <a:p>
            <a:r>
              <a:rPr dirty="0" lang="en-US"/>
              <a:t>14 modules: modules 1-2 are the two user roles; 3-14 are functional modules.</a:t>
            </a:r>
            <a:endParaRPr dirty="0" lang="en-US"/>
          </a:p>
        </p:txBody>
      </p:sp>
      <p:sp>
        <p:nvSpPr>
          <p:cNvPr id="1048883" name="Slide Number Placeholder 3"/>
          <p:cNvSpPr>
            <a:spLocks noGrp="1"/>
          </p:cNvSpPr>
          <p:nvPr>
            <p:ph type="sldNum" sz="quarter" idx="10"/>
          </p:nvPr>
        </p:nvSpPr>
        <p:spPr/>
        <p:txBody>
          <a:bodyPr/>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906" name="Slide Image Placeholder 1"/>
          <p:cNvSpPr>
            <a:spLocks noChangeAspect="1" noRot="1" noGrp="1"/>
          </p:cNvSpPr>
          <p:nvPr>
            <p:ph type="sldImg"/>
          </p:nvPr>
        </p:nvSpPr>
        <p:spPr/>
      </p:sp>
      <p:sp>
        <p:nvSpPr>
          <p:cNvPr id="1048907" name="Notes Placeholder 2"/>
          <p:cNvSpPr>
            <a:spLocks noGrp="1"/>
          </p:cNvSpPr>
          <p:nvPr>
            <p:ph type="body" idx="1"/>
          </p:nvPr>
        </p:nvSpPr>
        <p:spPr/>
        <p:txBody>
          <a:bodyPr/>
          <a:p>
            <a:r>
              <a:rPr dirty="0" lang="en-US"/>
              <a:t>The four algorithms map to the Generative AI Engine and Engagement &amp; Analytics blocks in the architecture.</a:t>
            </a:r>
            <a:endParaRPr dirty="0" lang="en-US"/>
          </a:p>
        </p:txBody>
      </p:sp>
      <p:sp>
        <p:nvSpPr>
          <p:cNvPr id="1048908" name="Slide Number Placeholder 3"/>
          <p:cNvSpPr>
            <a:spLocks noGrp="1"/>
          </p:cNvSpPr>
          <p:nvPr>
            <p:ph type="sldNum" sz="quarter" idx="10"/>
          </p:nvPr>
        </p:nvSpPr>
        <p:spPr/>
        <p:txBody>
          <a:bodyPr/>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52"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21" name=""/>
        <p:cNvGrpSpPr/>
        <p:nvPr/>
      </p:nvGrpSpPr>
      <p:grpSpPr>
        <a:xfrm>
          <a:off x="0" y="0"/>
          <a:ext cx="0" cy="0"/>
          <a:chOff x="0" y="0"/>
          <a:chExt cx="0" cy="0"/>
        </a:xfrm>
      </p:grpSpPr>
      <p:sp>
        <p:nvSpPr>
          <p:cNvPr id="1048592" name="Text 0"/>
          <p:cNvSpPr/>
          <p:nvPr/>
        </p:nvSpPr>
        <p:spPr>
          <a:xfrm>
            <a:off x="548640" y="6400800"/>
            <a:ext cx="7315200" cy="274320"/>
          </a:xfrm>
          <a:prstGeom prst="rect"/>
          <a:noFill/>
        </p:spPr>
        <p:txBody>
          <a:bodyPr anchor="ctr" bIns="0" lIns="0" rIns="0" rtlCol="0" tIns="0" wrap="square"/>
          <a:p>
            <a:pPr indent="0" marL="0">
              <a:buNone/>
            </a:pPr>
            <a:r>
              <a:rPr dirty="0" sz="1100" lang="en-US">
                <a:solidFill>
                  <a:srgbClr val="5A6478"/>
                </a:solidFill>
                <a:latin typeface="Calibri" pitchFamily="34" charset="0"/>
                <a:ea typeface="Calibri" pitchFamily="34" charset="-122"/>
                <a:cs typeface="Calibri" pitchFamily="34" charset="-120"/>
              </a:rPr>
              <a:t>HRCompanion  |  Major Project Phase-1 (Review-2)</a:t>
            </a:r>
            <a:endParaRPr dirty="0" sz="1100" lang="en-US"/>
          </a:p>
        </p:txBody>
      </p:sp>
      <p:sp>
        <p:nvSpPr>
          <p:cNvPr id="1048593" name="Text 1"/>
          <p:cNvSpPr/>
          <p:nvPr>
            <p:ph type="title" idx="101" hasCustomPrompt="1"/>
          </p:nvPr>
        </p:nvSpPr>
        <p:spPr>
          <a:xfrm>
            <a:off x="548640" y="320040"/>
            <a:ext cx="11064240" cy="868680"/>
          </a:xfrm>
          <a:prstGeom prst="rect"/>
          <a:noFill/>
        </p:spPr>
        <p:txBody>
          <a:bodyPr rtlCol="0" wrap="square"/>
          <a:lstStyle>
            <a:lvl1pPr indent="0" marL="0">
              <a:buNone/>
              <a:defRPr b="1" dirty="0" sz="3400" lang="en-US">
                <a:solidFill>
                  <a:srgbClr val="14213D"/>
                </a:solidFill>
                <a:latin typeface="Cambria" pitchFamily="34" charset="0"/>
                <a:ea typeface="Cambria" pitchFamily="34" charset="-122"/>
                <a:cs typeface="Cambria" pitchFamily="34" charset="-120"/>
              </a:defRPr>
            </a:lvl1pPr>
          </a:lstStyle>
          <a:p>
            <a:pPr indent="0" marL="0">
              <a:buNone/>
            </a:pPr>
            <a:endParaRPr dirty="0" sz="3400" lang="en-US"/>
          </a:p>
        </p:txBody>
      </p:sp>
      <p:sp>
        <p:nvSpPr>
          <p:cNvPr id="1048594"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6"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2" name=""/>
        <p:cNvGrpSpPr/>
        <p:nvPr/>
      </p:nvGrpSpPr>
      <p:grpSpPr>
        <a:xfrm>
          <a:off x="0" y="0"/>
          <a:ext cx="0" cy="0"/>
          <a:chOff x="0" y="0"/>
          <a:chExt cx="0" cy="0"/>
        </a:xfrm>
      </p:grpSpPr>
      <p:sp>
        <p:nvSpPr>
          <p:cNvPr id="1048576"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null</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Lst>
  <p:hf dt="0" ftr="0" hdr="0" sldNum="0"/>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7" name=""/>
        <p:cNvGrpSpPr/>
        <p:nvPr/>
      </p:nvGrpSpPr>
      <p:grpSpPr>
        <a:xfrm>
          <a:off x="0" y="0"/>
          <a:ext cx="0" cy="0"/>
          <a:chOff x="0" y="0"/>
          <a:chExt cx="0" cy="0"/>
        </a:xfrm>
      </p:grpSpPr>
      <p:sp>
        <p:nvSpPr>
          <p:cNvPr id="1048577" name="deco"/>
          <p:cNvSpPr/>
          <p:nvPr/>
        </p:nvSpPr>
        <p:spPr>
          <a:xfrm>
            <a:off x="8778240" y="-1463040"/>
            <a:ext cx="5120640" cy="5120640"/>
          </a:xfrm>
          <a:prstGeom prst="ellipse"/>
          <a:solidFill>
            <a:srgbClr val="12A19A">
              <a:alpha val="20000"/>
            </a:srgbClr>
          </a:solidFill>
          <a:ln w="12700">
            <a:solidFill>
              <a:srgbClr val="12A19A">
                <a:alpha val="0"/>
              </a:srgbClr>
            </a:solidFill>
            <a:prstDash val="solid"/>
          </a:ln>
        </p:spPr>
      </p:sp>
      <p:sp>
        <p:nvSpPr>
          <p:cNvPr id="1048578" name="deco"/>
          <p:cNvSpPr/>
          <p:nvPr/>
        </p:nvSpPr>
        <p:spPr>
          <a:xfrm>
            <a:off x="9966960" y="3291840"/>
            <a:ext cx="3291840" cy="3291840"/>
          </a:xfrm>
          <a:prstGeom prst="ellipse"/>
          <a:solidFill>
            <a:srgbClr val="F26B50">
              <a:alpha val="18000"/>
            </a:srgbClr>
          </a:solidFill>
          <a:ln w="12700">
            <a:solidFill>
              <a:srgbClr val="F26B50">
                <a:alpha val="0"/>
              </a:srgbClr>
            </a:solidFill>
            <a:prstDash val="solid"/>
          </a:ln>
        </p:spPr>
      </p:sp>
      <p:sp>
        <p:nvSpPr>
          <p:cNvPr id="1048579" name="icon-circle"/>
          <p:cNvSpPr/>
          <p:nvPr/>
        </p:nvSpPr>
        <p:spPr>
          <a:xfrm>
            <a:off x="640080" y="548640"/>
            <a:ext cx="640080" cy="640080"/>
          </a:xfrm>
          <a:prstGeom prst="ellipse"/>
          <a:solidFill>
            <a:srgbClr val="12A19A"/>
          </a:solidFill>
          <a:ln w="12700">
            <a:solidFill>
              <a:srgbClr val="12A19A"/>
            </a:solidFill>
            <a:prstDash val="solid"/>
          </a:ln>
        </p:spPr>
      </p:sp>
      <p:pic>
        <p:nvPicPr>
          <p:cNvPr id="2097152" name="Image 0" descr="Robot icon"/>
          <p:cNvPicPr>
            <a:picLocks noChangeAspect="1"/>
          </p:cNvPicPr>
          <p:nvPr/>
        </p:nvPicPr>
        <p:blipFill>
          <a:blip xmlns:r="http://schemas.openxmlformats.org/officeDocument/2006/relationships" r:embed="rId1"/>
          <a:stretch>
            <a:fillRect/>
          </a:stretch>
        </p:blipFill>
        <p:spPr>
          <a:xfrm>
            <a:off x="800100" y="708660"/>
            <a:ext cx="320040" cy="320040"/>
          </a:xfrm>
          <a:prstGeom prst="rect"/>
        </p:spPr>
      </p:pic>
      <p:sp>
        <p:nvSpPr>
          <p:cNvPr id="1048580" name="Text 3"/>
          <p:cNvSpPr txBox="1"/>
          <p:nvPr/>
        </p:nvSpPr>
        <p:spPr>
          <a:xfrm>
            <a:off x="1463040" y="548640"/>
            <a:ext cx="7315200" cy="640080"/>
          </a:xfrm>
          <a:prstGeom prst="rect"/>
          <a:noFill/>
        </p:spPr>
        <p:txBody>
          <a:bodyPr anchor="ctr" bIns="0" lIns="0" rIns="0" rtlCol="0" tIns="0" wrap="square"/>
          <a:p>
            <a:pPr indent="0" marL="0">
              <a:buNone/>
            </a:pPr>
            <a:r>
              <a:rPr b="1" dirty="0" sz="1600" kern="0" lang="en-US" spc="300">
                <a:solidFill>
                  <a:srgbClr val="9FE3DE"/>
                </a:solidFill>
                <a:latin typeface="Calibri" pitchFamily="34" charset="0"/>
                <a:ea typeface="Calibri" pitchFamily="34" charset="-122"/>
                <a:cs typeface="Calibri" pitchFamily="34" charset="-120"/>
              </a:rPr>
              <a:t>MAJOR PROJECT PHASE-1  ·  REVIEW-2</a:t>
            </a:r>
            <a:endParaRPr dirty="0" sz="1600" lang="en-US"/>
          </a:p>
        </p:txBody>
      </p:sp>
      <p:sp>
        <p:nvSpPr>
          <p:cNvPr id="1048581" name="Text 4"/>
          <p:cNvSpPr txBox="1"/>
          <p:nvPr/>
        </p:nvSpPr>
        <p:spPr>
          <a:xfrm>
            <a:off x="640080" y="1463040"/>
            <a:ext cx="10058400" cy="1005840"/>
          </a:xfrm>
          <a:prstGeom prst="rect"/>
          <a:noFill/>
        </p:spPr>
        <p:txBody>
          <a:bodyPr anchor="ctr" bIns="0" lIns="0" rIns="0" rtlCol="0" tIns="0" wrap="square"/>
          <a:p>
            <a:pPr indent="0" marL="0">
              <a:buNone/>
            </a:pPr>
            <a:r>
              <a:rPr b="1" dirty="0" sz="6000" lang="en-US">
                <a:solidFill>
                  <a:srgbClr val="FFFFFF"/>
                </a:solidFill>
                <a:latin typeface="Cambria" pitchFamily="34" charset="0"/>
                <a:ea typeface="Cambria" pitchFamily="34" charset="-122"/>
                <a:cs typeface="Cambria" pitchFamily="34" charset="-120"/>
              </a:rPr>
              <a:t>HRCompanion</a:t>
            </a:r>
            <a:endParaRPr dirty="0" sz="6000" lang="en-US"/>
          </a:p>
        </p:txBody>
      </p:sp>
      <p:sp>
        <p:nvSpPr>
          <p:cNvPr id="1048582" name="Text 5"/>
          <p:cNvSpPr txBox="1"/>
          <p:nvPr/>
        </p:nvSpPr>
        <p:spPr>
          <a:xfrm>
            <a:off x="640080" y="2514600"/>
            <a:ext cx="9601200" cy="640080"/>
          </a:xfrm>
          <a:prstGeom prst="rect"/>
          <a:noFill/>
        </p:spPr>
        <p:txBody>
          <a:bodyPr anchor="ctr" bIns="0" lIns="0" rIns="0" rtlCol="0" tIns="0" wrap="square"/>
          <a:p>
            <a:pPr indent="0" marL="0">
              <a:buNone/>
            </a:pPr>
            <a:r>
              <a:rPr dirty="0" sz="2800" lang="en-US">
                <a:solidFill>
                  <a:srgbClr val="CADCFC"/>
                </a:solidFill>
                <a:latin typeface="Cambria" pitchFamily="34" charset="0"/>
                <a:ea typeface="Cambria" pitchFamily="34" charset="-122"/>
                <a:cs typeface="Cambria" pitchFamily="34" charset="-120"/>
              </a:rPr>
              <a:t>Generative AI–Powered Employee Engagement Platform</a:t>
            </a:r>
            <a:endParaRPr dirty="0" sz="2800" lang="en-US"/>
          </a:p>
        </p:txBody>
      </p:sp>
      <p:sp>
        <p:nvSpPr>
          <p:cNvPr id="1048583" name="card"/>
          <p:cNvSpPr/>
          <p:nvPr/>
        </p:nvSpPr>
        <p:spPr>
          <a:xfrm>
            <a:off x="640080" y="3749040"/>
            <a:ext cx="5120640" cy="2377440"/>
          </a:xfrm>
          <a:prstGeom prst="roundRect">
            <a:avLst>
              <a:gd name="adj" fmla="val 4615"/>
            </a:avLst>
          </a:prstGeom>
          <a:solidFill>
            <a:srgbClr val="1F3159"/>
          </a:solidFill>
          <a:ln w="12700">
            <a:solidFill>
              <a:srgbClr val="1F3159"/>
            </a:solidFill>
            <a:prstDash val="solid"/>
          </a:ln>
        </p:spPr>
      </p:sp>
      <p:sp>
        <p:nvSpPr>
          <p:cNvPr id="1048584" name="Text 7"/>
          <p:cNvSpPr txBox="1"/>
          <p:nvPr/>
        </p:nvSpPr>
        <p:spPr>
          <a:xfrm>
            <a:off x="914400" y="3931920"/>
            <a:ext cx="4572000" cy="320040"/>
          </a:xfrm>
          <a:prstGeom prst="rect"/>
          <a:noFill/>
        </p:spPr>
        <p:txBody>
          <a:bodyPr anchor="ctr" bIns="0" lIns="0" rIns="0" rtlCol="0" tIns="0" wrap="square"/>
          <a:p>
            <a:pPr indent="0" marL="0">
              <a:buNone/>
            </a:pPr>
            <a:r>
              <a:rPr b="1" dirty="0" sz="1300" kern="0" lang="en-US" spc="200">
                <a:solidFill>
                  <a:srgbClr val="9FE3DE"/>
                </a:solidFill>
                <a:latin typeface="Calibri" pitchFamily="34" charset="0"/>
                <a:ea typeface="Calibri" pitchFamily="34" charset="-122"/>
                <a:cs typeface="Calibri" pitchFamily="34" charset="-120"/>
              </a:rPr>
              <a:t>TEAM MEMBERS</a:t>
            </a:r>
            <a:endParaRPr dirty="0" sz="1300" lang="en-US"/>
          </a:p>
        </p:txBody>
      </p:sp>
      <p:sp>
        <p:nvSpPr>
          <p:cNvPr id="1048585" name="Text 8"/>
          <p:cNvSpPr txBox="1"/>
          <p:nvPr/>
        </p:nvSpPr>
        <p:spPr>
          <a:xfrm>
            <a:off x="914400" y="4297680"/>
            <a:ext cx="4663440" cy="1645920"/>
          </a:xfrm>
          <a:prstGeom prst="rect"/>
          <a:noFill/>
        </p:spPr>
        <p:txBody>
          <a:bodyPr anchor="t" bIns="0" lIns="0" rIns="0" rtlCol="0" tIns="0" wrap="square"/>
          <a:p>
            <a:pPr indent="0" marL="0">
              <a:spcAft>
                <a:spcPts val="600"/>
              </a:spcAft>
              <a:buNone/>
            </a:pPr>
            <a:r>
              <a:rPr dirty="0" sz="1700" lang="en-US">
                <a:solidFill>
                  <a:srgbClr val="FFFFFF"/>
                </a:solidFill>
                <a:latin typeface="Calibri" pitchFamily="34" charset="0"/>
                <a:ea typeface="Calibri" pitchFamily="34" charset="-122"/>
                <a:cs typeface="Calibri" pitchFamily="34" charset="-120"/>
              </a:rPr>
              <a:t>[</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o</a:t>
            </a:r>
            <a:r>
              <a:rPr altLang="en-AU" dirty="0" sz="1700" lang="en-US">
                <a:solidFill>
                  <a:srgbClr val="FFFFFF"/>
                </a:solidFill>
                <a:latin typeface="Calibri" pitchFamily="34" charset="0"/>
                <a:ea typeface="Calibri" pitchFamily="34" charset="-122"/>
                <a:cs typeface="Calibri" pitchFamily="34" charset="-120"/>
              </a:rPr>
              <a:t>h</a:t>
            </a:r>
            <a:r>
              <a:rPr altLang="en-AU" dirty="0" sz="1700" lang="en-US">
                <a:solidFill>
                  <a:srgbClr val="FFFFFF"/>
                </a:solidFill>
                <a:latin typeface="Calibri" pitchFamily="34" charset="0"/>
                <a:ea typeface="Calibri" pitchFamily="34" charset="-122"/>
                <a:cs typeface="Calibri" pitchFamily="34" charset="-120"/>
              </a:rPr>
              <a:t>d</a:t>
            </a:r>
            <a:r>
              <a:rPr altLang="en-AU" dirty="0" sz="1700" lang="en-US">
                <a:solidFill>
                  <a:srgbClr val="FFFFFF"/>
                </a:solidFill>
                <a:latin typeface="Calibri" pitchFamily="34" charset="0"/>
                <a:ea typeface="Calibri" pitchFamily="34" charset="-122"/>
                <a:cs typeface="Calibri" pitchFamily="34" charset="-120"/>
              </a:rPr>
              <a:t> </a:t>
            </a:r>
            <a:r>
              <a:rPr altLang="en-AU" dirty="0" sz="1700" lang="en-US">
                <a:solidFill>
                  <a:srgbClr val="FFFFFF"/>
                </a:solidFill>
                <a:latin typeface="Calibri" pitchFamily="34" charset="0"/>
                <a:ea typeface="Calibri" pitchFamily="34" charset="-122"/>
                <a:cs typeface="Calibri" pitchFamily="34" charset="-120"/>
              </a:rPr>
              <a:t>Yousuf</a:t>
            </a:r>
            <a:r>
              <a:rPr altLang="en-AU" dirty="0" sz="1700" lang="en-US">
                <a:solidFill>
                  <a:srgbClr val="FFFFFF"/>
                </a:solidFill>
                <a:latin typeface="Calibri" pitchFamily="34" charset="0"/>
                <a:ea typeface="Calibri" pitchFamily="34" charset="-122"/>
                <a:cs typeface="Calibri" pitchFamily="34" charset="-120"/>
              </a:rPr>
              <a:t> J</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e</a:t>
            </a:r>
            <a:r>
              <a:rPr altLang="en-AU" dirty="0" sz="1700" lang="en-US">
                <a:solidFill>
                  <a:srgbClr val="FFFFFF"/>
                </a:solidFill>
                <a:latin typeface="Calibri" pitchFamily="34" charset="0"/>
                <a:ea typeface="Calibri" pitchFamily="34" charset="-122"/>
                <a:cs typeface="Calibri" pitchFamily="34" charset="-120"/>
              </a:rPr>
              <a:t>e</a:t>
            </a:r>
            <a:r>
              <a:rPr altLang="en-AU" dirty="0" sz="1700" lang="en-US">
                <a:solidFill>
                  <a:srgbClr val="FFFFFF"/>
                </a:solidFill>
                <a:latin typeface="Calibri" pitchFamily="34" charset="0"/>
                <a:ea typeface="Calibri" pitchFamily="34" charset="-122"/>
                <a:cs typeface="Calibri" pitchFamily="34" charset="-120"/>
              </a:rPr>
              <a:t>l</a:t>
            </a:r>
            <a:r>
              <a:rPr dirty="0" sz="1700" lang="en-US">
                <a:solidFill>
                  <a:srgbClr val="FFFFFF"/>
                </a:solidFill>
                <a:latin typeface="Calibri" pitchFamily="34" charset="0"/>
                <a:ea typeface="Calibri" pitchFamily="34" charset="-122"/>
                <a:cs typeface="Calibri" pitchFamily="34" charset="-120"/>
              </a:rPr>
              <a:t>]  –  [</a:t>
            </a:r>
            <a:r>
              <a:rPr altLang="en-AU" dirty="0" sz="1700" lang="en-US">
                <a:solidFill>
                  <a:srgbClr val="FFFFFF"/>
                </a:solidFill>
                <a:latin typeface="Calibri" pitchFamily="34" charset="0"/>
                <a:ea typeface="Calibri" pitchFamily="34" charset="-122"/>
                <a:cs typeface="Calibri" pitchFamily="34" charset="-120"/>
              </a:rPr>
              <a:t>1</a:t>
            </a:r>
            <a:r>
              <a:rPr altLang="en-AU" dirty="0" sz="1700" lang="en-US">
                <a:solidFill>
                  <a:srgbClr val="FFFFFF"/>
                </a:solidFill>
                <a:latin typeface="Calibri" pitchFamily="34" charset="0"/>
                <a:ea typeface="Calibri" pitchFamily="34" charset="-122"/>
                <a:cs typeface="Calibri" pitchFamily="34" charset="-120"/>
              </a:rPr>
              <a:t>6</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9</a:t>
            </a:r>
            <a:r>
              <a:rPr altLang="en-AU" dirty="0" sz="1700" lang="en-US">
                <a:solidFill>
                  <a:srgbClr val="FFFFFF"/>
                </a:solidFill>
                <a:latin typeface="Calibri" pitchFamily="34" charset="0"/>
                <a:ea typeface="Calibri" pitchFamily="34" charset="-122"/>
                <a:cs typeface="Calibri" pitchFamily="34" charset="-120"/>
              </a:rPr>
              <a:t>2</a:t>
            </a:r>
            <a:r>
              <a:rPr altLang="en-AU" dirty="0" sz="1700" lang="en-US">
                <a:solidFill>
                  <a:srgbClr val="FFFFFF"/>
                </a:solidFill>
                <a:latin typeface="Calibri" pitchFamily="34" charset="0"/>
                <a:ea typeface="Calibri" pitchFamily="34" charset="-122"/>
                <a:cs typeface="Calibri" pitchFamily="34" charset="-120"/>
              </a:rPr>
              <a:t>3</a:t>
            </a:r>
            <a:r>
              <a:rPr altLang="en-AU" dirty="0" sz="1700" lang="en-US">
                <a:solidFill>
                  <a:srgbClr val="FFFFFF"/>
                </a:solidFill>
                <a:latin typeface="Calibri" pitchFamily="34" charset="0"/>
                <a:ea typeface="Calibri" pitchFamily="34" charset="-122"/>
                <a:cs typeface="Calibri" pitchFamily="34" charset="-120"/>
              </a:rPr>
              <a:t>7</a:t>
            </a:r>
            <a:r>
              <a:rPr altLang="en-AU" dirty="0" sz="1700" lang="en-US">
                <a:solidFill>
                  <a:srgbClr val="FFFFFF"/>
                </a:solidFill>
                <a:latin typeface="Calibri" pitchFamily="34" charset="0"/>
                <a:ea typeface="Calibri" pitchFamily="34" charset="-122"/>
                <a:cs typeface="Calibri" pitchFamily="34" charset="-120"/>
              </a:rPr>
              <a:t>4</a:t>
            </a:r>
            <a:r>
              <a:rPr altLang="en-AU" dirty="0" sz="1700" lang="en-US">
                <a:solidFill>
                  <a:srgbClr val="FFFFFF"/>
                </a:solidFill>
                <a:latin typeface="Calibri" pitchFamily="34" charset="0"/>
                <a:ea typeface="Calibri" pitchFamily="34" charset="-122"/>
                <a:cs typeface="Calibri" pitchFamily="34" charset="-120"/>
              </a:rPr>
              <a:t>8</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5</a:t>
            </a:r>
            <a:r>
              <a:rPr altLang="en-AU" dirty="0" sz="1700" lang="en-US">
                <a:solidFill>
                  <a:srgbClr val="FFFFFF"/>
                </a:solidFill>
                <a:latin typeface="Calibri" pitchFamily="34" charset="0"/>
                <a:ea typeface="Calibri" pitchFamily="34" charset="-122"/>
                <a:cs typeface="Calibri" pitchFamily="34" charset="-120"/>
              </a:rPr>
              <a:t>0</a:t>
            </a:r>
            <a:r>
              <a:rPr dirty="0" sz="1700" lang="en-US">
                <a:solidFill>
                  <a:srgbClr val="FFFFFF"/>
                </a:solidFill>
                <a:latin typeface="Calibri" pitchFamily="34" charset="0"/>
                <a:ea typeface="Calibri" pitchFamily="34" charset="-122"/>
                <a:cs typeface="Calibri" pitchFamily="34" charset="-120"/>
              </a:rPr>
              <a:t>]</a:t>
            </a:r>
            <a:endParaRPr dirty="0" sz="1700" lang="en-US"/>
          </a:p>
          <a:p>
            <a:pPr indent="0" marL="0">
              <a:spcAft>
                <a:spcPts val="600"/>
              </a:spcAft>
              <a:buNone/>
            </a:pPr>
            <a:r>
              <a:rPr dirty="0" sz="1700" lang="en-US">
                <a:solidFill>
                  <a:srgbClr val="FFFFFF"/>
                </a:solidFill>
                <a:latin typeface="Calibri" pitchFamily="34" charset="0"/>
                <a:ea typeface="Calibri" pitchFamily="34" charset="-122"/>
                <a:cs typeface="Calibri" pitchFamily="34" charset="-120"/>
              </a:rPr>
              <a:t>[</a:t>
            </a:r>
            <a:r>
              <a:rPr altLang="en-AU" dirty="0" sz="1700" lang="en-US">
                <a:solidFill>
                  <a:srgbClr val="FFFFFF"/>
                </a:solidFill>
                <a:latin typeface="Calibri" pitchFamily="34" charset="0"/>
                <a:ea typeface="Calibri" pitchFamily="34" charset="-122"/>
                <a:cs typeface="Calibri" pitchFamily="34" charset="-120"/>
              </a:rPr>
              <a:t>R</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h</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n</a:t>
            </a:r>
            <a:r>
              <a:rPr altLang="en-AU" dirty="0" sz="1700" lang="en-US">
                <a:solidFill>
                  <a:srgbClr val="FFFFFF"/>
                </a:solidFill>
                <a:latin typeface="Calibri" pitchFamily="34" charset="0"/>
                <a:ea typeface="Calibri" pitchFamily="34" charset="-122"/>
                <a:cs typeface="Calibri" pitchFamily="34" charset="-120"/>
              </a:rPr>
              <a:t> </a:t>
            </a:r>
            <a:r>
              <a:rPr altLang="en-AU" dirty="0" sz="1700" lang="en-US">
                <a:solidFill>
                  <a:srgbClr val="FFFFFF"/>
                </a:solidFill>
                <a:latin typeface="Calibri" pitchFamily="34" charset="0"/>
                <a:ea typeface="Calibri" pitchFamily="34" charset="-122"/>
                <a:cs typeface="Calibri" pitchFamily="34" charset="-120"/>
              </a:rPr>
              <a:t>U</a:t>
            </a:r>
            <a:r>
              <a:rPr altLang="en-AU" dirty="0" sz="1700" lang="en-US">
                <a:solidFill>
                  <a:srgbClr val="FFFFFF"/>
                </a:solidFill>
                <a:latin typeface="Calibri" pitchFamily="34" charset="0"/>
                <a:ea typeface="Calibri" pitchFamily="34" charset="-122"/>
                <a:cs typeface="Calibri" pitchFamily="34" charset="-120"/>
              </a:rPr>
              <a:t>l</a:t>
            </a:r>
            <a:r>
              <a:rPr altLang="en-AU" dirty="0" sz="1700" lang="en-US">
                <a:solidFill>
                  <a:srgbClr val="FFFFFF"/>
                </a:solidFill>
                <a:latin typeface="Calibri" pitchFamily="34" charset="0"/>
                <a:ea typeface="Calibri" pitchFamily="34" charset="-122"/>
                <a:cs typeface="Calibri" pitchFamily="34" charset="-120"/>
              </a:rPr>
              <a:t>l</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h</a:t>
            </a:r>
            <a:r>
              <a:rPr altLang="en-AU" dirty="0" sz="1700" lang="en-US">
                <a:solidFill>
                  <a:srgbClr val="FFFFFF"/>
                </a:solidFill>
                <a:latin typeface="Calibri" pitchFamily="34" charset="0"/>
                <a:ea typeface="Calibri" pitchFamily="34" charset="-122"/>
                <a:cs typeface="Calibri" pitchFamily="34" charset="-120"/>
              </a:rPr>
              <a:t> </a:t>
            </a:r>
            <a:r>
              <a:rPr altLang="en-AU" dirty="0" sz="1700" lang="en-US">
                <a:solidFill>
                  <a:srgbClr val="FFFFFF"/>
                </a:solidFill>
                <a:latin typeface="Calibri" pitchFamily="34" charset="0"/>
                <a:ea typeface="Calibri" pitchFamily="34" charset="-122"/>
                <a:cs typeface="Calibri" pitchFamily="34" charset="-120"/>
              </a:rPr>
              <a:t>Khan </a:t>
            </a:r>
            <a:r>
              <a:rPr dirty="0" sz="1700" lang="en-US">
                <a:solidFill>
                  <a:srgbClr val="FFFFFF"/>
                </a:solidFill>
                <a:latin typeface="Calibri" pitchFamily="34" charset="0"/>
                <a:ea typeface="Calibri" pitchFamily="34" charset="-122"/>
                <a:cs typeface="Calibri" pitchFamily="34" charset="-120"/>
              </a:rPr>
              <a:t>]  –  [</a:t>
            </a:r>
            <a:r>
              <a:rPr altLang="en-AU" dirty="0" sz="1700" lang="en-US">
                <a:solidFill>
                  <a:srgbClr val="FFFFFF"/>
                </a:solidFill>
                <a:latin typeface="Calibri" pitchFamily="34" charset="0"/>
                <a:ea typeface="Calibri" pitchFamily="34" charset="-122"/>
                <a:cs typeface="Calibri" pitchFamily="34" charset="-120"/>
              </a:rPr>
              <a:t>1</a:t>
            </a:r>
            <a:r>
              <a:rPr altLang="en-AU" dirty="0" sz="1700" lang="en-US">
                <a:solidFill>
                  <a:srgbClr val="FFFFFF"/>
                </a:solidFill>
                <a:latin typeface="Calibri" pitchFamily="34" charset="0"/>
                <a:ea typeface="Calibri" pitchFamily="34" charset="-122"/>
                <a:cs typeface="Calibri" pitchFamily="34" charset="-120"/>
              </a:rPr>
              <a:t>6</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9</a:t>
            </a:r>
            <a:r>
              <a:rPr altLang="en-AU" dirty="0" sz="1700" lang="en-US">
                <a:solidFill>
                  <a:srgbClr val="FFFFFF"/>
                </a:solidFill>
                <a:latin typeface="Calibri" pitchFamily="34" charset="0"/>
                <a:ea typeface="Calibri" pitchFamily="34" charset="-122"/>
                <a:cs typeface="Calibri" pitchFamily="34" charset="-120"/>
              </a:rPr>
              <a:t>2</a:t>
            </a:r>
            <a:r>
              <a:rPr altLang="en-AU" dirty="0" sz="1700" lang="en-US">
                <a:solidFill>
                  <a:srgbClr val="FFFFFF"/>
                </a:solidFill>
                <a:latin typeface="Calibri" pitchFamily="34" charset="0"/>
                <a:ea typeface="Calibri" pitchFamily="34" charset="-122"/>
                <a:cs typeface="Calibri" pitchFamily="34" charset="-120"/>
              </a:rPr>
              <a:t>3</a:t>
            </a:r>
            <a:r>
              <a:rPr altLang="en-AU" dirty="0" sz="1700" lang="en-US">
                <a:solidFill>
                  <a:srgbClr val="FFFFFF"/>
                </a:solidFill>
                <a:latin typeface="Calibri" pitchFamily="34" charset="0"/>
                <a:ea typeface="Calibri" pitchFamily="34" charset="-122"/>
                <a:cs typeface="Calibri" pitchFamily="34" charset="-120"/>
              </a:rPr>
              <a:t>7</a:t>
            </a:r>
            <a:r>
              <a:rPr altLang="en-AU" dirty="0" sz="1700" lang="en-US">
                <a:solidFill>
                  <a:srgbClr val="FFFFFF"/>
                </a:solidFill>
                <a:latin typeface="Calibri" pitchFamily="34" charset="0"/>
                <a:ea typeface="Calibri" pitchFamily="34" charset="-122"/>
                <a:cs typeface="Calibri" pitchFamily="34" charset="-120"/>
              </a:rPr>
              <a:t>4</a:t>
            </a:r>
            <a:r>
              <a:rPr altLang="en-AU" dirty="0" sz="1700" lang="en-US">
                <a:solidFill>
                  <a:srgbClr val="FFFFFF"/>
                </a:solidFill>
                <a:latin typeface="Calibri" pitchFamily="34" charset="0"/>
                <a:ea typeface="Calibri" pitchFamily="34" charset="-122"/>
                <a:cs typeface="Calibri" pitchFamily="34" charset="-120"/>
              </a:rPr>
              <a:t>8</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5</a:t>
            </a:r>
            <a:r>
              <a:rPr altLang="en-AU" dirty="0" sz="1700" lang="en-US">
                <a:solidFill>
                  <a:srgbClr val="FFFFFF"/>
                </a:solidFill>
                <a:latin typeface="Calibri" pitchFamily="34" charset="0"/>
                <a:ea typeface="Calibri" pitchFamily="34" charset="-122"/>
                <a:cs typeface="Calibri" pitchFamily="34" charset="-120"/>
              </a:rPr>
              <a:t>8</a:t>
            </a:r>
            <a:r>
              <a:rPr dirty="0" sz="1700" lang="en-US">
                <a:solidFill>
                  <a:srgbClr val="FFFFFF"/>
                </a:solidFill>
                <a:latin typeface="Calibri" pitchFamily="34" charset="0"/>
                <a:ea typeface="Calibri" pitchFamily="34" charset="-122"/>
                <a:cs typeface="Calibri" pitchFamily="34" charset="-120"/>
              </a:rPr>
              <a:t>]</a:t>
            </a:r>
            <a:endParaRPr dirty="0" sz="1700" lang="en-US"/>
          </a:p>
          <a:p>
            <a:pPr indent="0" marL="0">
              <a:spcAft>
                <a:spcPts val="600"/>
              </a:spcAft>
              <a:buNone/>
            </a:pPr>
            <a:r>
              <a:rPr dirty="0" sz="1700" lang="en-US">
                <a:solidFill>
                  <a:srgbClr val="FFFFFF"/>
                </a:solidFill>
                <a:latin typeface="Calibri" pitchFamily="34" charset="0"/>
                <a:ea typeface="Calibri" pitchFamily="34" charset="-122"/>
                <a:cs typeface="Calibri" pitchFamily="34" charset="-120"/>
              </a:rPr>
              <a:t>[</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o</a:t>
            </a:r>
            <a:r>
              <a:rPr altLang="en-AU" dirty="0" sz="1700" lang="en-US">
                <a:solidFill>
                  <a:srgbClr val="FFFFFF"/>
                </a:solidFill>
                <a:latin typeface="Calibri" pitchFamily="34" charset="0"/>
                <a:ea typeface="Calibri" pitchFamily="34" charset="-122"/>
                <a:cs typeface="Calibri" pitchFamily="34" charset="-120"/>
              </a:rPr>
              <a:t>h</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e</a:t>
            </a:r>
            <a:r>
              <a:rPr altLang="en-AU" dirty="0" sz="1700" lang="en-US">
                <a:solidFill>
                  <a:srgbClr val="FFFFFF"/>
                </a:solidFill>
                <a:latin typeface="Calibri" pitchFamily="34" charset="0"/>
                <a:ea typeface="Calibri" pitchFamily="34" charset="-122"/>
                <a:cs typeface="Calibri" pitchFamily="34" charset="-120"/>
              </a:rPr>
              <a:t>d</a:t>
            </a:r>
            <a:r>
              <a:rPr altLang="en-AU" dirty="0" sz="1700" lang="en-US">
                <a:solidFill>
                  <a:srgbClr val="FFFFFF"/>
                </a:solidFill>
                <a:latin typeface="Calibri" pitchFamily="34" charset="0"/>
                <a:ea typeface="Calibri" pitchFamily="34" charset="-122"/>
                <a:cs typeface="Calibri" pitchFamily="34" charset="-120"/>
              </a:rPr>
              <a:t> </a:t>
            </a:r>
            <a:r>
              <a:rPr altLang="en-AU" dirty="0" sz="1700" lang="en-US">
                <a:solidFill>
                  <a:srgbClr val="FFFFFF"/>
                </a:solidFill>
                <a:latin typeface="Calibri" pitchFamily="34" charset="0"/>
                <a:ea typeface="Calibri" pitchFamily="34" charset="-122"/>
                <a:cs typeface="Calibri" pitchFamily="34" charset="-120"/>
              </a:rPr>
              <a:t>S</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e</a:t>
            </a:r>
            <a:r>
              <a:rPr altLang="en-AU" dirty="0" sz="1700" lang="en-US">
                <a:solidFill>
                  <a:srgbClr val="FFFFFF"/>
                </a:solidFill>
                <a:latin typeface="Calibri" pitchFamily="34" charset="0"/>
                <a:ea typeface="Calibri" pitchFamily="34" charset="-122"/>
                <a:cs typeface="Calibri" pitchFamily="34" charset="-120"/>
              </a:rPr>
              <a:t>e</a:t>
            </a:r>
            <a:r>
              <a:rPr altLang="en-AU" dirty="0" sz="1700" lang="en-US">
                <a:solidFill>
                  <a:srgbClr val="FFFFFF"/>
                </a:solidFill>
                <a:latin typeface="Calibri" pitchFamily="34" charset="0"/>
                <a:ea typeface="Calibri" pitchFamily="34" charset="-122"/>
                <a:cs typeface="Calibri" pitchFamily="34" charset="-120"/>
              </a:rPr>
              <a:t>r</a:t>
            </a:r>
            <a:r>
              <a:rPr dirty="0" sz="1700" lang="en-US">
                <a:solidFill>
                  <a:srgbClr val="FFFFFF"/>
                </a:solidFill>
                <a:latin typeface="Calibri" pitchFamily="34" charset="0"/>
                <a:ea typeface="Calibri" pitchFamily="34" charset="-122"/>
                <a:cs typeface="Calibri" pitchFamily="34" charset="-120"/>
              </a:rPr>
              <a:t>]  –  [</a:t>
            </a:r>
            <a:r>
              <a:rPr altLang="en-AU" dirty="0" sz="1700" lang="en-US">
                <a:solidFill>
                  <a:srgbClr val="FFFFFF"/>
                </a:solidFill>
                <a:latin typeface="Calibri" pitchFamily="34" charset="0"/>
                <a:ea typeface="Calibri" pitchFamily="34" charset="-122"/>
                <a:cs typeface="Calibri" pitchFamily="34" charset="-120"/>
              </a:rPr>
              <a:t>1</a:t>
            </a:r>
            <a:r>
              <a:rPr altLang="en-AU" dirty="0" sz="1700" lang="en-US">
                <a:solidFill>
                  <a:srgbClr val="FFFFFF"/>
                </a:solidFill>
                <a:latin typeface="Calibri" pitchFamily="34" charset="0"/>
                <a:ea typeface="Calibri" pitchFamily="34" charset="-122"/>
                <a:cs typeface="Calibri" pitchFamily="34" charset="-120"/>
              </a:rPr>
              <a:t>6</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9</a:t>
            </a:r>
            <a:r>
              <a:rPr altLang="en-AU" dirty="0" sz="1700" lang="en-US">
                <a:solidFill>
                  <a:srgbClr val="FFFFFF"/>
                </a:solidFill>
                <a:latin typeface="Calibri" pitchFamily="34" charset="0"/>
                <a:ea typeface="Calibri" pitchFamily="34" charset="-122"/>
                <a:cs typeface="Calibri" pitchFamily="34" charset="-120"/>
              </a:rPr>
              <a:t>2</a:t>
            </a:r>
            <a:r>
              <a:rPr altLang="en-AU" dirty="0" sz="1700" lang="en-US">
                <a:solidFill>
                  <a:srgbClr val="FFFFFF"/>
                </a:solidFill>
                <a:latin typeface="Calibri" pitchFamily="34" charset="0"/>
                <a:ea typeface="Calibri" pitchFamily="34" charset="-122"/>
                <a:cs typeface="Calibri" pitchFamily="34" charset="-120"/>
              </a:rPr>
              <a:t>3</a:t>
            </a:r>
            <a:r>
              <a:rPr altLang="en-AU" dirty="0" sz="1700" lang="en-US">
                <a:solidFill>
                  <a:srgbClr val="FFFFFF"/>
                </a:solidFill>
                <a:latin typeface="Calibri" pitchFamily="34" charset="0"/>
                <a:ea typeface="Calibri" pitchFamily="34" charset="-122"/>
                <a:cs typeface="Calibri" pitchFamily="34" charset="-120"/>
              </a:rPr>
              <a:t>7</a:t>
            </a:r>
            <a:r>
              <a:rPr altLang="en-AU" dirty="0" sz="1700" lang="en-US">
                <a:solidFill>
                  <a:srgbClr val="FFFFFF"/>
                </a:solidFill>
                <a:latin typeface="Calibri" pitchFamily="34" charset="0"/>
                <a:ea typeface="Calibri" pitchFamily="34" charset="-122"/>
                <a:cs typeface="Calibri" pitchFamily="34" charset="-120"/>
              </a:rPr>
              <a:t>4</a:t>
            </a:r>
            <a:r>
              <a:rPr altLang="en-AU" dirty="0" sz="1700" lang="en-US">
                <a:solidFill>
                  <a:srgbClr val="FFFFFF"/>
                </a:solidFill>
                <a:latin typeface="Calibri" pitchFamily="34" charset="0"/>
                <a:ea typeface="Calibri" pitchFamily="34" charset="-122"/>
                <a:cs typeface="Calibri" pitchFamily="34" charset="-120"/>
              </a:rPr>
              <a:t>8</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5</a:t>
            </a:r>
            <a:r>
              <a:rPr altLang="en-AU" dirty="0" sz="1700" lang="en-US">
                <a:solidFill>
                  <a:srgbClr val="FFFFFF"/>
                </a:solidFill>
                <a:latin typeface="Calibri" pitchFamily="34" charset="0"/>
                <a:ea typeface="Calibri" pitchFamily="34" charset="-122"/>
                <a:cs typeface="Calibri" pitchFamily="34" charset="-120"/>
              </a:rPr>
              <a:t>7</a:t>
            </a:r>
            <a:r>
              <a:rPr dirty="0" sz="1700" lang="en-US">
                <a:solidFill>
                  <a:srgbClr val="FFFFFF"/>
                </a:solidFill>
                <a:latin typeface="Calibri" pitchFamily="34" charset="0"/>
                <a:ea typeface="Calibri" pitchFamily="34" charset="-122"/>
                <a:cs typeface="Calibri" pitchFamily="34" charset="-120"/>
              </a:rPr>
              <a:t>]</a:t>
            </a:r>
            <a:endParaRPr dirty="0" sz="1700" lang="en-US"/>
          </a:p>
          <a:p>
            <a:pPr indent="0" marL="0">
              <a:spcAft>
                <a:spcPts val="600"/>
              </a:spcAft>
              <a:buNone/>
            </a:pPr>
            <a:r>
              <a:rPr dirty="0" sz="1700" lang="en-US">
                <a:solidFill>
                  <a:srgbClr val="FFFFFF"/>
                </a:solidFill>
                <a:latin typeface="Calibri" pitchFamily="34" charset="0"/>
                <a:ea typeface="Calibri" pitchFamily="34" charset="-122"/>
                <a:cs typeface="Calibri" pitchFamily="34" charset="-120"/>
              </a:rPr>
              <a:t>[</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o</a:t>
            </a:r>
            <a:r>
              <a:rPr altLang="en-AU" dirty="0" sz="1700" lang="en-US">
                <a:solidFill>
                  <a:srgbClr val="FFFFFF"/>
                </a:solidFill>
                <a:latin typeface="Calibri" pitchFamily="34" charset="0"/>
                <a:ea typeface="Calibri" pitchFamily="34" charset="-122"/>
                <a:cs typeface="Calibri" pitchFamily="34" charset="-120"/>
              </a:rPr>
              <a:t>h</a:t>
            </a:r>
            <a:r>
              <a:rPr altLang="en-AU" dirty="0" sz="1700" lang="en-US">
                <a:solidFill>
                  <a:srgbClr val="FFFFFF"/>
                </a:solidFill>
                <a:latin typeface="Calibri" pitchFamily="34" charset="0"/>
                <a:ea typeface="Calibri" pitchFamily="34" charset="-122"/>
                <a:cs typeface="Calibri" pitchFamily="34" charset="-120"/>
              </a:rPr>
              <a:t>a</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m</a:t>
            </a:r>
            <a:r>
              <a:rPr altLang="en-AU" dirty="0" sz="1700" lang="en-US">
                <a:solidFill>
                  <a:srgbClr val="FFFFFF"/>
                </a:solidFill>
                <a:latin typeface="Calibri" pitchFamily="34" charset="0"/>
                <a:ea typeface="Calibri" pitchFamily="34" charset="-122"/>
                <a:cs typeface="Calibri" pitchFamily="34" charset="-120"/>
              </a:rPr>
              <a:t>ed </a:t>
            </a:r>
            <a:r>
              <a:rPr altLang="en-AU" dirty="0" sz="1700" lang="en-US">
                <a:solidFill>
                  <a:srgbClr val="FFFFFF"/>
                </a:solidFill>
                <a:latin typeface="Calibri" pitchFamily="34" charset="0"/>
                <a:ea typeface="Calibri" pitchFamily="34" charset="-122"/>
                <a:cs typeface="Calibri" pitchFamily="34" charset="-120"/>
              </a:rPr>
              <a:t>F</a:t>
            </a:r>
            <a:r>
              <a:rPr altLang="en-AU" dirty="0" sz="1700" lang="en-US">
                <a:solidFill>
                  <a:srgbClr val="FFFFFF"/>
                </a:solidFill>
                <a:latin typeface="Calibri" pitchFamily="34" charset="0"/>
                <a:ea typeface="Calibri" pitchFamily="34" charset="-122"/>
                <a:cs typeface="Calibri" pitchFamily="34" charset="-120"/>
              </a:rPr>
              <a:t>e</a:t>
            </a:r>
            <a:r>
              <a:rPr altLang="en-AU" dirty="0" sz="1700" lang="en-US">
                <a:solidFill>
                  <a:srgbClr val="FFFFFF"/>
                </a:solidFill>
                <a:latin typeface="Calibri" pitchFamily="34" charset="0"/>
                <a:ea typeface="Calibri" pitchFamily="34" charset="-122"/>
                <a:cs typeface="Calibri" pitchFamily="34" charset="-120"/>
              </a:rPr>
              <a:t>r</a:t>
            </a:r>
            <a:r>
              <a:rPr altLang="en-AU" dirty="0" sz="1700" lang="en-US">
                <a:solidFill>
                  <a:srgbClr val="FFFFFF"/>
                </a:solidFill>
                <a:latin typeface="Calibri" pitchFamily="34" charset="0"/>
                <a:ea typeface="Calibri" pitchFamily="34" charset="-122"/>
                <a:cs typeface="Calibri" pitchFamily="34" charset="-120"/>
              </a:rPr>
              <a:t>o</a:t>
            </a:r>
            <a:r>
              <a:rPr altLang="en-AU" dirty="0" sz="1700" lang="en-US">
                <a:solidFill>
                  <a:srgbClr val="FFFFFF"/>
                </a:solidFill>
                <a:latin typeface="Calibri" pitchFamily="34" charset="0"/>
                <a:ea typeface="Calibri" pitchFamily="34" charset="-122"/>
                <a:cs typeface="Calibri" pitchFamily="34" charset="-120"/>
              </a:rPr>
              <a:t>z</a:t>
            </a:r>
            <a:r>
              <a:rPr dirty="0" sz="1700" lang="en-US">
                <a:solidFill>
                  <a:srgbClr val="FFFFFF"/>
                </a:solidFill>
                <a:latin typeface="Calibri" pitchFamily="34" charset="0"/>
                <a:ea typeface="Calibri" pitchFamily="34" charset="-122"/>
                <a:cs typeface="Calibri" pitchFamily="34" charset="-120"/>
              </a:rPr>
              <a:t>]  –  [</a:t>
            </a:r>
            <a:r>
              <a:rPr altLang="en-AU" dirty="0" sz="1700" lang="en-US">
                <a:solidFill>
                  <a:srgbClr val="FFFFFF"/>
                </a:solidFill>
                <a:latin typeface="Calibri" pitchFamily="34" charset="0"/>
                <a:ea typeface="Calibri" pitchFamily="34" charset="-122"/>
                <a:cs typeface="Calibri" pitchFamily="34" charset="-120"/>
              </a:rPr>
              <a:t>1</a:t>
            </a:r>
            <a:r>
              <a:rPr altLang="en-AU" dirty="0" sz="1700" lang="en-US">
                <a:solidFill>
                  <a:srgbClr val="FFFFFF"/>
                </a:solidFill>
                <a:latin typeface="Calibri" pitchFamily="34" charset="0"/>
                <a:ea typeface="Calibri" pitchFamily="34" charset="-122"/>
                <a:cs typeface="Calibri" pitchFamily="34" charset="-120"/>
              </a:rPr>
              <a:t>6</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9</a:t>
            </a:r>
            <a:r>
              <a:rPr altLang="en-AU" dirty="0" sz="1700" lang="en-US">
                <a:solidFill>
                  <a:srgbClr val="FFFFFF"/>
                </a:solidFill>
                <a:latin typeface="Calibri" pitchFamily="34" charset="0"/>
                <a:ea typeface="Calibri" pitchFamily="34" charset="-122"/>
                <a:cs typeface="Calibri" pitchFamily="34" charset="-120"/>
              </a:rPr>
              <a:t>2</a:t>
            </a:r>
            <a:r>
              <a:rPr altLang="en-AU" dirty="0" sz="1700" lang="en-US">
                <a:solidFill>
                  <a:srgbClr val="FFFFFF"/>
                </a:solidFill>
                <a:latin typeface="Calibri" pitchFamily="34" charset="0"/>
                <a:ea typeface="Calibri" pitchFamily="34" charset="-122"/>
                <a:cs typeface="Calibri" pitchFamily="34" charset="-120"/>
              </a:rPr>
              <a:t>3</a:t>
            </a:r>
            <a:r>
              <a:rPr altLang="en-AU" dirty="0" sz="1700" lang="en-US">
                <a:solidFill>
                  <a:srgbClr val="FFFFFF"/>
                </a:solidFill>
                <a:latin typeface="Calibri" pitchFamily="34" charset="0"/>
                <a:ea typeface="Calibri" pitchFamily="34" charset="-122"/>
                <a:cs typeface="Calibri" pitchFamily="34" charset="-120"/>
              </a:rPr>
              <a:t>7</a:t>
            </a:r>
            <a:r>
              <a:rPr altLang="en-AU" dirty="0" sz="1700" lang="en-US">
                <a:solidFill>
                  <a:srgbClr val="FFFFFF"/>
                </a:solidFill>
                <a:latin typeface="Calibri" pitchFamily="34" charset="0"/>
                <a:ea typeface="Calibri" pitchFamily="34" charset="-122"/>
                <a:cs typeface="Calibri" pitchFamily="34" charset="-120"/>
              </a:rPr>
              <a:t>4</a:t>
            </a:r>
            <a:r>
              <a:rPr altLang="en-AU" dirty="0" sz="1700" lang="en-US">
                <a:solidFill>
                  <a:srgbClr val="FFFFFF"/>
                </a:solidFill>
                <a:latin typeface="Calibri" pitchFamily="34" charset="0"/>
                <a:ea typeface="Calibri" pitchFamily="34" charset="-122"/>
                <a:cs typeface="Calibri" pitchFamily="34" charset="-120"/>
              </a:rPr>
              <a:t>8</a:t>
            </a:r>
            <a:r>
              <a:rPr altLang="en-AU" dirty="0" sz="1700" lang="en-US">
                <a:solidFill>
                  <a:srgbClr val="FFFFFF"/>
                </a:solidFill>
                <a:latin typeface="Calibri" pitchFamily="34" charset="0"/>
                <a:ea typeface="Calibri" pitchFamily="34" charset="-122"/>
                <a:cs typeface="Calibri" pitchFamily="34" charset="-120"/>
              </a:rPr>
              <a:t>0</a:t>
            </a:r>
            <a:r>
              <a:rPr altLang="en-AU" dirty="0" sz="1700" lang="en-US">
                <a:solidFill>
                  <a:srgbClr val="FFFFFF"/>
                </a:solidFill>
                <a:latin typeface="Calibri" pitchFamily="34" charset="0"/>
                <a:ea typeface="Calibri" pitchFamily="34" charset="-122"/>
                <a:cs typeface="Calibri" pitchFamily="34" charset="-120"/>
              </a:rPr>
              <a:t>4</a:t>
            </a:r>
            <a:r>
              <a:rPr altLang="en-AU" dirty="0" sz="1700" lang="en-US">
                <a:solidFill>
                  <a:srgbClr val="FFFFFF"/>
                </a:solidFill>
                <a:latin typeface="Calibri" pitchFamily="34" charset="0"/>
                <a:ea typeface="Calibri" pitchFamily="34" charset="-122"/>
                <a:cs typeface="Calibri" pitchFamily="34" charset="-120"/>
              </a:rPr>
              <a:t>1</a:t>
            </a:r>
            <a:r>
              <a:rPr dirty="0" sz="1700" lang="en-US">
                <a:solidFill>
                  <a:srgbClr val="FFFFFF"/>
                </a:solidFill>
                <a:latin typeface="Calibri" pitchFamily="34" charset="0"/>
                <a:ea typeface="Calibri" pitchFamily="34" charset="-122"/>
                <a:cs typeface="Calibri" pitchFamily="34" charset="-120"/>
              </a:rPr>
              <a:t>]</a:t>
            </a:r>
            <a:endParaRPr dirty="0" sz="1700" lang="en-US"/>
          </a:p>
        </p:txBody>
      </p:sp>
      <p:sp>
        <p:nvSpPr>
          <p:cNvPr id="1048586" name="card"/>
          <p:cNvSpPr/>
          <p:nvPr/>
        </p:nvSpPr>
        <p:spPr>
          <a:xfrm>
            <a:off x="6035040" y="3749040"/>
            <a:ext cx="4937760" cy="2377440"/>
          </a:xfrm>
          <a:prstGeom prst="roundRect">
            <a:avLst>
              <a:gd name="adj" fmla="val 4615"/>
            </a:avLst>
          </a:prstGeom>
          <a:solidFill>
            <a:srgbClr val="1F3159"/>
          </a:solidFill>
          <a:ln w="12700">
            <a:solidFill>
              <a:srgbClr val="1F3159"/>
            </a:solidFill>
            <a:prstDash val="solid"/>
          </a:ln>
        </p:spPr>
      </p:sp>
      <p:sp>
        <p:nvSpPr>
          <p:cNvPr id="1048587" name="Text 10"/>
          <p:cNvSpPr txBox="1"/>
          <p:nvPr/>
        </p:nvSpPr>
        <p:spPr>
          <a:xfrm>
            <a:off x="6309360" y="3931920"/>
            <a:ext cx="4572000" cy="320040"/>
          </a:xfrm>
          <a:prstGeom prst="rect"/>
          <a:noFill/>
        </p:spPr>
        <p:txBody>
          <a:bodyPr anchor="ctr" bIns="0" lIns="0" rIns="0" rtlCol="0" tIns="0" wrap="square"/>
          <a:p>
            <a:pPr indent="0" marL="0">
              <a:buNone/>
            </a:pPr>
            <a:r>
              <a:rPr b="1" dirty="0" sz="1300" kern="0" lang="en-US" spc="200">
                <a:solidFill>
                  <a:srgbClr val="9FE3DE"/>
                </a:solidFill>
                <a:latin typeface="Calibri" pitchFamily="34" charset="0"/>
                <a:ea typeface="Calibri" pitchFamily="34" charset="-122"/>
                <a:cs typeface="Calibri" pitchFamily="34" charset="-120"/>
              </a:rPr>
              <a:t>PROJECT GUIDE</a:t>
            </a:r>
            <a:endParaRPr dirty="0" sz="1300" lang="en-US"/>
          </a:p>
        </p:txBody>
      </p:sp>
      <p:sp>
        <p:nvSpPr>
          <p:cNvPr id="1048588" name="Text 11"/>
          <p:cNvSpPr txBox="1"/>
          <p:nvPr/>
        </p:nvSpPr>
        <p:spPr>
          <a:xfrm>
            <a:off x="6309360" y="4297680"/>
            <a:ext cx="4480560" cy="1645920"/>
          </a:xfrm>
          <a:prstGeom prst="rect"/>
          <a:noFill/>
        </p:spPr>
        <p:txBody>
          <a:bodyPr anchor="t" bIns="0" lIns="0" rIns="0" rtlCol="0" tIns="0" wrap="square"/>
          <a:p>
            <a:pPr indent="0" marL="0">
              <a:spcAft>
                <a:spcPts val="600"/>
              </a:spcAft>
              <a:buNone/>
            </a:pPr>
            <a:r>
              <a:rPr altLang="en-AU" b="1" dirty="0" sz="2200" lang="en-US">
                <a:solidFill>
                  <a:srgbClr val="FFFFFF"/>
                </a:solidFill>
                <a:latin typeface="Calibri" pitchFamily="34" charset="0"/>
                <a:ea typeface="Calibri" pitchFamily="34" charset="-122"/>
                <a:cs typeface="Calibri" pitchFamily="34" charset="-120"/>
              </a:rPr>
              <a:t>S</a:t>
            </a:r>
            <a:r>
              <a:rPr altLang="en-AU" b="1" dirty="0" sz="2200" lang="en-US">
                <a:solidFill>
                  <a:srgbClr val="FFFFFF"/>
                </a:solidFill>
                <a:latin typeface="Calibri" pitchFamily="34" charset="0"/>
                <a:ea typeface="Calibri" pitchFamily="34" charset="-122"/>
                <a:cs typeface="Calibri" pitchFamily="34" charset="-120"/>
              </a:rPr>
              <a:t>a</a:t>
            </a:r>
            <a:r>
              <a:rPr altLang="en-AU" b="1" dirty="0" sz="2200" lang="en-US">
                <a:solidFill>
                  <a:srgbClr val="FFFFFF"/>
                </a:solidFill>
                <a:latin typeface="Calibri" pitchFamily="34" charset="0"/>
                <a:ea typeface="Calibri" pitchFamily="34" charset="-122"/>
                <a:cs typeface="Calibri" pitchFamily="34" charset="-120"/>
              </a:rPr>
              <a:t>d</a:t>
            </a:r>
            <a:r>
              <a:rPr altLang="en-AU" b="1" dirty="0" sz="2200" lang="en-US">
                <a:solidFill>
                  <a:srgbClr val="FFFFFF"/>
                </a:solidFill>
                <a:latin typeface="Calibri" pitchFamily="34" charset="0"/>
                <a:ea typeface="Calibri" pitchFamily="34" charset="-122"/>
                <a:cs typeface="Calibri" pitchFamily="34" charset="-120"/>
              </a:rPr>
              <a:t>i</a:t>
            </a:r>
            <a:r>
              <a:rPr altLang="en-AU" b="1" dirty="0" sz="2200" lang="en-US">
                <a:solidFill>
                  <a:srgbClr val="FFFFFF"/>
                </a:solidFill>
                <a:latin typeface="Calibri" pitchFamily="34" charset="0"/>
                <a:ea typeface="Calibri" pitchFamily="34" charset="-122"/>
                <a:cs typeface="Calibri" pitchFamily="34" charset="-120"/>
              </a:rPr>
              <a:t>a</a:t>
            </a:r>
            <a:r>
              <a:rPr altLang="en-AU" b="1" dirty="0" sz="2200" lang="en-US">
                <a:solidFill>
                  <a:srgbClr val="FFFFFF"/>
                </a:solidFill>
                <a:latin typeface="Calibri" pitchFamily="34" charset="0"/>
                <a:ea typeface="Calibri" pitchFamily="34" charset="-122"/>
                <a:cs typeface="Calibri" pitchFamily="34" charset="-120"/>
              </a:rPr>
              <a:t> </a:t>
            </a:r>
            <a:r>
              <a:rPr altLang="en-AU" b="1" dirty="0" sz="2200" lang="en-US">
                <a:solidFill>
                  <a:srgbClr val="FFFFFF"/>
                </a:solidFill>
                <a:latin typeface="Calibri" pitchFamily="34" charset="0"/>
                <a:ea typeface="Calibri" pitchFamily="34" charset="-122"/>
                <a:cs typeface="Calibri" pitchFamily="34" charset="-120"/>
              </a:rPr>
              <a:t>k</a:t>
            </a:r>
            <a:r>
              <a:rPr altLang="en-AU" b="1" dirty="0" sz="2200" lang="en-US">
                <a:solidFill>
                  <a:srgbClr val="FFFFFF"/>
                </a:solidFill>
                <a:latin typeface="Calibri" pitchFamily="34" charset="0"/>
                <a:ea typeface="Calibri" pitchFamily="34" charset="-122"/>
                <a:cs typeface="Calibri" pitchFamily="34" charset="-120"/>
              </a:rPr>
              <a:t>a</a:t>
            </a:r>
            <a:r>
              <a:rPr altLang="en-AU" b="1" dirty="0" sz="2200" lang="en-US">
                <a:solidFill>
                  <a:srgbClr val="FFFFFF"/>
                </a:solidFill>
                <a:latin typeface="Calibri" pitchFamily="34" charset="0"/>
                <a:ea typeface="Calibri" pitchFamily="34" charset="-122"/>
                <a:cs typeface="Calibri" pitchFamily="34" charset="-120"/>
              </a:rPr>
              <a:t>u</a:t>
            </a:r>
            <a:r>
              <a:rPr altLang="en-AU" b="1" dirty="0" sz="2200" lang="en-US">
                <a:solidFill>
                  <a:srgbClr val="FFFFFF"/>
                </a:solidFill>
                <a:latin typeface="Calibri" pitchFamily="34" charset="0"/>
                <a:ea typeface="Calibri" pitchFamily="34" charset="-122"/>
                <a:cs typeface="Calibri" pitchFamily="34" charset="-120"/>
              </a:rPr>
              <a:t>s</a:t>
            </a:r>
            <a:r>
              <a:rPr altLang="en-AU" b="1" dirty="0" sz="2200" lang="en-US">
                <a:solidFill>
                  <a:srgbClr val="FFFFFF"/>
                </a:solidFill>
                <a:latin typeface="Calibri" pitchFamily="34" charset="0"/>
                <a:ea typeface="Calibri" pitchFamily="34" charset="-122"/>
                <a:cs typeface="Calibri" pitchFamily="34" charset="-120"/>
              </a:rPr>
              <a:t>a</a:t>
            </a:r>
            <a:r>
              <a:rPr altLang="en-AU" b="1" dirty="0" sz="2200" lang="en-US">
                <a:solidFill>
                  <a:srgbClr val="FFFFFF"/>
                </a:solidFill>
                <a:latin typeface="Calibri" pitchFamily="34" charset="0"/>
                <a:ea typeface="Calibri" pitchFamily="34" charset="-122"/>
                <a:cs typeface="Calibri" pitchFamily="34" charset="-120"/>
              </a:rPr>
              <a:t>r</a:t>
            </a:r>
            <a:endParaRPr dirty="0" sz="2200" lang="en-US"/>
          </a:p>
          <a:p>
            <a:pPr indent="0" marL="0">
              <a:spcAft>
                <a:spcPts val="600"/>
              </a:spcAft>
              <a:buNone/>
            </a:pPr>
            <a:r>
              <a:rPr altLang="en-AU" dirty="0" sz="1500" lang="en-US">
                <a:solidFill>
                  <a:srgbClr val="CADCFC"/>
                </a:solidFill>
                <a:latin typeface="Calibri" pitchFamily="34" charset="0"/>
                <a:ea typeface="Calibri" pitchFamily="34" charset="-122"/>
                <a:cs typeface="Calibri" pitchFamily="34" charset="-120"/>
              </a:rPr>
              <a:t>[</a:t>
            </a:r>
            <a:r>
              <a:rPr altLang="en-AU" dirty="0" sz="1500" lang="en-US">
                <a:solidFill>
                  <a:srgbClr val="CADCFC"/>
                </a:solidFill>
                <a:latin typeface="Calibri" pitchFamily="34" charset="0"/>
                <a:ea typeface="Calibri" pitchFamily="34" charset="-122"/>
                <a:cs typeface="Calibri" pitchFamily="34" charset="-120"/>
              </a:rPr>
              <a:t>C</a:t>
            </a:r>
            <a:r>
              <a:rPr altLang="en-AU" dirty="0" sz="1500" lang="en-US">
                <a:solidFill>
                  <a:srgbClr val="CADCFC"/>
                </a:solidFill>
                <a:latin typeface="Calibri" pitchFamily="34" charset="0"/>
                <a:ea typeface="Calibri" pitchFamily="34" charset="-122"/>
                <a:cs typeface="Calibri" pitchFamily="34" charset="-120"/>
              </a:rPr>
              <a:t>S</a:t>
            </a:r>
            <a:r>
              <a:rPr altLang="en-AU" dirty="0" sz="1500" lang="en-US">
                <a:solidFill>
                  <a:srgbClr val="CADCFC"/>
                </a:solidFill>
                <a:latin typeface="Calibri" pitchFamily="34" charset="0"/>
                <a:ea typeface="Calibri" pitchFamily="34" charset="-122"/>
                <a:cs typeface="Calibri" pitchFamily="34" charset="-120"/>
              </a:rPr>
              <a:t>E</a:t>
            </a:r>
            <a:r>
              <a:rPr altLang="en-AU" dirty="0" sz="1500" lang="en-US">
                <a:solidFill>
                  <a:srgbClr val="CADCFC"/>
                </a:solidFill>
                <a:latin typeface="Calibri" pitchFamily="34" charset="0"/>
                <a:ea typeface="Calibri" pitchFamily="34" charset="-122"/>
                <a:cs typeface="Calibri" pitchFamily="34" charset="-120"/>
              </a:rPr>
              <a:t>-</a:t>
            </a:r>
            <a:r>
              <a:rPr altLang="en-AU" dirty="0" sz="1500" lang="en-US">
                <a:solidFill>
                  <a:srgbClr val="CADCFC"/>
                </a:solidFill>
                <a:latin typeface="Calibri" pitchFamily="34" charset="0"/>
                <a:ea typeface="Calibri" pitchFamily="34" charset="-122"/>
                <a:cs typeface="Calibri" pitchFamily="34" charset="-120"/>
              </a:rPr>
              <a:t>AIML</a:t>
            </a:r>
            <a:r>
              <a:rPr altLang="en-AU" dirty="0" sz="1500" lang="en-US">
                <a:solidFill>
                  <a:srgbClr val="CADCFC"/>
                </a:solidFill>
                <a:latin typeface="Calibri" pitchFamily="34" charset="0"/>
                <a:ea typeface="Calibri" pitchFamily="34" charset="-122"/>
                <a:cs typeface="Calibri" pitchFamily="34" charset="-120"/>
              </a:rPr>
              <a:t>,</a:t>
            </a:r>
            <a:r>
              <a:rPr altLang="en-AU" dirty="0" sz="1500" lang="en-US">
                <a:solidFill>
                  <a:srgbClr val="CADCFC"/>
                </a:solidFill>
                <a:latin typeface="Calibri" pitchFamily="34" charset="0"/>
                <a:ea typeface="Calibri" pitchFamily="34" charset="-122"/>
                <a:cs typeface="Calibri" pitchFamily="34" charset="-120"/>
              </a:rPr>
              <a:t> </a:t>
            </a:r>
            <a:r>
              <a:rPr altLang="en-AU" dirty="0" sz="1500" lang="en-US">
                <a:solidFill>
                  <a:srgbClr val="CADCFC"/>
                </a:solidFill>
                <a:latin typeface="Calibri" pitchFamily="34" charset="0"/>
                <a:ea typeface="Calibri" pitchFamily="34" charset="-122"/>
                <a:cs typeface="Calibri" pitchFamily="34" charset="-120"/>
              </a:rPr>
              <a:t>L</a:t>
            </a:r>
            <a:r>
              <a:rPr altLang="en-AU" dirty="0" sz="1500" lang="en-US">
                <a:solidFill>
                  <a:srgbClr val="CADCFC"/>
                </a:solidFill>
                <a:latin typeface="Calibri" pitchFamily="34" charset="0"/>
                <a:ea typeface="Calibri" pitchFamily="34" charset="-122"/>
                <a:cs typeface="Calibri" pitchFamily="34" charset="-120"/>
              </a:rPr>
              <a:t>o</a:t>
            </a:r>
            <a:r>
              <a:rPr altLang="en-AU" dirty="0" sz="1500" lang="en-US">
                <a:solidFill>
                  <a:srgbClr val="CADCFC"/>
                </a:solidFill>
                <a:latin typeface="Calibri" pitchFamily="34" charset="0"/>
                <a:ea typeface="Calibri" pitchFamily="34" charset="-122"/>
                <a:cs typeface="Calibri" pitchFamily="34" charset="-120"/>
              </a:rPr>
              <a:t>r</a:t>
            </a:r>
            <a:r>
              <a:rPr altLang="en-AU" dirty="0" sz="1500" lang="en-US">
                <a:solidFill>
                  <a:srgbClr val="CADCFC"/>
                </a:solidFill>
                <a:latin typeface="Calibri" pitchFamily="34" charset="0"/>
                <a:ea typeface="Calibri" pitchFamily="34" charset="-122"/>
                <a:cs typeface="Calibri" pitchFamily="34" charset="-120"/>
              </a:rPr>
              <a:t>d</a:t>
            </a:r>
            <a:r>
              <a:rPr altLang="en-AU" dirty="0" sz="1500" lang="en-US">
                <a:solidFill>
                  <a:srgbClr val="CADCFC"/>
                </a:solidFill>
                <a:latin typeface="Calibri" pitchFamily="34" charset="0"/>
                <a:ea typeface="Calibri" pitchFamily="34" charset="-122"/>
                <a:cs typeface="Calibri" pitchFamily="34" charset="-120"/>
              </a:rPr>
              <a:t>s</a:t>
            </a:r>
            <a:r>
              <a:rPr altLang="en-AU" dirty="0" sz="1500" lang="en-US">
                <a:solidFill>
                  <a:srgbClr val="CADCFC"/>
                </a:solidFill>
                <a:latin typeface="Calibri" pitchFamily="34" charset="0"/>
                <a:ea typeface="Calibri" pitchFamily="34" charset="-122"/>
                <a:cs typeface="Calibri" pitchFamily="34" charset="-120"/>
              </a:rPr>
              <a:t> </a:t>
            </a:r>
            <a:r>
              <a:rPr altLang="en-AU" dirty="0" sz="1500" lang="en-US">
                <a:solidFill>
                  <a:srgbClr val="CADCFC"/>
                </a:solidFill>
                <a:latin typeface="Calibri" pitchFamily="34" charset="0"/>
                <a:ea typeface="Calibri" pitchFamily="34" charset="-122"/>
                <a:cs typeface="Calibri" pitchFamily="34" charset="-120"/>
              </a:rPr>
              <a:t>I</a:t>
            </a:r>
            <a:r>
              <a:rPr altLang="en-AU" dirty="0" sz="1500" lang="en-US">
                <a:solidFill>
                  <a:srgbClr val="CADCFC"/>
                </a:solidFill>
                <a:latin typeface="Calibri" pitchFamily="34" charset="0"/>
                <a:ea typeface="Calibri" pitchFamily="34" charset="-122"/>
                <a:cs typeface="Calibri" pitchFamily="34" charset="-120"/>
              </a:rPr>
              <a:t>n</a:t>
            </a:r>
            <a:r>
              <a:rPr altLang="en-AU" dirty="0" sz="1500" lang="en-US">
                <a:solidFill>
                  <a:srgbClr val="CADCFC"/>
                </a:solidFill>
                <a:latin typeface="Calibri" pitchFamily="34" charset="0"/>
                <a:ea typeface="Calibri" pitchFamily="34" charset="-122"/>
                <a:cs typeface="Calibri" pitchFamily="34" charset="-120"/>
              </a:rPr>
              <a:t>s</a:t>
            </a:r>
            <a:r>
              <a:rPr altLang="en-AU" dirty="0" sz="1500" lang="en-US">
                <a:solidFill>
                  <a:srgbClr val="CADCFC"/>
                </a:solidFill>
                <a:latin typeface="Calibri" pitchFamily="34" charset="0"/>
                <a:ea typeface="Calibri" pitchFamily="34" charset="-122"/>
                <a:cs typeface="Calibri" pitchFamily="34" charset="-120"/>
              </a:rPr>
              <a:t>titute </a:t>
            </a:r>
            <a:r>
              <a:rPr altLang="en-AU" dirty="0" sz="1500" lang="en-US">
                <a:solidFill>
                  <a:srgbClr val="CADCFC"/>
                </a:solidFill>
                <a:latin typeface="Calibri" pitchFamily="34" charset="0"/>
                <a:ea typeface="Calibri" pitchFamily="34" charset="-122"/>
                <a:cs typeface="Calibri" pitchFamily="34" charset="-120"/>
              </a:rPr>
              <a:t>of </a:t>
            </a:r>
            <a:r>
              <a:rPr altLang="en-AU" dirty="0" sz="1500" lang="en-US">
                <a:solidFill>
                  <a:srgbClr val="CADCFC"/>
                </a:solidFill>
                <a:latin typeface="Calibri" pitchFamily="34" charset="0"/>
                <a:ea typeface="Calibri" pitchFamily="34" charset="-122"/>
                <a:cs typeface="Calibri" pitchFamily="34" charset="-120"/>
              </a:rPr>
              <a:t>Engineering </a:t>
            </a:r>
            <a:r>
              <a:rPr altLang="en-AU" dirty="0" sz="1500" lang="en-US">
                <a:solidFill>
                  <a:srgbClr val="CADCFC"/>
                </a:solidFill>
                <a:latin typeface="Calibri" pitchFamily="34" charset="0"/>
                <a:ea typeface="Calibri" pitchFamily="34" charset="-122"/>
                <a:cs typeface="Calibri" pitchFamily="34" charset="-120"/>
              </a:rPr>
              <a:t>and </a:t>
            </a:r>
            <a:r>
              <a:rPr altLang="en-AU" dirty="0" sz="1500" lang="en-US">
                <a:solidFill>
                  <a:srgbClr val="CADCFC"/>
                </a:solidFill>
                <a:latin typeface="Calibri" pitchFamily="34" charset="0"/>
                <a:ea typeface="Calibri" pitchFamily="34" charset="-122"/>
                <a:cs typeface="Calibri" pitchFamily="34" charset="-120"/>
              </a:rPr>
              <a:t>Technology </a:t>
            </a:r>
            <a:r>
              <a:rPr dirty="0" sz="1500" lang="en-US">
                <a:solidFill>
                  <a:srgbClr val="CADCFC"/>
                </a:solidFill>
                <a:latin typeface="Calibri" pitchFamily="34" charset="0"/>
                <a:ea typeface="Calibri" pitchFamily="34" charset="-122"/>
                <a:cs typeface="Calibri" pitchFamily="34" charset="-120"/>
              </a:rPr>
              <a:t>]</a:t>
            </a:r>
            <a:endParaRPr dirty="0" sz="22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22" name=""/>
        <p:cNvGrpSpPr/>
        <p:nvPr/>
      </p:nvGrpSpPr>
      <p:grpSpPr>
        <a:xfrm>
          <a:off x="0" y="0"/>
          <a:ext cx="0" cy="0"/>
          <a:chOff x="0" y="0"/>
          <a:chExt cx="0" cy="0"/>
        </a:xfrm>
      </p:grpSpPr>
      <p:sp>
        <p:nvSpPr>
          <p:cNvPr id="1048595"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Table of Contents</a:t>
            </a:r>
            <a:endParaRPr dirty="0" sz="3400" lang="en-US"/>
          </a:p>
        </p:txBody>
      </p:sp>
      <p:sp>
        <p:nvSpPr>
          <p:cNvPr id="1048596" name="card"/>
          <p:cNvSpPr/>
          <p:nvPr/>
        </p:nvSpPr>
        <p:spPr>
          <a:xfrm>
            <a:off x="548640" y="1554480"/>
            <a:ext cx="3566160" cy="1325880"/>
          </a:xfrm>
          <a:prstGeom prst="roundRect">
            <a:avLst>
              <a:gd name="adj" fmla="val 8276"/>
            </a:avLst>
          </a:prstGeom>
          <a:solidFill>
            <a:srgbClr val="F5F7FA"/>
          </a:solidFill>
          <a:ln w="12700">
            <a:solidFill>
              <a:srgbClr val="F5F7FA"/>
            </a:solidFill>
            <a:prstDash val="solid"/>
          </a:ln>
        </p:spPr>
      </p:sp>
      <p:sp>
        <p:nvSpPr>
          <p:cNvPr id="1048597" name="icon-circle"/>
          <p:cNvSpPr/>
          <p:nvPr/>
        </p:nvSpPr>
        <p:spPr>
          <a:xfrm>
            <a:off x="777240" y="1828800"/>
            <a:ext cx="777240" cy="777240"/>
          </a:xfrm>
          <a:prstGeom prst="ellipse"/>
          <a:solidFill>
            <a:srgbClr val="12A19A"/>
          </a:solidFill>
          <a:ln w="12700">
            <a:solidFill>
              <a:srgbClr val="12A19A"/>
            </a:solidFill>
            <a:prstDash val="solid"/>
          </a:ln>
        </p:spPr>
      </p:sp>
      <p:pic>
        <p:nvPicPr>
          <p:cNvPr id="2097153" name="Image 0" descr="FileAlt icon"/>
          <p:cNvPicPr>
            <a:picLocks noChangeAspect="1"/>
          </p:cNvPicPr>
          <p:nvPr/>
        </p:nvPicPr>
        <p:blipFill>
          <a:blip xmlns:r="http://schemas.openxmlformats.org/officeDocument/2006/relationships" r:embed="rId1"/>
          <a:stretch>
            <a:fillRect/>
          </a:stretch>
        </p:blipFill>
        <p:spPr>
          <a:xfrm>
            <a:off x="971550" y="2023110"/>
            <a:ext cx="388620" cy="388620"/>
          </a:xfrm>
          <a:prstGeom prst="rect"/>
        </p:spPr>
      </p:pic>
      <p:sp>
        <p:nvSpPr>
          <p:cNvPr id="1048598" name="Text 3"/>
          <p:cNvSpPr txBox="1"/>
          <p:nvPr/>
        </p:nvSpPr>
        <p:spPr>
          <a:xfrm>
            <a:off x="1737360" y="173736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03</a:t>
            </a:r>
            <a:endParaRPr dirty="0" sz="1300" lang="en-US"/>
          </a:p>
        </p:txBody>
      </p:sp>
      <p:sp>
        <p:nvSpPr>
          <p:cNvPr id="1048599" name="Text 4"/>
          <p:cNvSpPr txBox="1"/>
          <p:nvPr/>
        </p:nvSpPr>
        <p:spPr>
          <a:xfrm>
            <a:off x="1737360" y="205740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Abstract</a:t>
            </a:r>
            <a:endParaRPr dirty="0" sz="1800" lang="en-US"/>
          </a:p>
        </p:txBody>
      </p:sp>
      <p:sp>
        <p:nvSpPr>
          <p:cNvPr id="1048600" name="card"/>
          <p:cNvSpPr/>
          <p:nvPr/>
        </p:nvSpPr>
        <p:spPr>
          <a:xfrm>
            <a:off x="4297680" y="1554480"/>
            <a:ext cx="3566160" cy="1325880"/>
          </a:xfrm>
          <a:prstGeom prst="roundRect">
            <a:avLst>
              <a:gd name="adj" fmla="val 8276"/>
            </a:avLst>
          </a:prstGeom>
          <a:solidFill>
            <a:srgbClr val="F5F7FA"/>
          </a:solidFill>
          <a:ln w="12700">
            <a:solidFill>
              <a:srgbClr val="F5F7FA"/>
            </a:solidFill>
            <a:prstDash val="solid"/>
          </a:ln>
        </p:spPr>
      </p:sp>
      <p:sp>
        <p:nvSpPr>
          <p:cNvPr id="1048601" name="icon-circle"/>
          <p:cNvSpPr/>
          <p:nvPr/>
        </p:nvSpPr>
        <p:spPr>
          <a:xfrm>
            <a:off x="4526280" y="1828800"/>
            <a:ext cx="777240" cy="777240"/>
          </a:xfrm>
          <a:prstGeom prst="ellipse"/>
          <a:solidFill>
            <a:srgbClr val="14213D"/>
          </a:solidFill>
          <a:ln w="12700">
            <a:solidFill>
              <a:srgbClr val="14213D"/>
            </a:solidFill>
            <a:prstDash val="solid"/>
          </a:ln>
        </p:spPr>
      </p:sp>
      <p:pic>
        <p:nvPicPr>
          <p:cNvPr id="2097154" name="Image 1" descr="BookOpen icon"/>
          <p:cNvPicPr>
            <a:picLocks noChangeAspect="1"/>
          </p:cNvPicPr>
          <p:nvPr/>
        </p:nvPicPr>
        <p:blipFill>
          <a:blip xmlns:r="http://schemas.openxmlformats.org/officeDocument/2006/relationships" r:embed="rId2"/>
          <a:stretch>
            <a:fillRect/>
          </a:stretch>
        </p:blipFill>
        <p:spPr>
          <a:xfrm>
            <a:off x="4720590" y="2023110"/>
            <a:ext cx="388620" cy="388620"/>
          </a:xfrm>
          <a:prstGeom prst="rect"/>
        </p:spPr>
      </p:pic>
      <p:sp>
        <p:nvSpPr>
          <p:cNvPr id="1048602" name="Text 7"/>
          <p:cNvSpPr txBox="1"/>
          <p:nvPr/>
        </p:nvSpPr>
        <p:spPr>
          <a:xfrm>
            <a:off x="5486400" y="173736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04</a:t>
            </a:r>
            <a:endParaRPr dirty="0" sz="1300" lang="en-US"/>
          </a:p>
        </p:txBody>
      </p:sp>
      <p:sp>
        <p:nvSpPr>
          <p:cNvPr id="1048603" name="Text 8"/>
          <p:cNvSpPr txBox="1"/>
          <p:nvPr/>
        </p:nvSpPr>
        <p:spPr>
          <a:xfrm>
            <a:off x="5486400" y="205740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Introduction</a:t>
            </a:r>
            <a:endParaRPr dirty="0" sz="1800" lang="en-US"/>
          </a:p>
        </p:txBody>
      </p:sp>
      <p:sp>
        <p:nvSpPr>
          <p:cNvPr id="1048604" name="card"/>
          <p:cNvSpPr/>
          <p:nvPr/>
        </p:nvSpPr>
        <p:spPr>
          <a:xfrm>
            <a:off x="8046720" y="1554480"/>
            <a:ext cx="3566160" cy="1325880"/>
          </a:xfrm>
          <a:prstGeom prst="roundRect">
            <a:avLst>
              <a:gd name="adj" fmla="val 8276"/>
            </a:avLst>
          </a:prstGeom>
          <a:solidFill>
            <a:srgbClr val="F5F7FA"/>
          </a:solidFill>
          <a:ln w="12700">
            <a:solidFill>
              <a:srgbClr val="F5F7FA"/>
            </a:solidFill>
            <a:prstDash val="solid"/>
          </a:ln>
        </p:spPr>
      </p:sp>
      <p:sp>
        <p:nvSpPr>
          <p:cNvPr id="1048605" name="icon-circle"/>
          <p:cNvSpPr/>
          <p:nvPr/>
        </p:nvSpPr>
        <p:spPr>
          <a:xfrm>
            <a:off x="8275320" y="1828800"/>
            <a:ext cx="777240" cy="777240"/>
          </a:xfrm>
          <a:prstGeom prst="ellipse"/>
          <a:solidFill>
            <a:srgbClr val="12A19A"/>
          </a:solidFill>
          <a:ln w="12700">
            <a:solidFill>
              <a:srgbClr val="12A19A"/>
            </a:solidFill>
            <a:prstDash val="solid"/>
          </a:ln>
        </p:spPr>
      </p:sp>
      <p:pic>
        <p:nvPicPr>
          <p:cNvPr id="2097155" name="Image 2" descr="Eye icon"/>
          <p:cNvPicPr>
            <a:picLocks noChangeAspect="1"/>
          </p:cNvPicPr>
          <p:nvPr/>
        </p:nvPicPr>
        <p:blipFill>
          <a:blip xmlns:r="http://schemas.openxmlformats.org/officeDocument/2006/relationships" r:embed="rId3"/>
          <a:stretch>
            <a:fillRect/>
          </a:stretch>
        </p:blipFill>
        <p:spPr>
          <a:xfrm>
            <a:off x="8469630" y="2023110"/>
            <a:ext cx="388620" cy="388620"/>
          </a:xfrm>
          <a:prstGeom prst="rect"/>
        </p:spPr>
      </p:pic>
      <p:sp>
        <p:nvSpPr>
          <p:cNvPr id="1048606" name="Text 11"/>
          <p:cNvSpPr txBox="1"/>
          <p:nvPr/>
        </p:nvSpPr>
        <p:spPr>
          <a:xfrm>
            <a:off x="9235440" y="173736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05</a:t>
            </a:r>
            <a:endParaRPr dirty="0" sz="1300" lang="en-US"/>
          </a:p>
        </p:txBody>
      </p:sp>
      <p:sp>
        <p:nvSpPr>
          <p:cNvPr id="1048607" name="Text 12"/>
          <p:cNvSpPr txBox="1"/>
          <p:nvPr/>
        </p:nvSpPr>
        <p:spPr>
          <a:xfrm>
            <a:off x="9235440" y="205740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Overview</a:t>
            </a:r>
            <a:endParaRPr dirty="0" sz="1800" lang="en-US"/>
          </a:p>
        </p:txBody>
      </p:sp>
      <p:sp>
        <p:nvSpPr>
          <p:cNvPr id="1048608" name="card"/>
          <p:cNvSpPr/>
          <p:nvPr/>
        </p:nvSpPr>
        <p:spPr>
          <a:xfrm>
            <a:off x="548640" y="3108960"/>
            <a:ext cx="3566160" cy="1325880"/>
          </a:xfrm>
          <a:prstGeom prst="roundRect">
            <a:avLst>
              <a:gd name="adj" fmla="val 8276"/>
            </a:avLst>
          </a:prstGeom>
          <a:solidFill>
            <a:srgbClr val="F5F7FA"/>
          </a:solidFill>
          <a:ln w="12700">
            <a:solidFill>
              <a:srgbClr val="F5F7FA"/>
            </a:solidFill>
            <a:prstDash val="solid"/>
          </a:ln>
        </p:spPr>
      </p:sp>
      <p:sp>
        <p:nvSpPr>
          <p:cNvPr id="1048609" name="icon-circle"/>
          <p:cNvSpPr/>
          <p:nvPr/>
        </p:nvSpPr>
        <p:spPr>
          <a:xfrm>
            <a:off x="777240" y="3383280"/>
            <a:ext cx="777240" cy="777240"/>
          </a:xfrm>
          <a:prstGeom prst="ellipse"/>
          <a:solidFill>
            <a:srgbClr val="14213D"/>
          </a:solidFill>
          <a:ln w="12700">
            <a:solidFill>
              <a:srgbClr val="14213D"/>
            </a:solidFill>
            <a:prstDash val="solid"/>
          </a:ln>
        </p:spPr>
      </p:sp>
      <p:pic>
        <p:nvPicPr>
          <p:cNvPr id="2097156" name="Image 3" descr="Book icon"/>
          <p:cNvPicPr>
            <a:picLocks noChangeAspect="1"/>
          </p:cNvPicPr>
          <p:nvPr/>
        </p:nvPicPr>
        <p:blipFill>
          <a:blip xmlns:r="http://schemas.openxmlformats.org/officeDocument/2006/relationships" r:embed="rId4"/>
          <a:stretch>
            <a:fillRect/>
          </a:stretch>
        </p:blipFill>
        <p:spPr>
          <a:xfrm>
            <a:off x="971550" y="3577590"/>
            <a:ext cx="388620" cy="388620"/>
          </a:xfrm>
          <a:prstGeom prst="rect"/>
        </p:spPr>
      </p:pic>
      <p:sp>
        <p:nvSpPr>
          <p:cNvPr id="1048610" name="Text 15"/>
          <p:cNvSpPr txBox="1"/>
          <p:nvPr/>
        </p:nvSpPr>
        <p:spPr>
          <a:xfrm>
            <a:off x="1737360" y="329184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06</a:t>
            </a:r>
            <a:endParaRPr dirty="0" sz="1300" lang="en-US"/>
          </a:p>
        </p:txBody>
      </p:sp>
      <p:sp>
        <p:nvSpPr>
          <p:cNvPr id="1048611" name="Text 16"/>
          <p:cNvSpPr txBox="1"/>
          <p:nvPr/>
        </p:nvSpPr>
        <p:spPr>
          <a:xfrm>
            <a:off x="1737360" y="361188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Literature Survey</a:t>
            </a:r>
            <a:endParaRPr dirty="0" sz="1800" lang="en-US"/>
          </a:p>
        </p:txBody>
      </p:sp>
      <p:sp>
        <p:nvSpPr>
          <p:cNvPr id="1048612" name="card"/>
          <p:cNvSpPr/>
          <p:nvPr/>
        </p:nvSpPr>
        <p:spPr>
          <a:xfrm>
            <a:off x="4297680" y="3108960"/>
            <a:ext cx="3566160" cy="1325880"/>
          </a:xfrm>
          <a:prstGeom prst="roundRect">
            <a:avLst>
              <a:gd name="adj" fmla="val 8276"/>
            </a:avLst>
          </a:prstGeom>
          <a:solidFill>
            <a:srgbClr val="F5F7FA"/>
          </a:solidFill>
          <a:ln w="12700">
            <a:solidFill>
              <a:srgbClr val="F5F7FA"/>
            </a:solidFill>
            <a:prstDash val="solid"/>
          </a:ln>
        </p:spPr>
      </p:sp>
      <p:sp>
        <p:nvSpPr>
          <p:cNvPr id="1048613" name="icon-circle"/>
          <p:cNvSpPr/>
          <p:nvPr/>
        </p:nvSpPr>
        <p:spPr>
          <a:xfrm>
            <a:off x="4526280" y="3383280"/>
            <a:ext cx="777240" cy="777240"/>
          </a:xfrm>
          <a:prstGeom prst="ellipse"/>
          <a:solidFill>
            <a:srgbClr val="12A19A"/>
          </a:solidFill>
          <a:ln w="12700">
            <a:solidFill>
              <a:srgbClr val="12A19A"/>
            </a:solidFill>
            <a:prstDash val="solid"/>
          </a:ln>
        </p:spPr>
      </p:sp>
      <p:pic>
        <p:nvPicPr>
          <p:cNvPr id="2097157" name="Image 4" descr="TimesCircle icon"/>
          <p:cNvPicPr>
            <a:picLocks noChangeAspect="1"/>
          </p:cNvPicPr>
          <p:nvPr/>
        </p:nvPicPr>
        <p:blipFill>
          <a:blip xmlns:r="http://schemas.openxmlformats.org/officeDocument/2006/relationships" r:embed="rId5"/>
          <a:stretch>
            <a:fillRect/>
          </a:stretch>
        </p:blipFill>
        <p:spPr>
          <a:xfrm>
            <a:off x="4720590" y="3577590"/>
            <a:ext cx="388620" cy="388620"/>
          </a:xfrm>
          <a:prstGeom prst="rect"/>
        </p:spPr>
      </p:pic>
      <p:sp>
        <p:nvSpPr>
          <p:cNvPr id="1048614" name="Text 19"/>
          <p:cNvSpPr txBox="1"/>
          <p:nvPr/>
        </p:nvSpPr>
        <p:spPr>
          <a:xfrm>
            <a:off x="5486400" y="329184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07</a:t>
            </a:r>
            <a:endParaRPr dirty="0" sz="1300" lang="en-US"/>
          </a:p>
        </p:txBody>
      </p:sp>
      <p:sp>
        <p:nvSpPr>
          <p:cNvPr id="1048615" name="Text 20"/>
          <p:cNvSpPr txBox="1"/>
          <p:nvPr/>
        </p:nvSpPr>
        <p:spPr>
          <a:xfrm>
            <a:off x="5486400" y="361188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Existing System &amp; Disadvantages</a:t>
            </a:r>
            <a:endParaRPr dirty="0" sz="1800" lang="en-US"/>
          </a:p>
        </p:txBody>
      </p:sp>
      <p:sp>
        <p:nvSpPr>
          <p:cNvPr id="1048616" name="card"/>
          <p:cNvSpPr/>
          <p:nvPr/>
        </p:nvSpPr>
        <p:spPr>
          <a:xfrm>
            <a:off x="8046720" y="3108960"/>
            <a:ext cx="3566160" cy="1325880"/>
          </a:xfrm>
          <a:prstGeom prst="roundRect">
            <a:avLst>
              <a:gd name="adj" fmla="val 8276"/>
            </a:avLst>
          </a:prstGeom>
          <a:solidFill>
            <a:srgbClr val="F5F7FA"/>
          </a:solidFill>
          <a:ln w="12700">
            <a:solidFill>
              <a:srgbClr val="F5F7FA"/>
            </a:solidFill>
            <a:prstDash val="solid"/>
          </a:ln>
        </p:spPr>
      </p:sp>
      <p:sp>
        <p:nvSpPr>
          <p:cNvPr id="1048617" name="icon-circle"/>
          <p:cNvSpPr/>
          <p:nvPr/>
        </p:nvSpPr>
        <p:spPr>
          <a:xfrm>
            <a:off x="8275320" y="3383280"/>
            <a:ext cx="777240" cy="777240"/>
          </a:xfrm>
          <a:prstGeom prst="ellipse"/>
          <a:solidFill>
            <a:srgbClr val="14213D"/>
          </a:solidFill>
          <a:ln w="12700">
            <a:solidFill>
              <a:srgbClr val="14213D"/>
            </a:solidFill>
            <a:prstDash val="solid"/>
          </a:ln>
        </p:spPr>
      </p:sp>
      <p:pic>
        <p:nvPicPr>
          <p:cNvPr id="2097158" name="Image 5" descr="CheckCircle icon"/>
          <p:cNvPicPr>
            <a:picLocks noChangeAspect="1"/>
          </p:cNvPicPr>
          <p:nvPr/>
        </p:nvPicPr>
        <p:blipFill>
          <a:blip xmlns:r="http://schemas.openxmlformats.org/officeDocument/2006/relationships" r:embed="rId6"/>
          <a:stretch>
            <a:fillRect/>
          </a:stretch>
        </p:blipFill>
        <p:spPr>
          <a:xfrm>
            <a:off x="8469630" y="3577590"/>
            <a:ext cx="388620" cy="388620"/>
          </a:xfrm>
          <a:prstGeom prst="rect"/>
        </p:spPr>
      </p:pic>
      <p:sp>
        <p:nvSpPr>
          <p:cNvPr id="1048618" name="Text 23"/>
          <p:cNvSpPr txBox="1"/>
          <p:nvPr/>
        </p:nvSpPr>
        <p:spPr>
          <a:xfrm>
            <a:off x="9235440" y="329184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08</a:t>
            </a:r>
            <a:endParaRPr dirty="0" sz="1300" lang="en-US"/>
          </a:p>
        </p:txBody>
      </p:sp>
      <p:sp>
        <p:nvSpPr>
          <p:cNvPr id="1048619" name="Text 24"/>
          <p:cNvSpPr txBox="1"/>
          <p:nvPr/>
        </p:nvSpPr>
        <p:spPr>
          <a:xfrm>
            <a:off x="9235440" y="361188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Proposed System &amp; Advantages</a:t>
            </a:r>
            <a:endParaRPr dirty="0" sz="1800" lang="en-US"/>
          </a:p>
        </p:txBody>
      </p:sp>
      <p:sp>
        <p:nvSpPr>
          <p:cNvPr id="1048620" name="card"/>
          <p:cNvSpPr/>
          <p:nvPr/>
        </p:nvSpPr>
        <p:spPr>
          <a:xfrm>
            <a:off x="548640" y="4663440"/>
            <a:ext cx="3566160" cy="1325880"/>
          </a:xfrm>
          <a:prstGeom prst="roundRect">
            <a:avLst>
              <a:gd name="adj" fmla="val 8276"/>
            </a:avLst>
          </a:prstGeom>
          <a:solidFill>
            <a:srgbClr val="F5F7FA"/>
          </a:solidFill>
          <a:ln w="12700">
            <a:solidFill>
              <a:srgbClr val="F5F7FA"/>
            </a:solidFill>
            <a:prstDash val="solid"/>
          </a:ln>
        </p:spPr>
      </p:sp>
      <p:sp>
        <p:nvSpPr>
          <p:cNvPr id="1048621" name="icon-circle"/>
          <p:cNvSpPr/>
          <p:nvPr/>
        </p:nvSpPr>
        <p:spPr>
          <a:xfrm>
            <a:off x="777240" y="4937760"/>
            <a:ext cx="777240" cy="777240"/>
          </a:xfrm>
          <a:prstGeom prst="ellipse"/>
          <a:solidFill>
            <a:srgbClr val="12A19A"/>
          </a:solidFill>
          <a:ln w="12700">
            <a:solidFill>
              <a:srgbClr val="12A19A"/>
            </a:solidFill>
            <a:prstDash val="solid"/>
          </a:ln>
        </p:spPr>
      </p:sp>
      <p:pic>
        <p:nvPicPr>
          <p:cNvPr id="2097159" name="Image 6" descr="Sitemap icon"/>
          <p:cNvPicPr>
            <a:picLocks noChangeAspect="1"/>
          </p:cNvPicPr>
          <p:nvPr/>
        </p:nvPicPr>
        <p:blipFill>
          <a:blip xmlns:r="http://schemas.openxmlformats.org/officeDocument/2006/relationships" r:embed="rId7"/>
          <a:stretch>
            <a:fillRect/>
          </a:stretch>
        </p:blipFill>
        <p:spPr>
          <a:xfrm>
            <a:off x="971550" y="5132070"/>
            <a:ext cx="388620" cy="388620"/>
          </a:xfrm>
          <a:prstGeom prst="rect"/>
        </p:spPr>
      </p:pic>
      <p:sp>
        <p:nvSpPr>
          <p:cNvPr id="1048622" name="Text 27"/>
          <p:cNvSpPr txBox="1"/>
          <p:nvPr/>
        </p:nvSpPr>
        <p:spPr>
          <a:xfrm>
            <a:off x="1737360" y="484632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09</a:t>
            </a:r>
            <a:endParaRPr dirty="0" sz="1300" lang="en-US"/>
          </a:p>
        </p:txBody>
      </p:sp>
      <p:sp>
        <p:nvSpPr>
          <p:cNvPr id="1048623" name="Text 28"/>
          <p:cNvSpPr txBox="1"/>
          <p:nvPr/>
        </p:nvSpPr>
        <p:spPr>
          <a:xfrm>
            <a:off x="1737360" y="516636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System Architecture</a:t>
            </a:r>
            <a:endParaRPr dirty="0" sz="1800" lang="en-US"/>
          </a:p>
        </p:txBody>
      </p:sp>
      <p:sp>
        <p:nvSpPr>
          <p:cNvPr id="1048624" name="card"/>
          <p:cNvSpPr/>
          <p:nvPr/>
        </p:nvSpPr>
        <p:spPr>
          <a:xfrm>
            <a:off x="4297680" y="4663440"/>
            <a:ext cx="3566160" cy="1325880"/>
          </a:xfrm>
          <a:prstGeom prst="roundRect">
            <a:avLst>
              <a:gd name="adj" fmla="val 8276"/>
            </a:avLst>
          </a:prstGeom>
          <a:solidFill>
            <a:srgbClr val="F5F7FA"/>
          </a:solidFill>
          <a:ln w="12700">
            <a:solidFill>
              <a:srgbClr val="F5F7FA"/>
            </a:solidFill>
            <a:prstDash val="solid"/>
          </a:ln>
        </p:spPr>
      </p:sp>
      <p:sp>
        <p:nvSpPr>
          <p:cNvPr id="1048625" name="icon-circle"/>
          <p:cNvSpPr/>
          <p:nvPr/>
        </p:nvSpPr>
        <p:spPr>
          <a:xfrm>
            <a:off x="4526280" y="4937760"/>
            <a:ext cx="777240" cy="777240"/>
          </a:xfrm>
          <a:prstGeom prst="ellipse"/>
          <a:solidFill>
            <a:srgbClr val="14213D"/>
          </a:solidFill>
          <a:ln w="12700">
            <a:solidFill>
              <a:srgbClr val="14213D"/>
            </a:solidFill>
            <a:prstDash val="solid"/>
          </a:ln>
        </p:spPr>
      </p:sp>
      <p:pic>
        <p:nvPicPr>
          <p:cNvPr id="2097160" name="Image 7" descr="PuzzlePiece icon"/>
          <p:cNvPicPr>
            <a:picLocks noChangeAspect="1"/>
          </p:cNvPicPr>
          <p:nvPr/>
        </p:nvPicPr>
        <p:blipFill>
          <a:blip xmlns:r="http://schemas.openxmlformats.org/officeDocument/2006/relationships" r:embed="rId8"/>
          <a:stretch>
            <a:fillRect/>
          </a:stretch>
        </p:blipFill>
        <p:spPr>
          <a:xfrm>
            <a:off x="4720590" y="5132070"/>
            <a:ext cx="388620" cy="388620"/>
          </a:xfrm>
          <a:prstGeom prst="rect"/>
        </p:spPr>
      </p:pic>
      <p:sp>
        <p:nvSpPr>
          <p:cNvPr id="1048626" name="Text 31"/>
          <p:cNvSpPr txBox="1"/>
          <p:nvPr/>
        </p:nvSpPr>
        <p:spPr>
          <a:xfrm>
            <a:off x="5486400" y="484632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10</a:t>
            </a:r>
            <a:endParaRPr dirty="0" sz="1300" lang="en-US"/>
          </a:p>
        </p:txBody>
      </p:sp>
      <p:sp>
        <p:nvSpPr>
          <p:cNvPr id="1048627" name="Text 32"/>
          <p:cNvSpPr txBox="1"/>
          <p:nvPr/>
        </p:nvSpPr>
        <p:spPr>
          <a:xfrm>
            <a:off x="5486400" y="516636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Modules</a:t>
            </a:r>
            <a:endParaRPr dirty="0" sz="1800" lang="en-US"/>
          </a:p>
        </p:txBody>
      </p:sp>
      <p:sp>
        <p:nvSpPr>
          <p:cNvPr id="1048628" name="card"/>
          <p:cNvSpPr/>
          <p:nvPr/>
        </p:nvSpPr>
        <p:spPr>
          <a:xfrm>
            <a:off x="8046720" y="4663440"/>
            <a:ext cx="3566160" cy="1325880"/>
          </a:xfrm>
          <a:prstGeom prst="roundRect">
            <a:avLst>
              <a:gd name="adj" fmla="val 8276"/>
            </a:avLst>
          </a:prstGeom>
          <a:solidFill>
            <a:srgbClr val="F5F7FA"/>
          </a:solidFill>
          <a:ln w="12700">
            <a:solidFill>
              <a:srgbClr val="F5F7FA"/>
            </a:solidFill>
            <a:prstDash val="solid"/>
          </a:ln>
        </p:spPr>
      </p:sp>
      <p:sp>
        <p:nvSpPr>
          <p:cNvPr id="1048629" name="icon-circle"/>
          <p:cNvSpPr/>
          <p:nvPr/>
        </p:nvSpPr>
        <p:spPr>
          <a:xfrm>
            <a:off x="8275320" y="4937760"/>
            <a:ext cx="777240" cy="777240"/>
          </a:xfrm>
          <a:prstGeom prst="ellipse"/>
          <a:solidFill>
            <a:srgbClr val="12A19A"/>
          </a:solidFill>
          <a:ln w="12700">
            <a:solidFill>
              <a:srgbClr val="12A19A"/>
            </a:solidFill>
            <a:prstDash val="solid"/>
          </a:ln>
        </p:spPr>
      </p:sp>
      <p:pic>
        <p:nvPicPr>
          <p:cNvPr id="2097161" name="Image 8" descr="ProjectDiagram icon"/>
          <p:cNvPicPr>
            <a:picLocks noChangeAspect="1"/>
          </p:cNvPicPr>
          <p:nvPr/>
        </p:nvPicPr>
        <p:blipFill>
          <a:blip xmlns:r="http://schemas.openxmlformats.org/officeDocument/2006/relationships" r:embed="rId9"/>
          <a:stretch>
            <a:fillRect/>
          </a:stretch>
        </p:blipFill>
        <p:spPr>
          <a:xfrm>
            <a:off x="8469630" y="5132070"/>
            <a:ext cx="388620" cy="388620"/>
          </a:xfrm>
          <a:prstGeom prst="rect"/>
        </p:spPr>
      </p:pic>
      <p:sp>
        <p:nvSpPr>
          <p:cNvPr id="1048630" name="Text 35"/>
          <p:cNvSpPr txBox="1"/>
          <p:nvPr/>
        </p:nvSpPr>
        <p:spPr>
          <a:xfrm>
            <a:off x="9235440" y="4846320"/>
            <a:ext cx="1371600" cy="320040"/>
          </a:xfrm>
          <a:prstGeom prst="rect"/>
          <a:noFill/>
        </p:spPr>
        <p:txBody>
          <a:bodyPr anchor="ctr" bIns="0" lIns="0" rIns="0" rtlCol="0" tIns="0" wrap="square"/>
          <a:p>
            <a:pPr indent="0" marL="0">
              <a:buNone/>
            </a:pPr>
            <a:r>
              <a:rPr b="1" dirty="0" sz="1300" kern="0" lang="en-US" spc="200">
                <a:solidFill>
                  <a:srgbClr val="F26B50"/>
                </a:solidFill>
                <a:latin typeface="Calibri" pitchFamily="34" charset="0"/>
                <a:ea typeface="Calibri" pitchFamily="34" charset="-122"/>
                <a:cs typeface="Calibri" pitchFamily="34" charset="-120"/>
              </a:rPr>
              <a:t>11</a:t>
            </a:r>
            <a:endParaRPr dirty="0" sz="1300" lang="en-US"/>
          </a:p>
        </p:txBody>
      </p:sp>
      <p:sp>
        <p:nvSpPr>
          <p:cNvPr id="1048631" name="Text 36"/>
          <p:cNvSpPr txBox="1"/>
          <p:nvPr/>
        </p:nvSpPr>
        <p:spPr>
          <a:xfrm>
            <a:off x="9235440" y="5166360"/>
            <a:ext cx="2286000" cy="685800"/>
          </a:xfrm>
          <a:prstGeom prst="rect"/>
          <a:noFill/>
        </p:spPr>
        <p:txBody>
          <a:bodyPr anchor="t"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Algorithms</a:t>
            </a:r>
            <a:endParaRPr dirty="0" sz="1800" lang="en-US"/>
          </a:p>
        </p:txBody>
      </p:sp>
      <p:sp>
        <p:nvSpPr>
          <p:cNvPr id="1048632"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25" name=""/>
        <p:cNvGrpSpPr/>
        <p:nvPr/>
      </p:nvGrpSpPr>
      <p:grpSpPr>
        <a:xfrm>
          <a:off x="0" y="0"/>
          <a:ext cx="0" cy="0"/>
          <a:chOff x="0" y="0"/>
          <a:chExt cx="0" cy="0"/>
        </a:xfrm>
      </p:grpSpPr>
      <p:sp>
        <p:nvSpPr>
          <p:cNvPr id="1048636"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Abstract</a:t>
            </a:r>
            <a:endParaRPr dirty="0" sz="3400" lang="en-US"/>
          </a:p>
        </p:txBody>
      </p:sp>
      <p:sp>
        <p:nvSpPr>
          <p:cNvPr id="1048637" name="card"/>
          <p:cNvSpPr/>
          <p:nvPr/>
        </p:nvSpPr>
        <p:spPr>
          <a:xfrm>
            <a:off x="548640" y="1463040"/>
            <a:ext cx="4206240" cy="4754880"/>
          </a:xfrm>
          <a:prstGeom prst="roundRect">
            <a:avLst>
              <a:gd name="adj" fmla="val 2609"/>
            </a:avLst>
          </a:prstGeom>
          <a:solidFill>
            <a:srgbClr val="14213D"/>
          </a:solidFill>
          <a:ln w="12700">
            <a:solidFill>
              <a:srgbClr val="14213D"/>
            </a:solidFill>
            <a:prstDash val="solid"/>
          </a:ln>
        </p:spPr>
      </p:sp>
      <p:sp>
        <p:nvSpPr>
          <p:cNvPr id="1048638" name="icon-circle"/>
          <p:cNvSpPr/>
          <p:nvPr/>
        </p:nvSpPr>
        <p:spPr>
          <a:xfrm>
            <a:off x="868680" y="1783080"/>
            <a:ext cx="731520" cy="731520"/>
          </a:xfrm>
          <a:prstGeom prst="ellipse"/>
          <a:solidFill>
            <a:srgbClr val="12A19A"/>
          </a:solidFill>
          <a:ln w="12700">
            <a:solidFill>
              <a:srgbClr val="12A19A"/>
            </a:solidFill>
            <a:prstDash val="solid"/>
          </a:ln>
        </p:spPr>
      </p:sp>
      <p:pic>
        <p:nvPicPr>
          <p:cNvPr id="2097162" name="Image 0" descr="Robot icon"/>
          <p:cNvPicPr>
            <a:picLocks noChangeAspect="1"/>
          </p:cNvPicPr>
          <p:nvPr/>
        </p:nvPicPr>
        <p:blipFill>
          <a:blip xmlns:r="http://schemas.openxmlformats.org/officeDocument/2006/relationships" r:embed="rId1"/>
          <a:stretch>
            <a:fillRect/>
          </a:stretch>
        </p:blipFill>
        <p:spPr>
          <a:xfrm>
            <a:off x="1051560" y="1965960"/>
            <a:ext cx="365760" cy="365760"/>
          </a:xfrm>
          <a:prstGeom prst="rect"/>
        </p:spPr>
      </p:pic>
      <p:sp>
        <p:nvSpPr>
          <p:cNvPr id="1048639" name="Text 3"/>
          <p:cNvSpPr txBox="1"/>
          <p:nvPr/>
        </p:nvSpPr>
        <p:spPr>
          <a:xfrm>
            <a:off x="868680" y="2743200"/>
            <a:ext cx="3566160" cy="2011680"/>
          </a:xfrm>
          <a:prstGeom prst="rect"/>
          <a:noFill/>
        </p:spPr>
        <p:txBody>
          <a:bodyPr anchor="t" bIns="0" lIns="0" rIns="0" rtlCol="0" tIns="0" wrap="square"/>
          <a:p>
            <a:pPr indent="0" marL="0">
              <a:buNone/>
            </a:pPr>
            <a:r>
              <a:rPr dirty="0" sz="2200" lang="en-US">
                <a:solidFill>
                  <a:srgbClr val="FFFFFF"/>
                </a:solidFill>
                <a:latin typeface="Cambria" pitchFamily="34" charset="0"/>
                <a:ea typeface="Cambria" pitchFamily="34" charset="-122"/>
                <a:cs typeface="Cambria" pitchFamily="34" charset="-120"/>
              </a:rPr>
              <a:t>An intelligent, conversational digital HR companion for employees and HR teams.</a:t>
            </a:r>
            <a:endParaRPr dirty="0" sz="2200" lang="en-US"/>
          </a:p>
        </p:txBody>
      </p:sp>
      <p:sp>
        <p:nvSpPr>
          <p:cNvPr id="1048640" name="Text 4"/>
          <p:cNvSpPr txBox="1"/>
          <p:nvPr/>
        </p:nvSpPr>
        <p:spPr>
          <a:xfrm>
            <a:off x="868680" y="5394960"/>
            <a:ext cx="3566160" cy="457200"/>
          </a:xfrm>
          <a:prstGeom prst="rect"/>
          <a:noFill/>
        </p:spPr>
        <p:txBody>
          <a:bodyPr anchor="ctr" bIns="0" lIns="0" rIns="0" rtlCol="0" tIns="0" wrap="square"/>
          <a:p>
            <a:pPr indent="0" marL="0">
              <a:buNone/>
            </a:pPr>
            <a:r>
              <a:rPr b="1" dirty="0" sz="1500" lang="en-US">
                <a:solidFill>
                  <a:srgbClr val="9FE3DE"/>
                </a:solidFill>
                <a:latin typeface="Calibri" pitchFamily="34" charset="0"/>
                <a:ea typeface="Calibri" pitchFamily="34" charset="-122"/>
                <a:cs typeface="Calibri" pitchFamily="34" charset="-120"/>
              </a:rPr>
              <a:t>Generative AI  ·  NLP  ·  RAG</a:t>
            </a:r>
            <a:endParaRPr dirty="0" sz="1500" lang="en-US"/>
          </a:p>
        </p:txBody>
      </p:sp>
      <p:sp>
        <p:nvSpPr>
          <p:cNvPr id="1048641" name="icon-circle"/>
          <p:cNvSpPr/>
          <p:nvPr/>
        </p:nvSpPr>
        <p:spPr>
          <a:xfrm>
            <a:off x="5120640" y="1554480"/>
            <a:ext cx="685800" cy="685800"/>
          </a:xfrm>
          <a:prstGeom prst="ellipse"/>
          <a:solidFill>
            <a:srgbClr val="12A19A"/>
          </a:solidFill>
          <a:ln w="12700">
            <a:solidFill>
              <a:srgbClr val="12A19A"/>
            </a:solidFill>
            <a:prstDash val="solid"/>
          </a:ln>
        </p:spPr>
      </p:sp>
      <p:pic>
        <p:nvPicPr>
          <p:cNvPr id="2097163" name="Image 1" descr="Comments icon"/>
          <p:cNvPicPr>
            <a:picLocks noChangeAspect="1"/>
          </p:cNvPicPr>
          <p:nvPr/>
        </p:nvPicPr>
        <p:blipFill>
          <a:blip xmlns:r="http://schemas.openxmlformats.org/officeDocument/2006/relationships" r:embed="rId2"/>
          <a:stretch>
            <a:fillRect/>
          </a:stretch>
        </p:blipFill>
        <p:spPr>
          <a:xfrm>
            <a:off x="5292090" y="1725930"/>
            <a:ext cx="342900" cy="342900"/>
          </a:xfrm>
          <a:prstGeom prst="rect"/>
        </p:spPr>
      </p:pic>
      <p:sp>
        <p:nvSpPr>
          <p:cNvPr id="1048642" name="Text 6"/>
          <p:cNvSpPr txBox="1"/>
          <p:nvPr/>
        </p:nvSpPr>
        <p:spPr>
          <a:xfrm>
            <a:off x="6035040" y="1463040"/>
            <a:ext cx="5486400" cy="365760"/>
          </a:xfrm>
          <a:prstGeom prst="rect"/>
          <a:noFill/>
        </p:spPr>
        <p:txBody>
          <a:bodyPr anchor="ctr"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AI HR assistant</a:t>
            </a:r>
            <a:endParaRPr dirty="0" sz="1800" lang="en-US"/>
          </a:p>
        </p:txBody>
      </p:sp>
      <p:sp>
        <p:nvSpPr>
          <p:cNvPr id="1048643" name="Text 7"/>
          <p:cNvSpPr txBox="1"/>
          <p:nvPr/>
        </p:nvSpPr>
        <p:spPr>
          <a:xfrm>
            <a:off x="6035040" y="1847088"/>
            <a:ext cx="5577840" cy="73152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Understands natural-language queries and gives context-aware answers on policies, leave, benefits and onboarding.</a:t>
            </a:r>
            <a:endParaRPr dirty="0" sz="1400" lang="en-US"/>
          </a:p>
        </p:txBody>
      </p:sp>
      <p:sp>
        <p:nvSpPr>
          <p:cNvPr id="1048644" name="icon-circle"/>
          <p:cNvSpPr/>
          <p:nvPr/>
        </p:nvSpPr>
        <p:spPr>
          <a:xfrm>
            <a:off x="5120640" y="2761488"/>
            <a:ext cx="685800" cy="685800"/>
          </a:xfrm>
          <a:prstGeom prst="ellipse"/>
          <a:solidFill>
            <a:srgbClr val="F26B50"/>
          </a:solidFill>
          <a:ln w="12700">
            <a:solidFill>
              <a:srgbClr val="F26B50"/>
            </a:solidFill>
            <a:prstDash val="solid"/>
          </a:ln>
        </p:spPr>
      </p:sp>
      <p:pic>
        <p:nvPicPr>
          <p:cNvPr id="2097164" name="Image 2" descr="Smile icon"/>
          <p:cNvPicPr>
            <a:picLocks noChangeAspect="1"/>
          </p:cNvPicPr>
          <p:nvPr/>
        </p:nvPicPr>
        <p:blipFill>
          <a:blip xmlns:r="http://schemas.openxmlformats.org/officeDocument/2006/relationships" r:embed="rId3"/>
          <a:stretch>
            <a:fillRect/>
          </a:stretch>
        </p:blipFill>
        <p:spPr>
          <a:xfrm>
            <a:off x="5292090" y="2932938"/>
            <a:ext cx="342900" cy="342900"/>
          </a:xfrm>
          <a:prstGeom prst="rect"/>
        </p:spPr>
      </p:pic>
      <p:sp>
        <p:nvSpPr>
          <p:cNvPr id="1048645" name="Text 9"/>
          <p:cNvSpPr txBox="1"/>
          <p:nvPr/>
        </p:nvSpPr>
        <p:spPr>
          <a:xfrm>
            <a:off x="6035040" y="2670048"/>
            <a:ext cx="5486400" cy="365760"/>
          </a:xfrm>
          <a:prstGeom prst="rect"/>
          <a:noFill/>
        </p:spPr>
        <p:txBody>
          <a:bodyPr anchor="ctr"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Feedback &amp; sentiment</a:t>
            </a:r>
            <a:endParaRPr dirty="0" sz="1800" lang="en-US"/>
          </a:p>
        </p:txBody>
      </p:sp>
      <p:sp>
        <p:nvSpPr>
          <p:cNvPr id="1048646" name="Text 10"/>
          <p:cNvSpPr txBox="1"/>
          <p:nvPr/>
        </p:nvSpPr>
        <p:spPr>
          <a:xfrm>
            <a:off x="6035040" y="3054096"/>
            <a:ext cx="5577840" cy="73152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Employees share feedback; AI classifies sentiment as positive, neutral or negative and flags recurring concerns.</a:t>
            </a:r>
            <a:endParaRPr dirty="0" sz="1400" lang="en-US"/>
          </a:p>
        </p:txBody>
      </p:sp>
      <p:sp>
        <p:nvSpPr>
          <p:cNvPr id="1048647" name="icon-circle"/>
          <p:cNvSpPr/>
          <p:nvPr/>
        </p:nvSpPr>
        <p:spPr>
          <a:xfrm>
            <a:off x="5120640" y="3968496"/>
            <a:ext cx="685800" cy="685800"/>
          </a:xfrm>
          <a:prstGeom prst="ellipse"/>
          <a:solidFill>
            <a:srgbClr val="12A19A"/>
          </a:solidFill>
          <a:ln w="12700">
            <a:solidFill>
              <a:srgbClr val="12A19A"/>
            </a:solidFill>
            <a:prstDash val="solid"/>
          </a:ln>
        </p:spPr>
      </p:sp>
      <p:pic>
        <p:nvPicPr>
          <p:cNvPr id="2097165" name="Image 3" descr="ChartLine icon"/>
          <p:cNvPicPr>
            <a:picLocks noChangeAspect="1"/>
          </p:cNvPicPr>
          <p:nvPr/>
        </p:nvPicPr>
        <p:blipFill>
          <a:blip xmlns:r="http://schemas.openxmlformats.org/officeDocument/2006/relationships" r:embed="rId4"/>
          <a:stretch>
            <a:fillRect/>
          </a:stretch>
        </p:blipFill>
        <p:spPr>
          <a:xfrm>
            <a:off x="5292090" y="4139946"/>
            <a:ext cx="342900" cy="342900"/>
          </a:xfrm>
          <a:prstGeom prst="rect"/>
        </p:spPr>
      </p:pic>
      <p:sp>
        <p:nvSpPr>
          <p:cNvPr id="1048648" name="Text 12"/>
          <p:cNvSpPr txBox="1"/>
          <p:nvPr/>
        </p:nvSpPr>
        <p:spPr>
          <a:xfrm>
            <a:off x="6035040" y="3877056"/>
            <a:ext cx="5486400" cy="365760"/>
          </a:xfrm>
          <a:prstGeom prst="rect"/>
          <a:noFill/>
        </p:spPr>
        <p:txBody>
          <a:bodyPr anchor="ctr"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Dashboards &amp; reports</a:t>
            </a:r>
            <a:endParaRPr dirty="0" sz="1800" lang="en-US"/>
          </a:p>
        </p:txBody>
      </p:sp>
      <p:sp>
        <p:nvSpPr>
          <p:cNvPr id="1048649" name="Text 13"/>
          <p:cNvSpPr txBox="1"/>
          <p:nvPr/>
        </p:nvSpPr>
        <p:spPr>
          <a:xfrm>
            <a:off x="6035040" y="4261104"/>
            <a:ext cx="5577840" cy="73152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Engagement trends and AI-generated insights help HR take informed action.</a:t>
            </a:r>
            <a:endParaRPr dirty="0" sz="1400" lang="en-US"/>
          </a:p>
        </p:txBody>
      </p:sp>
      <p:sp>
        <p:nvSpPr>
          <p:cNvPr id="1048650" name="icon-circle"/>
          <p:cNvSpPr/>
          <p:nvPr/>
        </p:nvSpPr>
        <p:spPr>
          <a:xfrm>
            <a:off x="5120640" y="5175504"/>
            <a:ext cx="685800" cy="685800"/>
          </a:xfrm>
          <a:prstGeom prst="ellipse"/>
          <a:solidFill>
            <a:srgbClr val="F26B50"/>
          </a:solidFill>
          <a:ln w="12700">
            <a:solidFill>
              <a:srgbClr val="F26B50"/>
            </a:solidFill>
            <a:prstDash val="solid"/>
          </a:ln>
        </p:spPr>
      </p:sp>
      <p:pic>
        <p:nvPicPr>
          <p:cNvPr id="2097166" name="Image 4" descr="LayerGroup icon"/>
          <p:cNvPicPr>
            <a:picLocks noChangeAspect="1"/>
          </p:cNvPicPr>
          <p:nvPr/>
        </p:nvPicPr>
        <p:blipFill>
          <a:blip xmlns:r="http://schemas.openxmlformats.org/officeDocument/2006/relationships" r:embed="rId5"/>
          <a:stretch>
            <a:fillRect/>
          </a:stretch>
        </p:blipFill>
        <p:spPr>
          <a:xfrm>
            <a:off x="5292090" y="5346954"/>
            <a:ext cx="342900" cy="342900"/>
          </a:xfrm>
          <a:prstGeom prst="rect"/>
        </p:spPr>
      </p:pic>
      <p:sp>
        <p:nvSpPr>
          <p:cNvPr id="1048651" name="Text 15"/>
          <p:cNvSpPr txBox="1"/>
          <p:nvPr/>
        </p:nvSpPr>
        <p:spPr>
          <a:xfrm>
            <a:off x="6035040" y="5084064"/>
            <a:ext cx="5486400" cy="365760"/>
          </a:xfrm>
          <a:prstGeom prst="rect"/>
          <a:noFill/>
        </p:spPr>
        <p:txBody>
          <a:bodyPr anchor="ctr" bIns="0" lIns="0" rIns="0" rtlCol="0" tIns="0" wrap="square"/>
          <a:p>
            <a:pPr indent="0" marL="0">
              <a:buNone/>
            </a:pPr>
            <a:r>
              <a:rPr b="1" dirty="0" sz="1800" lang="en-US">
                <a:solidFill>
                  <a:srgbClr val="14213D"/>
                </a:solidFill>
                <a:latin typeface="Calibri" pitchFamily="34" charset="0"/>
                <a:ea typeface="Calibri" pitchFamily="34" charset="-122"/>
                <a:cs typeface="Calibri" pitchFamily="34" charset="-120"/>
              </a:rPr>
              <a:t>Unified platform</a:t>
            </a:r>
            <a:endParaRPr dirty="0" sz="1800" lang="en-US"/>
          </a:p>
        </p:txBody>
      </p:sp>
      <p:sp>
        <p:nvSpPr>
          <p:cNvPr id="1048652" name="Text 16"/>
          <p:cNvSpPr txBox="1"/>
          <p:nvPr/>
        </p:nvSpPr>
        <p:spPr>
          <a:xfrm>
            <a:off x="6035040" y="5468112"/>
            <a:ext cx="5577840" cy="73152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Employee management, knowledge base, surveys, notifications and analytics in one place.</a:t>
            </a:r>
            <a:endParaRPr dirty="0" sz="1400" lang="en-US"/>
          </a:p>
        </p:txBody>
      </p:sp>
      <p:sp>
        <p:nvSpPr>
          <p:cNvPr id="1048653"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28" name=""/>
        <p:cNvGrpSpPr/>
        <p:nvPr/>
      </p:nvGrpSpPr>
      <p:grpSpPr>
        <a:xfrm>
          <a:off x="0" y="0"/>
          <a:ext cx="0" cy="0"/>
          <a:chOff x="0" y="0"/>
          <a:chExt cx="0" cy="0"/>
        </a:xfrm>
      </p:grpSpPr>
      <p:sp>
        <p:nvSpPr>
          <p:cNvPr id="1048657"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Introduction</a:t>
            </a:r>
            <a:endParaRPr dirty="0" sz="3400" lang="en-US"/>
          </a:p>
        </p:txBody>
      </p:sp>
      <p:sp>
        <p:nvSpPr>
          <p:cNvPr id="1048658" name="Text 1"/>
          <p:cNvSpPr txBox="1"/>
          <p:nvPr/>
        </p:nvSpPr>
        <p:spPr>
          <a:xfrm>
            <a:off x="548640" y="1463040"/>
            <a:ext cx="11064240" cy="1188720"/>
          </a:xfrm>
          <a:prstGeom prst="rect"/>
          <a:noFill/>
        </p:spPr>
        <p:txBody>
          <a:bodyPr anchor="t" bIns="0" lIns="0" rIns="0" rtlCol="0" tIns="0" wrap="square"/>
          <a:p>
            <a:pPr indent="0" marL="0">
              <a:buNone/>
            </a:pPr>
            <a:r>
              <a:rPr dirty="0" sz="1800" lang="en-US">
                <a:solidFill>
                  <a:srgbClr val="1F2937"/>
                </a:solidFill>
                <a:latin typeface="Calibri" pitchFamily="34" charset="0"/>
                <a:ea typeface="Calibri" pitchFamily="34" charset="-122"/>
                <a:cs typeface="Calibri" pitchFamily="34" charset="-120"/>
              </a:rPr>
              <a:t>Employee engagement and HR support in many organizations still depend on emails, calls, static intranets and manual replies. HRCompanion applies Generative AI and Natural Language Processing to make HR services instant, consistent and personalized.</a:t>
            </a:r>
            <a:endParaRPr dirty="0" sz="1800" lang="en-US"/>
          </a:p>
        </p:txBody>
      </p:sp>
      <p:sp>
        <p:nvSpPr>
          <p:cNvPr id="1048659" name="card"/>
          <p:cNvSpPr/>
          <p:nvPr/>
        </p:nvSpPr>
        <p:spPr>
          <a:xfrm>
            <a:off x="548640" y="2926080"/>
            <a:ext cx="3566160" cy="3200400"/>
          </a:xfrm>
          <a:prstGeom prst="roundRect">
            <a:avLst>
              <a:gd name="adj" fmla="val 3429"/>
            </a:avLst>
          </a:prstGeom>
          <a:solidFill>
            <a:srgbClr val="F5F7FA"/>
          </a:solidFill>
          <a:ln w="12700">
            <a:solidFill>
              <a:srgbClr val="F5F7FA"/>
            </a:solidFill>
            <a:prstDash val="solid"/>
          </a:ln>
        </p:spPr>
      </p:sp>
      <p:sp>
        <p:nvSpPr>
          <p:cNvPr id="1048660" name="icon-circle"/>
          <p:cNvSpPr/>
          <p:nvPr/>
        </p:nvSpPr>
        <p:spPr>
          <a:xfrm>
            <a:off x="822960" y="3200400"/>
            <a:ext cx="777240" cy="777240"/>
          </a:xfrm>
          <a:prstGeom prst="ellipse"/>
          <a:solidFill>
            <a:srgbClr val="F26B50"/>
          </a:solidFill>
          <a:ln w="12700">
            <a:solidFill>
              <a:srgbClr val="F26B50"/>
            </a:solidFill>
            <a:prstDash val="solid"/>
          </a:ln>
        </p:spPr>
      </p:sp>
      <p:pic>
        <p:nvPicPr>
          <p:cNvPr id="2097167" name="Image 0" descr="Clock icon"/>
          <p:cNvPicPr>
            <a:picLocks noChangeAspect="1"/>
          </p:cNvPicPr>
          <p:nvPr/>
        </p:nvPicPr>
        <p:blipFill>
          <a:blip xmlns:r="http://schemas.openxmlformats.org/officeDocument/2006/relationships" r:embed="rId1"/>
          <a:stretch>
            <a:fillRect/>
          </a:stretch>
        </p:blipFill>
        <p:spPr>
          <a:xfrm>
            <a:off x="1017270" y="3394710"/>
            <a:ext cx="388620" cy="388620"/>
          </a:xfrm>
          <a:prstGeom prst="rect"/>
        </p:spPr>
      </p:pic>
      <p:sp>
        <p:nvSpPr>
          <p:cNvPr id="1048661" name="Text 4"/>
          <p:cNvSpPr txBox="1"/>
          <p:nvPr/>
        </p:nvSpPr>
        <p:spPr>
          <a:xfrm>
            <a:off x="822960" y="4160520"/>
            <a:ext cx="3017520" cy="411480"/>
          </a:xfrm>
          <a:prstGeom prst="rect"/>
          <a:noFill/>
        </p:spPr>
        <p:txBody>
          <a:bodyPr anchor="ctr" bIns="0" lIns="0" rIns="0" rtlCol="0" tIns="0" wrap="square"/>
          <a:p>
            <a:pPr indent="0" marL="0">
              <a:buNone/>
            </a:pPr>
            <a:r>
              <a:rPr b="1" dirty="0" sz="2000" lang="en-US">
                <a:solidFill>
                  <a:srgbClr val="14213D"/>
                </a:solidFill>
                <a:latin typeface="Calibri" pitchFamily="34" charset="0"/>
                <a:ea typeface="Calibri" pitchFamily="34" charset="-122"/>
                <a:cs typeface="Calibri" pitchFamily="34" charset="-120"/>
              </a:rPr>
              <a:t>The Need</a:t>
            </a:r>
            <a:endParaRPr dirty="0" sz="2000" lang="en-US"/>
          </a:p>
        </p:txBody>
      </p:sp>
      <p:sp>
        <p:nvSpPr>
          <p:cNvPr id="1048662" name="Text 5"/>
          <p:cNvSpPr txBox="1"/>
          <p:nvPr/>
        </p:nvSpPr>
        <p:spPr>
          <a:xfrm>
            <a:off x="822960" y="4617720"/>
            <a:ext cx="3017520" cy="1371600"/>
          </a:xfrm>
          <a:prstGeom prst="rect"/>
          <a:noFill/>
        </p:spPr>
        <p:txBody>
          <a:bodyPr anchor="t"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Routine HR questions on leave, benefits and policies consume HR time and make employees wait.</a:t>
            </a:r>
            <a:endParaRPr dirty="0" sz="1500" lang="en-US"/>
          </a:p>
        </p:txBody>
      </p:sp>
      <p:sp>
        <p:nvSpPr>
          <p:cNvPr id="1048663" name="card"/>
          <p:cNvSpPr/>
          <p:nvPr/>
        </p:nvSpPr>
        <p:spPr>
          <a:xfrm>
            <a:off x="4297680" y="2926080"/>
            <a:ext cx="3566160" cy="3200400"/>
          </a:xfrm>
          <a:prstGeom prst="roundRect">
            <a:avLst>
              <a:gd name="adj" fmla="val 3429"/>
            </a:avLst>
          </a:prstGeom>
          <a:solidFill>
            <a:srgbClr val="F5F7FA"/>
          </a:solidFill>
          <a:ln w="12700">
            <a:solidFill>
              <a:srgbClr val="F5F7FA"/>
            </a:solidFill>
            <a:prstDash val="solid"/>
          </a:ln>
        </p:spPr>
      </p:sp>
      <p:sp>
        <p:nvSpPr>
          <p:cNvPr id="1048664" name="icon-circle"/>
          <p:cNvSpPr/>
          <p:nvPr/>
        </p:nvSpPr>
        <p:spPr>
          <a:xfrm>
            <a:off x="4572000" y="3200400"/>
            <a:ext cx="777240" cy="777240"/>
          </a:xfrm>
          <a:prstGeom prst="ellipse"/>
          <a:solidFill>
            <a:srgbClr val="12A19A"/>
          </a:solidFill>
          <a:ln w="12700">
            <a:solidFill>
              <a:srgbClr val="12A19A"/>
            </a:solidFill>
            <a:prstDash val="solid"/>
          </a:ln>
        </p:spPr>
      </p:sp>
      <p:pic>
        <p:nvPicPr>
          <p:cNvPr id="2097168" name="Image 1" descr="Lightbulb icon"/>
          <p:cNvPicPr>
            <a:picLocks noChangeAspect="1"/>
          </p:cNvPicPr>
          <p:nvPr/>
        </p:nvPicPr>
        <p:blipFill>
          <a:blip xmlns:r="http://schemas.openxmlformats.org/officeDocument/2006/relationships" r:embed="rId2"/>
          <a:stretch>
            <a:fillRect/>
          </a:stretch>
        </p:blipFill>
        <p:spPr>
          <a:xfrm>
            <a:off x="4766310" y="3394710"/>
            <a:ext cx="388620" cy="388620"/>
          </a:xfrm>
          <a:prstGeom prst="rect"/>
        </p:spPr>
      </p:pic>
      <p:sp>
        <p:nvSpPr>
          <p:cNvPr id="1048665" name="Text 8"/>
          <p:cNvSpPr txBox="1"/>
          <p:nvPr/>
        </p:nvSpPr>
        <p:spPr>
          <a:xfrm>
            <a:off x="4572000" y="4160520"/>
            <a:ext cx="3017520" cy="411480"/>
          </a:xfrm>
          <a:prstGeom prst="rect"/>
          <a:noFill/>
        </p:spPr>
        <p:txBody>
          <a:bodyPr anchor="ctr" bIns="0" lIns="0" rIns="0" rtlCol="0" tIns="0" wrap="square"/>
          <a:p>
            <a:pPr indent="0" marL="0">
              <a:buNone/>
            </a:pPr>
            <a:r>
              <a:rPr b="1" dirty="0" sz="2000" lang="en-US">
                <a:solidFill>
                  <a:srgbClr val="14213D"/>
                </a:solidFill>
                <a:latin typeface="Calibri" pitchFamily="34" charset="0"/>
                <a:ea typeface="Calibri" pitchFamily="34" charset="-122"/>
                <a:cs typeface="Calibri" pitchFamily="34" charset="-120"/>
              </a:rPr>
              <a:t>The Idea</a:t>
            </a:r>
            <a:endParaRPr dirty="0" sz="2000" lang="en-US"/>
          </a:p>
        </p:txBody>
      </p:sp>
      <p:sp>
        <p:nvSpPr>
          <p:cNvPr id="1048666" name="Text 9"/>
          <p:cNvSpPr txBox="1"/>
          <p:nvPr/>
        </p:nvSpPr>
        <p:spPr>
          <a:xfrm>
            <a:off x="4572000" y="4617720"/>
            <a:ext cx="3017520" cy="1371600"/>
          </a:xfrm>
          <a:prstGeom prst="rect"/>
          <a:noFill/>
        </p:spPr>
        <p:txBody>
          <a:bodyPr anchor="t"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A conversational AI HR companion grounded in the organization's own policies and handbooks.</a:t>
            </a:r>
            <a:endParaRPr dirty="0" sz="1500" lang="en-US"/>
          </a:p>
        </p:txBody>
      </p:sp>
      <p:sp>
        <p:nvSpPr>
          <p:cNvPr id="1048667" name="card"/>
          <p:cNvSpPr/>
          <p:nvPr/>
        </p:nvSpPr>
        <p:spPr>
          <a:xfrm>
            <a:off x="8046720" y="2926080"/>
            <a:ext cx="3566160" cy="3200400"/>
          </a:xfrm>
          <a:prstGeom prst="roundRect">
            <a:avLst>
              <a:gd name="adj" fmla="val 3429"/>
            </a:avLst>
          </a:prstGeom>
          <a:solidFill>
            <a:srgbClr val="F5F7FA"/>
          </a:solidFill>
          <a:ln w="12700">
            <a:solidFill>
              <a:srgbClr val="F5F7FA"/>
            </a:solidFill>
            <a:prstDash val="solid"/>
          </a:ln>
        </p:spPr>
      </p:sp>
      <p:sp>
        <p:nvSpPr>
          <p:cNvPr id="1048668" name="icon-circle"/>
          <p:cNvSpPr/>
          <p:nvPr/>
        </p:nvSpPr>
        <p:spPr>
          <a:xfrm>
            <a:off x="8321040" y="3200400"/>
            <a:ext cx="777240" cy="777240"/>
          </a:xfrm>
          <a:prstGeom prst="ellipse"/>
          <a:solidFill>
            <a:srgbClr val="14213D"/>
          </a:solidFill>
          <a:ln w="12700">
            <a:solidFill>
              <a:srgbClr val="14213D"/>
            </a:solidFill>
            <a:prstDash val="solid"/>
          </a:ln>
        </p:spPr>
      </p:sp>
      <p:pic>
        <p:nvPicPr>
          <p:cNvPr id="2097169" name="Image 2" descr="Users icon"/>
          <p:cNvPicPr>
            <a:picLocks noChangeAspect="1"/>
          </p:cNvPicPr>
          <p:nvPr/>
        </p:nvPicPr>
        <p:blipFill>
          <a:blip xmlns:r="http://schemas.openxmlformats.org/officeDocument/2006/relationships" r:embed="rId3"/>
          <a:stretch>
            <a:fillRect/>
          </a:stretch>
        </p:blipFill>
        <p:spPr>
          <a:xfrm>
            <a:off x="8515350" y="3394710"/>
            <a:ext cx="388620" cy="388620"/>
          </a:xfrm>
          <a:prstGeom prst="rect"/>
        </p:spPr>
      </p:pic>
      <p:sp>
        <p:nvSpPr>
          <p:cNvPr id="1048669" name="Text 12"/>
          <p:cNvSpPr txBox="1"/>
          <p:nvPr/>
        </p:nvSpPr>
        <p:spPr>
          <a:xfrm>
            <a:off x="8321040" y="4160520"/>
            <a:ext cx="3017520" cy="411480"/>
          </a:xfrm>
          <a:prstGeom prst="rect"/>
          <a:noFill/>
        </p:spPr>
        <p:txBody>
          <a:bodyPr anchor="ctr" bIns="0" lIns="0" rIns="0" rtlCol="0" tIns="0" wrap="square"/>
          <a:p>
            <a:pPr indent="0" marL="0">
              <a:buNone/>
            </a:pPr>
            <a:r>
              <a:rPr b="1" dirty="0" sz="2000" lang="en-US">
                <a:solidFill>
                  <a:srgbClr val="14213D"/>
                </a:solidFill>
                <a:latin typeface="Calibri" pitchFamily="34" charset="0"/>
                <a:ea typeface="Calibri" pitchFamily="34" charset="-122"/>
                <a:cs typeface="Calibri" pitchFamily="34" charset="-120"/>
              </a:rPr>
              <a:t>The Impact</a:t>
            </a:r>
            <a:endParaRPr dirty="0" sz="2000" lang="en-US"/>
          </a:p>
        </p:txBody>
      </p:sp>
      <p:sp>
        <p:nvSpPr>
          <p:cNvPr id="1048670" name="Text 13"/>
          <p:cNvSpPr txBox="1"/>
          <p:nvPr/>
        </p:nvSpPr>
        <p:spPr>
          <a:xfrm>
            <a:off x="8321040" y="4617720"/>
            <a:ext cx="3017520" cy="1371600"/>
          </a:xfrm>
          <a:prstGeom prst="rect"/>
          <a:noFill/>
        </p:spPr>
        <p:txBody>
          <a:bodyPr anchor="t"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Faster support for employees, data-driven engagement insights for HR, and a more connected workplace.</a:t>
            </a:r>
            <a:endParaRPr dirty="0" sz="1500" lang="en-US"/>
          </a:p>
        </p:txBody>
      </p:sp>
      <p:sp>
        <p:nvSpPr>
          <p:cNvPr id="1048671"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31" name=""/>
        <p:cNvGrpSpPr/>
        <p:nvPr/>
      </p:nvGrpSpPr>
      <p:grpSpPr>
        <a:xfrm>
          <a:off x="0" y="0"/>
          <a:ext cx="0" cy="0"/>
          <a:chOff x="0" y="0"/>
          <a:chExt cx="0" cy="0"/>
        </a:xfrm>
      </p:grpSpPr>
      <p:sp>
        <p:nvSpPr>
          <p:cNvPr id="1048675"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Overview</a:t>
            </a:r>
            <a:endParaRPr dirty="0" sz="3400" lang="en-US"/>
          </a:p>
        </p:txBody>
      </p:sp>
      <p:sp>
        <p:nvSpPr>
          <p:cNvPr id="1048676" name="card"/>
          <p:cNvSpPr/>
          <p:nvPr/>
        </p:nvSpPr>
        <p:spPr>
          <a:xfrm>
            <a:off x="548640" y="1463040"/>
            <a:ext cx="2606040" cy="1737360"/>
          </a:xfrm>
          <a:prstGeom prst="roundRect">
            <a:avLst>
              <a:gd name="adj" fmla="val 6316"/>
            </a:avLst>
          </a:prstGeom>
          <a:solidFill>
            <a:srgbClr val="FDEEEA"/>
          </a:solidFill>
          <a:ln w="12700">
            <a:solidFill>
              <a:srgbClr val="FDEEEA"/>
            </a:solidFill>
            <a:prstDash val="solid"/>
          </a:ln>
        </p:spPr>
      </p:sp>
      <p:sp>
        <p:nvSpPr>
          <p:cNvPr id="1048677" name="Text 2"/>
          <p:cNvSpPr txBox="1"/>
          <p:nvPr/>
        </p:nvSpPr>
        <p:spPr>
          <a:xfrm>
            <a:off x="548640" y="1554480"/>
            <a:ext cx="2606040" cy="1005840"/>
          </a:xfrm>
          <a:prstGeom prst="rect"/>
          <a:noFill/>
        </p:spPr>
        <p:txBody>
          <a:bodyPr anchor="ctr" bIns="0" lIns="0" rIns="0" rtlCol="0" tIns="0" wrap="square"/>
          <a:p>
            <a:pPr algn="ctr" indent="0" marL="0">
              <a:buNone/>
            </a:pPr>
            <a:r>
              <a:rPr b="1" dirty="0" sz="6000" lang="en-US">
                <a:solidFill>
                  <a:srgbClr val="F26B50"/>
                </a:solidFill>
                <a:latin typeface="Cambria" pitchFamily="34" charset="0"/>
                <a:ea typeface="Cambria" pitchFamily="34" charset="-122"/>
                <a:cs typeface="Cambria" pitchFamily="34" charset="-120"/>
              </a:rPr>
              <a:t>14</a:t>
            </a:r>
            <a:endParaRPr dirty="0" sz="6000" lang="en-US"/>
          </a:p>
        </p:txBody>
      </p:sp>
      <p:sp>
        <p:nvSpPr>
          <p:cNvPr id="1048678" name="Text 3"/>
          <p:cNvSpPr txBox="1"/>
          <p:nvPr/>
        </p:nvSpPr>
        <p:spPr>
          <a:xfrm>
            <a:off x="731520" y="2560320"/>
            <a:ext cx="2240280" cy="548640"/>
          </a:xfrm>
          <a:prstGeom prst="rect"/>
          <a:noFill/>
        </p:spPr>
        <p:txBody>
          <a:bodyPr anchor="t" bIns="0" lIns="0" rIns="0" rtlCol="0" tIns="0" wrap="square"/>
          <a:p>
            <a:pPr algn="ctr" indent="0" marL="0">
              <a:buNone/>
            </a:pPr>
            <a:r>
              <a:rPr dirty="0" sz="1400" lang="en-US">
                <a:solidFill>
                  <a:srgbClr val="1F2937"/>
                </a:solidFill>
                <a:latin typeface="Calibri" pitchFamily="34" charset="0"/>
                <a:ea typeface="Calibri" pitchFamily="34" charset="-122"/>
                <a:cs typeface="Calibri" pitchFamily="34" charset="-120"/>
              </a:rPr>
              <a:t>Functional modules</a:t>
            </a:r>
            <a:endParaRPr dirty="0" sz="1400" lang="en-US"/>
          </a:p>
        </p:txBody>
      </p:sp>
      <p:sp>
        <p:nvSpPr>
          <p:cNvPr id="1048679" name="card"/>
          <p:cNvSpPr/>
          <p:nvPr/>
        </p:nvSpPr>
        <p:spPr>
          <a:xfrm>
            <a:off x="3337560" y="1463040"/>
            <a:ext cx="2606040" cy="1737360"/>
          </a:xfrm>
          <a:prstGeom prst="roundRect">
            <a:avLst>
              <a:gd name="adj" fmla="val 6316"/>
            </a:avLst>
          </a:prstGeom>
          <a:solidFill>
            <a:srgbClr val="EAF6F5"/>
          </a:solidFill>
          <a:ln w="12700">
            <a:solidFill>
              <a:srgbClr val="EAF6F5"/>
            </a:solidFill>
            <a:prstDash val="solid"/>
          </a:ln>
        </p:spPr>
      </p:sp>
      <p:sp>
        <p:nvSpPr>
          <p:cNvPr id="1048680" name="Text 5"/>
          <p:cNvSpPr txBox="1"/>
          <p:nvPr/>
        </p:nvSpPr>
        <p:spPr>
          <a:xfrm>
            <a:off x="3337560" y="1554480"/>
            <a:ext cx="2606040" cy="1005840"/>
          </a:xfrm>
          <a:prstGeom prst="rect"/>
          <a:noFill/>
        </p:spPr>
        <p:txBody>
          <a:bodyPr anchor="ctr" bIns="0" lIns="0" rIns="0" rtlCol="0" tIns="0" wrap="square"/>
          <a:p>
            <a:pPr algn="ctr" indent="0" marL="0">
              <a:buNone/>
            </a:pPr>
            <a:r>
              <a:rPr b="1" dirty="0" sz="6000" lang="en-US">
                <a:solidFill>
                  <a:srgbClr val="12A19A"/>
                </a:solidFill>
                <a:latin typeface="Cambria" pitchFamily="34" charset="0"/>
                <a:ea typeface="Cambria" pitchFamily="34" charset="-122"/>
                <a:cs typeface="Cambria" pitchFamily="34" charset="-120"/>
              </a:rPr>
              <a:t>10</a:t>
            </a:r>
            <a:endParaRPr dirty="0" sz="6000" lang="en-US"/>
          </a:p>
        </p:txBody>
      </p:sp>
      <p:sp>
        <p:nvSpPr>
          <p:cNvPr id="1048681" name="Text 6"/>
          <p:cNvSpPr txBox="1"/>
          <p:nvPr/>
        </p:nvSpPr>
        <p:spPr>
          <a:xfrm>
            <a:off x="3520440" y="2560320"/>
            <a:ext cx="2240280" cy="548640"/>
          </a:xfrm>
          <a:prstGeom prst="rect"/>
          <a:noFill/>
        </p:spPr>
        <p:txBody>
          <a:bodyPr anchor="t" bIns="0" lIns="0" rIns="0" rtlCol="0" tIns="0" wrap="square"/>
          <a:p>
            <a:pPr algn="ctr" indent="0" marL="0">
              <a:buNone/>
            </a:pPr>
            <a:r>
              <a:rPr dirty="0" sz="1400" lang="en-US">
                <a:solidFill>
                  <a:srgbClr val="1F2937"/>
                </a:solidFill>
                <a:latin typeface="Calibri" pitchFamily="34" charset="0"/>
                <a:ea typeface="Calibri" pitchFamily="34" charset="-122"/>
                <a:cs typeface="Calibri" pitchFamily="34" charset="-120"/>
              </a:rPr>
              <a:t>Employee panel features</a:t>
            </a:r>
            <a:endParaRPr dirty="0" sz="1400" lang="en-US"/>
          </a:p>
        </p:txBody>
      </p:sp>
      <p:sp>
        <p:nvSpPr>
          <p:cNvPr id="1048682" name="card"/>
          <p:cNvSpPr/>
          <p:nvPr/>
        </p:nvSpPr>
        <p:spPr>
          <a:xfrm>
            <a:off x="6126480" y="1463040"/>
            <a:ext cx="2606040" cy="1737360"/>
          </a:xfrm>
          <a:prstGeom prst="roundRect">
            <a:avLst>
              <a:gd name="adj" fmla="val 6316"/>
            </a:avLst>
          </a:prstGeom>
          <a:solidFill>
            <a:srgbClr val="FDEEEA"/>
          </a:solidFill>
          <a:ln w="12700">
            <a:solidFill>
              <a:srgbClr val="FDEEEA"/>
            </a:solidFill>
            <a:prstDash val="solid"/>
          </a:ln>
        </p:spPr>
      </p:sp>
      <p:sp>
        <p:nvSpPr>
          <p:cNvPr id="1048683" name="Text 8"/>
          <p:cNvSpPr txBox="1"/>
          <p:nvPr/>
        </p:nvSpPr>
        <p:spPr>
          <a:xfrm>
            <a:off x="6126480" y="1554480"/>
            <a:ext cx="2606040" cy="1005840"/>
          </a:xfrm>
          <a:prstGeom prst="rect"/>
          <a:noFill/>
        </p:spPr>
        <p:txBody>
          <a:bodyPr anchor="ctr" bIns="0" lIns="0" rIns="0" rtlCol="0" tIns="0" wrap="square"/>
          <a:p>
            <a:pPr algn="ctr" indent="0" marL="0">
              <a:buNone/>
            </a:pPr>
            <a:r>
              <a:rPr b="1" dirty="0" sz="6000" lang="en-US">
                <a:solidFill>
                  <a:srgbClr val="F26B50"/>
                </a:solidFill>
                <a:latin typeface="Cambria" pitchFamily="34" charset="0"/>
                <a:ea typeface="Cambria" pitchFamily="34" charset="-122"/>
                <a:cs typeface="Cambria" pitchFamily="34" charset="-120"/>
              </a:rPr>
              <a:t>4</a:t>
            </a:r>
            <a:endParaRPr dirty="0" sz="6000" lang="en-US"/>
          </a:p>
        </p:txBody>
      </p:sp>
      <p:sp>
        <p:nvSpPr>
          <p:cNvPr id="1048684" name="Text 9"/>
          <p:cNvSpPr txBox="1"/>
          <p:nvPr/>
        </p:nvSpPr>
        <p:spPr>
          <a:xfrm>
            <a:off x="6309360" y="2560320"/>
            <a:ext cx="2240280" cy="548640"/>
          </a:xfrm>
          <a:prstGeom prst="rect"/>
          <a:noFill/>
        </p:spPr>
        <p:txBody>
          <a:bodyPr anchor="t" bIns="0" lIns="0" rIns="0" rtlCol="0" tIns="0" wrap="square"/>
          <a:p>
            <a:pPr algn="ctr" indent="0" marL="0">
              <a:buNone/>
            </a:pPr>
            <a:r>
              <a:rPr dirty="0" sz="1400" lang="en-US">
                <a:solidFill>
                  <a:srgbClr val="1F2937"/>
                </a:solidFill>
                <a:latin typeface="Calibri" pitchFamily="34" charset="0"/>
                <a:ea typeface="Calibri" pitchFamily="34" charset="-122"/>
                <a:cs typeface="Calibri" pitchFamily="34" charset="-120"/>
              </a:rPr>
              <a:t>Core system layers</a:t>
            </a:r>
            <a:endParaRPr dirty="0" sz="1400" lang="en-US"/>
          </a:p>
        </p:txBody>
      </p:sp>
      <p:sp>
        <p:nvSpPr>
          <p:cNvPr id="1048685" name="card"/>
          <p:cNvSpPr/>
          <p:nvPr/>
        </p:nvSpPr>
        <p:spPr>
          <a:xfrm>
            <a:off x="8915400" y="1463040"/>
            <a:ext cx="2606040" cy="1737360"/>
          </a:xfrm>
          <a:prstGeom prst="roundRect">
            <a:avLst>
              <a:gd name="adj" fmla="val 6316"/>
            </a:avLst>
          </a:prstGeom>
          <a:solidFill>
            <a:srgbClr val="EAF6F5"/>
          </a:solidFill>
          <a:ln w="12700">
            <a:solidFill>
              <a:srgbClr val="EAF6F5"/>
            </a:solidFill>
            <a:prstDash val="solid"/>
          </a:ln>
        </p:spPr>
      </p:sp>
      <p:sp>
        <p:nvSpPr>
          <p:cNvPr id="1048686" name="Text 11"/>
          <p:cNvSpPr txBox="1"/>
          <p:nvPr/>
        </p:nvSpPr>
        <p:spPr>
          <a:xfrm>
            <a:off x="8915400" y="1554480"/>
            <a:ext cx="2606040" cy="1005840"/>
          </a:xfrm>
          <a:prstGeom prst="rect"/>
          <a:noFill/>
        </p:spPr>
        <p:txBody>
          <a:bodyPr anchor="ctr" bIns="0" lIns="0" rIns="0" rtlCol="0" tIns="0" wrap="square"/>
          <a:p>
            <a:pPr algn="ctr" indent="0" marL="0">
              <a:buNone/>
            </a:pPr>
            <a:r>
              <a:rPr b="1" dirty="0" sz="6000" lang="en-US">
                <a:solidFill>
                  <a:srgbClr val="12A19A"/>
                </a:solidFill>
                <a:latin typeface="Cambria" pitchFamily="34" charset="0"/>
                <a:ea typeface="Cambria" pitchFamily="34" charset="-122"/>
                <a:cs typeface="Cambria" pitchFamily="34" charset="-120"/>
              </a:rPr>
              <a:t>3</a:t>
            </a:r>
            <a:endParaRPr dirty="0" sz="6000" lang="en-US"/>
          </a:p>
        </p:txBody>
      </p:sp>
      <p:sp>
        <p:nvSpPr>
          <p:cNvPr id="1048687" name="Text 12"/>
          <p:cNvSpPr txBox="1"/>
          <p:nvPr/>
        </p:nvSpPr>
        <p:spPr>
          <a:xfrm>
            <a:off x="9098280" y="2560320"/>
            <a:ext cx="2240280" cy="548640"/>
          </a:xfrm>
          <a:prstGeom prst="rect"/>
          <a:noFill/>
        </p:spPr>
        <p:txBody>
          <a:bodyPr anchor="t" bIns="0" lIns="0" rIns="0" rtlCol="0" tIns="0" wrap="square"/>
          <a:p>
            <a:pPr algn="ctr" indent="0" marL="0">
              <a:buNone/>
            </a:pPr>
            <a:r>
              <a:rPr dirty="0" sz="1400" lang="en-US">
                <a:solidFill>
                  <a:srgbClr val="1F2937"/>
                </a:solidFill>
                <a:latin typeface="Calibri" pitchFamily="34" charset="0"/>
                <a:ea typeface="Calibri" pitchFamily="34" charset="-122"/>
                <a:cs typeface="Calibri" pitchFamily="34" charset="-120"/>
              </a:rPr>
              <a:t>AI techniques: RAG, NLP, Sentiment</a:t>
            </a:r>
            <a:endParaRPr dirty="0" sz="1400" lang="en-US"/>
          </a:p>
        </p:txBody>
      </p:sp>
      <p:sp>
        <p:nvSpPr>
          <p:cNvPr id="1048688" name="icon-circle"/>
          <p:cNvSpPr/>
          <p:nvPr/>
        </p:nvSpPr>
        <p:spPr>
          <a:xfrm>
            <a:off x="548640" y="3611880"/>
            <a:ext cx="640080" cy="640080"/>
          </a:xfrm>
          <a:prstGeom prst="ellipse"/>
          <a:solidFill>
            <a:srgbClr val="14213D"/>
          </a:solidFill>
          <a:ln w="12700">
            <a:solidFill>
              <a:srgbClr val="14213D"/>
            </a:solidFill>
            <a:prstDash val="solid"/>
          </a:ln>
        </p:spPr>
      </p:sp>
      <p:pic>
        <p:nvPicPr>
          <p:cNvPr id="2097170" name="Image 0" descr="Comments icon"/>
          <p:cNvPicPr>
            <a:picLocks noChangeAspect="1"/>
          </p:cNvPicPr>
          <p:nvPr/>
        </p:nvPicPr>
        <p:blipFill>
          <a:blip xmlns:r="http://schemas.openxmlformats.org/officeDocument/2006/relationships" r:embed="rId1"/>
          <a:stretch>
            <a:fillRect/>
          </a:stretch>
        </p:blipFill>
        <p:spPr>
          <a:xfrm>
            <a:off x="708660" y="3771900"/>
            <a:ext cx="320040" cy="320040"/>
          </a:xfrm>
          <a:prstGeom prst="rect"/>
        </p:spPr>
      </p:pic>
      <p:sp>
        <p:nvSpPr>
          <p:cNvPr id="1048689" name="Text 14"/>
          <p:cNvSpPr txBox="1"/>
          <p:nvPr/>
        </p:nvSpPr>
        <p:spPr>
          <a:xfrm>
            <a:off x="1417320" y="3611880"/>
            <a:ext cx="4480560" cy="640080"/>
          </a:xfrm>
          <a:prstGeom prst="rect"/>
          <a:noFill/>
        </p:spPr>
        <p:txBody>
          <a:bodyPr anchor="ctr" bIns="0" lIns="0" rIns="0" rtlCol="0" tIns="0" wrap="square"/>
          <a:p>
            <a:pPr indent="0" marL="0">
              <a:buNone/>
            </a:pPr>
            <a:r>
              <a:rPr dirty="0" sz="1700" lang="en-US">
                <a:solidFill>
                  <a:srgbClr val="1F2937"/>
                </a:solidFill>
                <a:latin typeface="Calibri" pitchFamily="34" charset="0"/>
                <a:ea typeface="Calibri" pitchFamily="34" charset="-122"/>
                <a:cs typeface="Calibri" pitchFamily="34" charset="-120"/>
              </a:rPr>
              <a:t>Ask HR in natural language</a:t>
            </a:r>
            <a:endParaRPr dirty="0" sz="1700" lang="en-US"/>
          </a:p>
        </p:txBody>
      </p:sp>
      <p:sp>
        <p:nvSpPr>
          <p:cNvPr id="1048690" name="icon-circle"/>
          <p:cNvSpPr/>
          <p:nvPr/>
        </p:nvSpPr>
        <p:spPr>
          <a:xfrm>
            <a:off x="6172200" y="3611880"/>
            <a:ext cx="640080" cy="640080"/>
          </a:xfrm>
          <a:prstGeom prst="ellipse"/>
          <a:solidFill>
            <a:srgbClr val="14213D"/>
          </a:solidFill>
          <a:ln w="12700">
            <a:solidFill>
              <a:srgbClr val="14213D"/>
            </a:solidFill>
            <a:prstDash val="solid"/>
          </a:ln>
        </p:spPr>
      </p:sp>
      <p:pic>
        <p:nvPicPr>
          <p:cNvPr id="2097171" name="Image 1" descr="FileAlt icon"/>
          <p:cNvPicPr>
            <a:picLocks noChangeAspect="1"/>
          </p:cNvPicPr>
          <p:nvPr/>
        </p:nvPicPr>
        <p:blipFill>
          <a:blip xmlns:r="http://schemas.openxmlformats.org/officeDocument/2006/relationships" r:embed="rId2"/>
          <a:stretch>
            <a:fillRect/>
          </a:stretch>
        </p:blipFill>
        <p:spPr>
          <a:xfrm>
            <a:off x="6332220" y="3771900"/>
            <a:ext cx="320040" cy="320040"/>
          </a:xfrm>
          <a:prstGeom prst="rect"/>
        </p:spPr>
      </p:pic>
      <p:sp>
        <p:nvSpPr>
          <p:cNvPr id="1048691" name="Text 16"/>
          <p:cNvSpPr txBox="1"/>
          <p:nvPr/>
        </p:nvSpPr>
        <p:spPr>
          <a:xfrm>
            <a:off x="7040880" y="3611880"/>
            <a:ext cx="4480560" cy="640080"/>
          </a:xfrm>
          <a:prstGeom prst="rect"/>
          <a:noFill/>
        </p:spPr>
        <p:txBody>
          <a:bodyPr anchor="ctr" bIns="0" lIns="0" rIns="0" rtlCol="0" tIns="0" wrap="square"/>
          <a:p>
            <a:pPr indent="0" marL="0">
              <a:buNone/>
            </a:pPr>
            <a:r>
              <a:rPr dirty="0" sz="1700" lang="en-US">
                <a:solidFill>
                  <a:srgbClr val="1F2937"/>
                </a:solidFill>
                <a:latin typeface="Calibri" pitchFamily="34" charset="0"/>
                <a:ea typeface="Calibri" pitchFamily="34" charset="-122"/>
                <a:cs typeface="Calibri" pitchFamily="34" charset="-120"/>
              </a:rPr>
              <a:t>Policies, handbooks and FAQs on demand</a:t>
            </a:r>
            <a:endParaRPr dirty="0" sz="1700" lang="en-US"/>
          </a:p>
        </p:txBody>
      </p:sp>
      <p:sp>
        <p:nvSpPr>
          <p:cNvPr id="1048692" name="icon-circle"/>
          <p:cNvSpPr/>
          <p:nvPr/>
        </p:nvSpPr>
        <p:spPr>
          <a:xfrm>
            <a:off x="548640" y="4480560"/>
            <a:ext cx="640080" cy="640080"/>
          </a:xfrm>
          <a:prstGeom prst="ellipse"/>
          <a:solidFill>
            <a:srgbClr val="14213D"/>
          </a:solidFill>
          <a:ln w="12700">
            <a:solidFill>
              <a:srgbClr val="14213D"/>
            </a:solidFill>
            <a:prstDash val="solid"/>
          </a:ln>
        </p:spPr>
      </p:sp>
      <p:pic>
        <p:nvPicPr>
          <p:cNvPr id="2097172" name="Image 2" descr="ClipboardList icon"/>
          <p:cNvPicPr>
            <a:picLocks noChangeAspect="1"/>
          </p:cNvPicPr>
          <p:nvPr/>
        </p:nvPicPr>
        <p:blipFill>
          <a:blip xmlns:r="http://schemas.openxmlformats.org/officeDocument/2006/relationships" r:embed="rId3"/>
          <a:stretch>
            <a:fillRect/>
          </a:stretch>
        </p:blipFill>
        <p:spPr>
          <a:xfrm>
            <a:off x="708660" y="4640580"/>
            <a:ext cx="320040" cy="320040"/>
          </a:xfrm>
          <a:prstGeom prst="rect"/>
        </p:spPr>
      </p:pic>
      <p:sp>
        <p:nvSpPr>
          <p:cNvPr id="1048693" name="Text 18"/>
          <p:cNvSpPr txBox="1"/>
          <p:nvPr/>
        </p:nvSpPr>
        <p:spPr>
          <a:xfrm>
            <a:off x="1417320" y="4480560"/>
            <a:ext cx="4480560" cy="640080"/>
          </a:xfrm>
          <a:prstGeom prst="rect"/>
          <a:noFill/>
        </p:spPr>
        <p:txBody>
          <a:bodyPr anchor="ctr" bIns="0" lIns="0" rIns="0" rtlCol="0" tIns="0" wrap="square"/>
          <a:p>
            <a:pPr indent="0" marL="0">
              <a:buNone/>
            </a:pPr>
            <a:r>
              <a:rPr dirty="0" sz="1700" lang="en-US">
                <a:solidFill>
                  <a:srgbClr val="1F2937"/>
                </a:solidFill>
                <a:latin typeface="Calibri" pitchFamily="34" charset="0"/>
                <a:ea typeface="Calibri" pitchFamily="34" charset="-122"/>
                <a:cs typeface="Calibri" pitchFamily="34" charset="-120"/>
              </a:rPr>
              <a:t>Feedback, surveys and pulse checks</a:t>
            </a:r>
            <a:endParaRPr dirty="0" sz="1700" lang="en-US"/>
          </a:p>
        </p:txBody>
      </p:sp>
      <p:sp>
        <p:nvSpPr>
          <p:cNvPr id="1048694" name="icon-circle"/>
          <p:cNvSpPr/>
          <p:nvPr/>
        </p:nvSpPr>
        <p:spPr>
          <a:xfrm>
            <a:off x="6172200" y="4480560"/>
            <a:ext cx="640080" cy="640080"/>
          </a:xfrm>
          <a:prstGeom prst="ellipse"/>
          <a:solidFill>
            <a:srgbClr val="14213D"/>
          </a:solidFill>
          <a:ln w="12700">
            <a:solidFill>
              <a:srgbClr val="14213D"/>
            </a:solidFill>
            <a:prstDash val="solid"/>
          </a:ln>
        </p:spPr>
      </p:sp>
      <p:pic>
        <p:nvPicPr>
          <p:cNvPr id="2097173" name="Image 3" descr="Smile icon"/>
          <p:cNvPicPr>
            <a:picLocks noChangeAspect="1"/>
          </p:cNvPicPr>
          <p:nvPr/>
        </p:nvPicPr>
        <p:blipFill>
          <a:blip xmlns:r="http://schemas.openxmlformats.org/officeDocument/2006/relationships" r:embed="rId4"/>
          <a:stretch>
            <a:fillRect/>
          </a:stretch>
        </p:blipFill>
        <p:spPr>
          <a:xfrm>
            <a:off x="6332220" y="4640580"/>
            <a:ext cx="320040" cy="320040"/>
          </a:xfrm>
          <a:prstGeom prst="rect"/>
        </p:spPr>
      </p:pic>
      <p:sp>
        <p:nvSpPr>
          <p:cNvPr id="1048695" name="Text 20"/>
          <p:cNvSpPr txBox="1"/>
          <p:nvPr/>
        </p:nvSpPr>
        <p:spPr>
          <a:xfrm>
            <a:off x="7040880" y="4480560"/>
            <a:ext cx="4480560" cy="640080"/>
          </a:xfrm>
          <a:prstGeom prst="rect"/>
          <a:noFill/>
        </p:spPr>
        <p:txBody>
          <a:bodyPr anchor="ctr" bIns="0" lIns="0" rIns="0" rtlCol="0" tIns="0" wrap="square"/>
          <a:p>
            <a:pPr indent="0" marL="0">
              <a:buNone/>
            </a:pPr>
            <a:r>
              <a:rPr dirty="0" sz="1700" lang="en-US">
                <a:solidFill>
                  <a:srgbClr val="1F2937"/>
                </a:solidFill>
                <a:latin typeface="Calibri" pitchFamily="34" charset="0"/>
                <a:ea typeface="Calibri" pitchFamily="34" charset="-122"/>
                <a:cs typeface="Calibri" pitchFamily="34" charset="-120"/>
              </a:rPr>
              <a:t>AI sentiment analysis of feedback</a:t>
            </a:r>
            <a:endParaRPr dirty="0" sz="1700" lang="en-US"/>
          </a:p>
        </p:txBody>
      </p:sp>
      <p:sp>
        <p:nvSpPr>
          <p:cNvPr id="1048696" name="icon-circle"/>
          <p:cNvSpPr/>
          <p:nvPr/>
        </p:nvSpPr>
        <p:spPr>
          <a:xfrm>
            <a:off x="548640" y="5349240"/>
            <a:ext cx="640080" cy="640080"/>
          </a:xfrm>
          <a:prstGeom prst="ellipse"/>
          <a:solidFill>
            <a:srgbClr val="14213D"/>
          </a:solidFill>
          <a:ln w="12700">
            <a:solidFill>
              <a:srgbClr val="14213D"/>
            </a:solidFill>
            <a:prstDash val="solid"/>
          </a:ln>
        </p:spPr>
      </p:sp>
      <p:pic>
        <p:nvPicPr>
          <p:cNvPr id="2097174" name="Image 4" descr="ChartLine icon"/>
          <p:cNvPicPr>
            <a:picLocks noChangeAspect="1"/>
          </p:cNvPicPr>
          <p:nvPr/>
        </p:nvPicPr>
        <p:blipFill>
          <a:blip xmlns:r="http://schemas.openxmlformats.org/officeDocument/2006/relationships" r:embed="rId5"/>
          <a:stretch>
            <a:fillRect/>
          </a:stretch>
        </p:blipFill>
        <p:spPr>
          <a:xfrm>
            <a:off x="708660" y="5509260"/>
            <a:ext cx="320040" cy="320040"/>
          </a:xfrm>
          <a:prstGeom prst="rect"/>
        </p:spPr>
      </p:pic>
      <p:sp>
        <p:nvSpPr>
          <p:cNvPr id="1048697" name="Text 22"/>
          <p:cNvSpPr txBox="1"/>
          <p:nvPr/>
        </p:nvSpPr>
        <p:spPr>
          <a:xfrm>
            <a:off x="1417320" y="5349240"/>
            <a:ext cx="4480560" cy="640080"/>
          </a:xfrm>
          <a:prstGeom prst="rect"/>
          <a:noFill/>
        </p:spPr>
        <p:txBody>
          <a:bodyPr anchor="ctr" bIns="0" lIns="0" rIns="0" rtlCol="0" tIns="0" wrap="square"/>
          <a:p>
            <a:pPr indent="0" marL="0">
              <a:buNone/>
            </a:pPr>
            <a:r>
              <a:rPr dirty="0" sz="1700" lang="en-US">
                <a:solidFill>
                  <a:srgbClr val="1F2937"/>
                </a:solidFill>
                <a:latin typeface="Calibri" pitchFamily="34" charset="0"/>
                <a:ea typeface="Calibri" pitchFamily="34" charset="-122"/>
                <a:cs typeface="Calibri" pitchFamily="34" charset="-120"/>
              </a:rPr>
              <a:t>Engagement dashboards and reports</a:t>
            </a:r>
            <a:endParaRPr dirty="0" sz="1700" lang="en-US"/>
          </a:p>
        </p:txBody>
      </p:sp>
      <p:sp>
        <p:nvSpPr>
          <p:cNvPr id="1048698" name="icon-circle"/>
          <p:cNvSpPr/>
          <p:nvPr/>
        </p:nvSpPr>
        <p:spPr>
          <a:xfrm>
            <a:off x="6172200" y="5349240"/>
            <a:ext cx="640080" cy="640080"/>
          </a:xfrm>
          <a:prstGeom prst="ellipse"/>
          <a:solidFill>
            <a:srgbClr val="14213D"/>
          </a:solidFill>
          <a:ln w="12700">
            <a:solidFill>
              <a:srgbClr val="14213D"/>
            </a:solidFill>
            <a:prstDash val="solid"/>
          </a:ln>
        </p:spPr>
      </p:sp>
      <p:pic>
        <p:nvPicPr>
          <p:cNvPr id="2097175" name="Image 5" descr="Bell icon"/>
          <p:cNvPicPr>
            <a:picLocks noChangeAspect="1"/>
          </p:cNvPicPr>
          <p:nvPr/>
        </p:nvPicPr>
        <p:blipFill>
          <a:blip xmlns:r="http://schemas.openxmlformats.org/officeDocument/2006/relationships" r:embed="rId6"/>
          <a:stretch>
            <a:fillRect/>
          </a:stretch>
        </p:blipFill>
        <p:spPr>
          <a:xfrm>
            <a:off x="6332220" y="5509260"/>
            <a:ext cx="320040" cy="320040"/>
          </a:xfrm>
          <a:prstGeom prst="rect"/>
        </p:spPr>
      </p:pic>
      <p:sp>
        <p:nvSpPr>
          <p:cNvPr id="1048699" name="Text 24"/>
          <p:cNvSpPr txBox="1"/>
          <p:nvPr/>
        </p:nvSpPr>
        <p:spPr>
          <a:xfrm>
            <a:off x="7040880" y="5349240"/>
            <a:ext cx="4480560" cy="640080"/>
          </a:xfrm>
          <a:prstGeom prst="rect"/>
          <a:noFill/>
        </p:spPr>
        <p:txBody>
          <a:bodyPr anchor="ctr" bIns="0" lIns="0" rIns="0" rtlCol="0" tIns="0" wrap="square"/>
          <a:p>
            <a:pPr indent="0" marL="0">
              <a:buNone/>
            </a:pPr>
            <a:r>
              <a:rPr dirty="0" sz="1700" lang="en-US">
                <a:solidFill>
                  <a:srgbClr val="1F2937"/>
                </a:solidFill>
                <a:latin typeface="Calibri" pitchFamily="34" charset="0"/>
                <a:ea typeface="Calibri" pitchFamily="34" charset="-122"/>
                <a:cs typeface="Calibri" pitchFamily="34" charset="-120"/>
              </a:rPr>
              <a:t>Announcements and notifications</a:t>
            </a:r>
            <a:endParaRPr dirty="0" sz="1700" lang="en-US"/>
          </a:p>
        </p:txBody>
      </p:sp>
      <p:sp>
        <p:nvSpPr>
          <p:cNvPr id="1048700"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34" name=""/>
        <p:cNvGrpSpPr/>
        <p:nvPr/>
      </p:nvGrpSpPr>
      <p:grpSpPr>
        <a:xfrm>
          <a:off x="0" y="0"/>
          <a:ext cx="0" cy="0"/>
          <a:chOff x="0" y="0"/>
          <a:chExt cx="0" cy="0"/>
        </a:xfrm>
      </p:grpSpPr>
      <p:sp>
        <p:nvSpPr>
          <p:cNvPr id="1048704"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Literature Survey</a:t>
            </a:r>
            <a:endParaRPr dirty="0" sz="3400" lang="en-US"/>
          </a:p>
        </p:txBody>
      </p:sp>
      <p:graphicFrame>
        <p:nvGraphicFramePr>
          <p:cNvPr id="4194304" name="Table 0"/>
          <p:cNvGraphicFramePr>
            <a:graphicFrameLocks noGrp="1"/>
          </p:cNvGraphicFramePr>
          <p:nvPr/>
        </p:nvGraphicFramePr>
        <p:xfrm>
          <a:off x="548640" y="1463040"/>
          <a:ext cx="11064240" cy="914400"/>
        </p:xfrm>
        <a:graphic>
          <a:graphicData uri="http://schemas.openxmlformats.org/drawingml/2006/table">
            <a:tbl>
              <a:tblPr/>
              <a:tblGrid>
                <a:gridCol w="731520"/>
                <a:gridCol w="3291840"/>
                <a:gridCol w="2194560"/>
                <a:gridCol w="2743200"/>
                <a:gridCol w="2103120"/>
              </a:tblGrid>
              <a:tr h="502920">
                <a:tc>
                  <a:txBody>
                    <a:bodyPr/>
                    <a:p>
                      <a:pPr algn="l" indent="0" marL="0">
                        <a:buNone/>
                      </a:pPr>
                      <a:r>
                        <a:rPr b="1" dirty="0" sz="1400" lang="en-US">
                          <a:solidFill>
                            <a:srgbClr val="FFFFFF"/>
                          </a:solidFill>
                          <a:latin typeface="Calibri" pitchFamily="34" charset="0"/>
                          <a:ea typeface="Calibri" pitchFamily="34" charset="-122"/>
                          <a:cs typeface="Calibri" pitchFamily="34" charset="-120"/>
                        </a:rPr>
                        <a:t>S.No</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p>
                      <a:pPr algn="l" indent="0" marL="0">
                        <a:buNone/>
                      </a:pPr>
                      <a:r>
                        <a:rPr b="1" dirty="0" sz="1400" lang="en-US">
                          <a:solidFill>
                            <a:srgbClr val="FFFFFF"/>
                          </a:solidFill>
                          <a:latin typeface="Calibri" pitchFamily="34" charset="0"/>
                          <a:ea typeface="Calibri" pitchFamily="34" charset="-122"/>
                          <a:cs typeface="Calibri" pitchFamily="34" charset="-120"/>
                        </a:rPr>
                        <a:t>Paper / Author (Year)</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p>
                      <a:pPr algn="l" indent="0" marL="0">
                        <a:buNone/>
                      </a:pPr>
                      <a:r>
                        <a:rPr b="1" dirty="0" sz="1400" lang="en-US">
                          <a:solidFill>
                            <a:srgbClr val="FFFFFF"/>
                          </a:solidFill>
                          <a:latin typeface="Calibri" pitchFamily="34" charset="0"/>
                          <a:ea typeface="Calibri" pitchFamily="34" charset="-122"/>
                          <a:cs typeface="Calibri" pitchFamily="34" charset="-120"/>
                        </a:rPr>
                        <a:t>Technique Used</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p>
                      <a:pPr algn="l" indent="0" marL="0">
                        <a:buNone/>
                      </a:pPr>
                      <a:r>
                        <a:rPr b="1" dirty="0" sz="1400" lang="en-US">
                          <a:solidFill>
                            <a:srgbClr val="FFFFFF"/>
                          </a:solidFill>
                          <a:latin typeface="Calibri" pitchFamily="34" charset="0"/>
                          <a:ea typeface="Calibri" pitchFamily="34" charset="-122"/>
                          <a:cs typeface="Calibri" pitchFamily="34" charset="-120"/>
                        </a:rPr>
                        <a:t>Key Findings</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c>
                  <a:txBody>
                    <a:bodyPr/>
                    <a:p>
                      <a:pPr algn="l" indent="0" marL="0">
                        <a:buNone/>
                      </a:pPr>
                      <a:r>
                        <a:rPr b="1" dirty="0" sz="1400" lang="en-US">
                          <a:solidFill>
                            <a:srgbClr val="FFFFFF"/>
                          </a:solidFill>
                          <a:latin typeface="Calibri" pitchFamily="34" charset="0"/>
                          <a:ea typeface="Calibri" pitchFamily="34" charset="-122"/>
                          <a:cs typeface="Calibri" pitchFamily="34" charset="-120"/>
                        </a:rPr>
                        <a:t>Limitations</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14213D"/>
                    </a:solidFill>
                  </a:tcPr>
                </a:tc>
              </a:tr>
              <a:tr h="777240">
                <a:tc>
                  <a:txBody>
                    <a:bodyPr/>
                    <a:p>
                      <a:pPr algn="ctr" indent="0" marL="0">
                        <a:buNone/>
                      </a:pPr>
                      <a:r>
                        <a:rPr b="1" dirty="0" sz="1400" lang="en-US">
                          <a:solidFill>
                            <a:srgbClr val="14213D"/>
                          </a:solidFill>
                          <a:latin typeface="Calibri" pitchFamily="34" charset="0"/>
                          <a:ea typeface="Calibri" pitchFamily="34" charset="-122"/>
                          <a:cs typeface="Calibri" pitchFamily="34" charset="-120"/>
                        </a:rPr>
                        <a:t>1</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[As per Review-1]</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77240">
                <a:tc>
                  <a:txBody>
                    <a:bodyPr/>
                    <a:p>
                      <a:pPr algn="ctr" indent="0" marL="0">
                        <a:buNone/>
                      </a:pPr>
                      <a:r>
                        <a:rPr b="1" dirty="0" sz="1400" lang="en-US">
                          <a:solidFill>
                            <a:srgbClr val="14213D"/>
                          </a:solidFill>
                          <a:latin typeface="Calibri" pitchFamily="34" charset="0"/>
                          <a:ea typeface="Calibri" pitchFamily="34" charset="-122"/>
                          <a:cs typeface="Calibri" pitchFamily="34" charset="-120"/>
                        </a:rPr>
                        <a:t>2</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[As per Review-1]</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77240">
                <a:tc>
                  <a:txBody>
                    <a:bodyPr/>
                    <a:p>
                      <a:pPr algn="ctr" indent="0" marL="0">
                        <a:buNone/>
                      </a:pPr>
                      <a:r>
                        <a:rPr b="1" dirty="0" sz="1400" lang="en-US">
                          <a:solidFill>
                            <a:srgbClr val="14213D"/>
                          </a:solidFill>
                          <a:latin typeface="Calibri" pitchFamily="34" charset="0"/>
                          <a:ea typeface="Calibri" pitchFamily="34" charset="-122"/>
                          <a:cs typeface="Calibri" pitchFamily="34" charset="-120"/>
                        </a:rPr>
                        <a:t>3</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[As per Review-1]</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77240">
                <a:tc>
                  <a:txBody>
                    <a:bodyPr/>
                    <a:p>
                      <a:pPr algn="ctr" indent="0" marL="0">
                        <a:buNone/>
                      </a:pPr>
                      <a:r>
                        <a:rPr b="1" dirty="0" sz="1400" lang="en-US">
                          <a:solidFill>
                            <a:srgbClr val="14213D"/>
                          </a:solidFill>
                          <a:latin typeface="Calibri" pitchFamily="34" charset="0"/>
                          <a:ea typeface="Calibri" pitchFamily="34" charset="-122"/>
                          <a:cs typeface="Calibri" pitchFamily="34" charset="-120"/>
                        </a:rPr>
                        <a:t>4</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[As per Review-1]</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r h="777240">
                <a:tc>
                  <a:txBody>
                    <a:bodyPr/>
                    <a:p>
                      <a:pPr algn="ctr" indent="0" marL="0">
                        <a:buNone/>
                      </a:pPr>
                      <a:r>
                        <a:rPr b="1" dirty="0" sz="1400" lang="en-US">
                          <a:solidFill>
                            <a:srgbClr val="14213D"/>
                          </a:solidFill>
                          <a:latin typeface="Calibri" pitchFamily="34" charset="0"/>
                          <a:ea typeface="Calibri" pitchFamily="34" charset="-122"/>
                          <a:cs typeface="Calibri" pitchFamily="34" charset="-120"/>
                        </a:rPr>
                        <a:t>5</a:t>
                      </a:r>
                      <a:endParaRPr dirty="0" sz="14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[As per Review-1]</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c>
                  <a:txBody>
                    <a:bodyPr/>
                    <a:p>
                      <a:pPr indent="0" marL="0">
                        <a:buNone/>
                      </a:pPr>
                      <a:r>
                        <a:rPr dirty="0" sz="1300" lang="en-US">
                          <a:solidFill>
                            <a:srgbClr val="5A6478"/>
                          </a:solidFill>
                          <a:latin typeface="Calibri" pitchFamily="34" charset="0"/>
                          <a:ea typeface="Calibri" pitchFamily="34" charset="-122"/>
                          <a:cs typeface="Calibri" pitchFamily="34" charset="-120"/>
                        </a:rPr>
                        <a:t>[ ]</a:t>
                      </a:r>
                      <a:endParaRPr dirty="0" sz="1300" lang="en-US">
                        <a:latin typeface="Calibri" charset="0"/>
                        <a:ea typeface="Calibri" charset="0"/>
                        <a:cs typeface="Calibri" charset="0"/>
                      </a:endParaRPr>
                    </a:p>
                  </a:txBody>
                  <a:tcPr marL="91440" marR="91440" marT="45720" marB="45720"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rgbClr val="FFFFFF"/>
                    </a:solidFill>
                  </a:tcPr>
                </a:tc>
              </a:tr>
            </a:tbl>
          </a:graphicData>
        </a:graphic>
      </p:graphicFrame>
      <p:sp>
        <p:nvSpPr>
          <p:cNvPr id="1048705"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37" name=""/>
        <p:cNvGrpSpPr/>
        <p:nvPr/>
      </p:nvGrpSpPr>
      <p:grpSpPr>
        <a:xfrm>
          <a:off x="0" y="0"/>
          <a:ext cx="0" cy="0"/>
          <a:chOff x="0" y="0"/>
          <a:chExt cx="0" cy="0"/>
        </a:xfrm>
      </p:grpSpPr>
      <p:sp>
        <p:nvSpPr>
          <p:cNvPr id="1048709"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Existing System &amp; its Disadvantages</a:t>
            </a:r>
            <a:endParaRPr dirty="0" sz="3400" lang="en-US"/>
          </a:p>
        </p:txBody>
      </p:sp>
      <p:sp>
        <p:nvSpPr>
          <p:cNvPr id="1048710" name="card"/>
          <p:cNvSpPr/>
          <p:nvPr/>
        </p:nvSpPr>
        <p:spPr>
          <a:xfrm>
            <a:off x="548640" y="1463040"/>
            <a:ext cx="4206240" cy="4754880"/>
          </a:xfrm>
          <a:prstGeom prst="roundRect">
            <a:avLst>
              <a:gd name="adj" fmla="val 2609"/>
            </a:avLst>
          </a:prstGeom>
          <a:solidFill>
            <a:srgbClr val="FDEEEA"/>
          </a:solidFill>
          <a:ln w="12700">
            <a:solidFill>
              <a:srgbClr val="FDEEEA"/>
            </a:solidFill>
            <a:prstDash val="solid"/>
          </a:ln>
        </p:spPr>
      </p:sp>
      <p:sp>
        <p:nvSpPr>
          <p:cNvPr id="1048711" name="icon-circle"/>
          <p:cNvSpPr/>
          <p:nvPr/>
        </p:nvSpPr>
        <p:spPr>
          <a:xfrm>
            <a:off x="822960" y="1737360"/>
            <a:ext cx="731520" cy="731520"/>
          </a:xfrm>
          <a:prstGeom prst="ellipse"/>
          <a:solidFill>
            <a:srgbClr val="F26B50"/>
          </a:solidFill>
          <a:ln w="12700">
            <a:solidFill>
              <a:srgbClr val="F26B50"/>
            </a:solidFill>
            <a:prstDash val="solid"/>
          </a:ln>
        </p:spPr>
      </p:sp>
      <p:pic>
        <p:nvPicPr>
          <p:cNvPr id="2097176" name="Image 0" descr="FolderOpen icon"/>
          <p:cNvPicPr>
            <a:picLocks noChangeAspect="1"/>
          </p:cNvPicPr>
          <p:nvPr/>
        </p:nvPicPr>
        <p:blipFill>
          <a:blip xmlns:r="http://schemas.openxmlformats.org/officeDocument/2006/relationships" r:embed="rId1"/>
          <a:stretch>
            <a:fillRect/>
          </a:stretch>
        </p:blipFill>
        <p:spPr>
          <a:xfrm>
            <a:off x="1005840" y="1920240"/>
            <a:ext cx="365760" cy="365760"/>
          </a:xfrm>
          <a:prstGeom prst="rect"/>
        </p:spPr>
      </p:pic>
      <p:sp>
        <p:nvSpPr>
          <p:cNvPr id="1048712" name="Text 3"/>
          <p:cNvSpPr txBox="1"/>
          <p:nvPr/>
        </p:nvSpPr>
        <p:spPr>
          <a:xfrm>
            <a:off x="1691640" y="1737360"/>
            <a:ext cx="2926080" cy="731520"/>
          </a:xfrm>
          <a:prstGeom prst="rect"/>
          <a:noFill/>
        </p:spPr>
        <p:txBody>
          <a:bodyPr anchor="ctr" bIns="0" lIns="0" rIns="0" rtlCol="0" tIns="0" wrap="square"/>
          <a:p>
            <a:pPr indent="0" marL="0">
              <a:buNone/>
            </a:pPr>
            <a:r>
              <a:rPr b="1" dirty="0" sz="2200" lang="en-US">
                <a:solidFill>
                  <a:srgbClr val="14213D"/>
                </a:solidFill>
                <a:latin typeface="Cambria" pitchFamily="34" charset="0"/>
                <a:ea typeface="Cambria" pitchFamily="34" charset="-122"/>
                <a:cs typeface="Cambria" pitchFamily="34" charset="-120"/>
              </a:rPr>
              <a:t>Existing System</a:t>
            </a:r>
            <a:endParaRPr dirty="0" sz="2200" lang="en-US"/>
          </a:p>
        </p:txBody>
      </p:sp>
      <p:sp>
        <p:nvSpPr>
          <p:cNvPr id="1048713" name="Text 4"/>
          <p:cNvSpPr txBox="1"/>
          <p:nvPr/>
        </p:nvSpPr>
        <p:spPr>
          <a:xfrm>
            <a:off x="822960" y="2743200"/>
            <a:ext cx="3611880" cy="3291840"/>
          </a:xfrm>
          <a:prstGeom prst="rect"/>
          <a:noFill/>
        </p:spPr>
        <p:txBody>
          <a:bodyPr anchor="t" bIns="0" lIns="0" rIns="0" rtlCol="0" tIns="0" wrap="square"/>
          <a:p>
            <a:pPr indent="-342900" marL="342900">
              <a:spcAft>
                <a:spcPts val="1200"/>
              </a:spcAft>
              <a:buSzPct val="100000"/>
              <a:buChar char="•"/>
            </a:pPr>
            <a:r>
              <a:rPr dirty="0" sz="1500" lang="en-US">
                <a:solidFill>
                  <a:srgbClr val="1F2937"/>
                </a:solidFill>
                <a:latin typeface="Calibri" pitchFamily="34" charset="0"/>
                <a:ea typeface="Calibri" pitchFamily="34" charset="-122"/>
                <a:cs typeface="Calibri" pitchFamily="34" charset="-120"/>
              </a:rPr>
              <a:t>Email, phone calls, static intranets, spreadsheets and manual HR contact</a:t>
            </a:r>
            <a:endParaRPr dirty="0" sz="1500" lang="en-US"/>
          </a:p>
          <a:p>
            <a:pPr indent="-342900" marL="342900">
              <a:spcAft>
                <a:spcPts val="1200"/>
              </a:spcAft>
              <a:buSzPct val="100000"/>
              <a:buChar char="•"/>
            </a:pPr>
            <a:r>
              <a:rPr dirty="0" sz="1500" lang="en-US">
                <a:solidFill>
                  <a:srgbClr val="1F2937"/>
                </a:solidFill>
                <a:latin typeface="Calibri" pitchFamily="34" charset="0"/>
                <a:ea typeface="Calibri" pitchFamily="34" charset="-122"/>
                <a:cs typeface="Calibri" pitchFamily="34" charset="-120"/>
              </a:rPr>
              <a:t>Basic surveys and record keeping, with no conversational interface</a:t>
            </a:r>
            <a:endParaRPr dirty="0" sz="1500" lang="en-US"/>
          </a:p>
          <a:p>
            <a:pPr indent="-342900" marL="342900">
              <a:spcAft>
                <a:spcPts val="1200"/>
              </a:spcAft>
              <a:buSzPct val="100000"/>
              <a:buChar char="•"/>
            </a:pPr>
            <a:r>
              <a:rPr dirty="0" sz="1500" lang="en-US">
                <a:solidFill>
                  <a:srgbClr val="1F2937"/>
                </a:solidFill>
                <a:latin typeface="Calibri" pitchFamily="34" charset="0"/>
                <a:ea typeface="Calibri" pitchFamily="34" charset="-122"/>
                <a:cs typeface="Calibri" pitchFamily="34" charset="-120"/>
              </a:rPr>
              <a:t>Policies, feedback and analytics split across separate tools</a:t>
            </a:r>
            <a:endParaRPr dirty="0" sz="1500" lang="en-US"/>
          </a:p>
        </p:txBody>
      </p:sp>
      <p:sp>
        <p:nvSpPr>
          <p:cNvPr id="1048714" name="Text 5"/>
          <p:cNvSpPr txBox="1"/>
          <p:nvPr/>
        </p:nvSpPr>
        <p:spPr>
          <a:xfrm>
            <a:off x="5120640" y="1463040"/>
            <a:ext cx="6400800" cy="411480"/>
          </a:xfrm>
          <a:prstGeom prst="rect"/>
          <a:noFill/>
        </p:spPr>
        <p:txBody>
          <a:bodyPr anchor="ctr" bIns="0" lIns="0" rIns="0" rtlCol="0" tIns="0" wrap="square"/>
          <a:p>
            <a:pPr indent="0" marL="0">
              <a:buNone/>
            </a:pPr>
            <a:r>
              <a:rPr b="1" dirty="0" sz="2000" lang="en-US">
                <a:solidFill>
                  <a:srgbClr val="F26B50"/>
                </a:solidFill>
                <a:latin typeface="Calibri" pitchFamily="34" charset="0"/>
                <a:ea typeface="Calibri" pitchFamily="34" charset="-122"/>
                <a:cs typeface="Calibri" pitchFamily="34" charset="-120"/>
              </a:rPr>
              <a:t>Disadvantages</a:t>
            </a:r>
            <a:endParaRPr dirty="0" sz="2000" lang="en-US"/>
          </a:p>
        </p:txBody>
      </p:sp>
      <p:sp>
        <p:nvSpPr>
          <p:cNvPr id="1048715" name="num"/>
          <p:cNvSpPr/>
          <p:nvPr/>
        </p:nvSpPr>
        <p:spPr>
          <a:xfrm>
            <a:off x="5120640" y="1993392"/>
            <a:ext cx="329184" cy="329184"/>
          </a:xfrm>
          <a:prstGeom prst="ellipse"/>
          <a:solidFill>
            <a:srgbClr val="F26B50"/>
          </a:solidFill>
          <a:ln w="12700">
            <a:solidFill>
              <a:srgbClr val="F26B50"/>
            </a:solidFill>
            <a:prstDash val="solid"/>
          </a:ln>
        </p:spPr>
      </p:sp>
      <p:sp>
        <p:nvSpPr>
          <p:cNvPr id="1048716" name="Text 7"/>
          <p:cNvSpPr txBox="1"/>
          <p:nvPr/>
        </p:nvSpPr>
        <p:spPr>
          <a:xfrm>
            <a:off x="5120640" y="1993392"/>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1</a:t>
            </a:r>
            <a:endParaRPr dirty="0" sz="1200" lang="en-US"/>
          </a:p>
        </p:txBody>
      </p:sp>
      <p:sp>
        <p:nvSpPr>
          <p:cNvPr id="1048717" name="Text 8"/>
          <p:cNvSpPr txBox="1"/>
          <p:nvPr/>
        </p:nvSpPr>
        <p:spPr>
          <a:xfrm>
            <a:off x="5623560" y="1965960"/>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Long response times for routine HR queries</a:t>
            </a:r>
            <a:endParaRPr dirty="0" sz="1500" lang="en-US"/>
          </a:p>
        </p:txBody>
      </p:sp>
      <p:sp>
        <p:nvSpPr>
          <p:cNvPr id="1048718" name="num"/>
          <p:cNvSpPr/>
          <p:nvPr/>
        </p:nvSpPr>
        <p:spPr>
          <a:xfrm>
            <a:off x="5120640" y="2418588"/>
            <a:ext cx="329184" cy="329184"/>
          </a:xfrm>
          <a:prstGeom prst="ellipse"/>
          <a:solidFill>
            <a:srgbClr val="F26B50"/>
          </a:solidFill>
          <a:ln w="12700">
            <a:solidFill>
              <a:srgbClr val="F26B50"/>
            </a:solidFill>
            <a:prstDash val="solid"/>
          </a:ln>
        </p:spPr>
      </p:sp>
      <p:sp>
        <p:nvSpPr>
          <p:cNvPr id="1048719" name="Text 10"/>
          <p:cNvSpPr txBox="1"/>
          <p:nvPr/>
        </p:nvSpPr>
        <p:spPr>
          <a:xfrm>
            <a:off x="5120640" y="2418588"/>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2</a:t>
            </a:r>
            <a:endParaRPr dirty="0" sz="1200" lang="en-US"/>
          </a:p>
        </p:txBody>
      </p:sp>
      <p:sp>
        <p:nvSpPr>
          <p:cNvPr id="1048720" name="Text 11"/>
          <p:cNvSpPr txBox="1"/>
          <p:nvPr/>
        </p:nvSpPr>
        <p:spPr>
          <a:xfrm>
            <a:off x="5623560" y="2391156"/>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Manual searching of lengthy policy documents</a:t>
            </a:r>
            <a:endParaRPr dirty="0" sz="1500" lang="en-US"/>
          </a:p>
        </p:txBody>
      </p:sp>
      <p:sp>
        <p:nvSpPr>
          <p:cNvPr id="1048721" name="num"/>
          <p:cNvSpPr/>
          <p:nvPr/>
        </p:nvSpPr>
        <p:spPr>
          <a:xfrm>
            <a:off x="5120640" y="2843784"/>
            <a:ext cx="329184" cy="329184"/>
          </a:xfrm>
          <a:prstGeom prst="ellipse"/>
          <a:solidFill>
            <a:srgbClr val="F26B50"/>
          </a:solidFill>
          <a:ln w="12700">
            <a:solidFill>
              <a:srgbClr val="F26B50"/>
            </a:solidFill>
            <a:prstDash val="solid"/>
          </a:ln>
        </p:spPr>
      </p:sp>
      <p:sp>
        <p:nvSpPr>
          <p:cNvPr id="1048722" name="Text 13"/>
          <p:cNvSpPr txBox="1"/>
          <p:nvPr/>
        </p:nvSpPr>
        <p:spPr>
          <a:xfrm>
            <a:off x="5120640" y="2843784"/>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3</a:t>
            </a:r>
            <a:endParaRPr dirty="0" sz="1200" lang="en-US"/>
          </a:p>
        </p:txBody>
      </p:sp>
      <p:sp>
        <p:nvSpPr>
          <p:cNvPr id="1048723" name="Text 14"/>
          <p:cNvSpPr txBox="1"/>
          <p:nvPr/>
        </p:nvSpPr>
        <p:spPr>
          <a:xfrm>
            <a:off x="5623560" y="2816352"/>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HR time lost on repetitive questions</a:t>
            </a:r>
            <a:endParaRPr dirty="0" sz="1500" lang="en-US"/>
          </a:p>
        </p:txBody>
      </p:sp>
      <p:sp>
        <p:nvSpPr>
          <p:cNvPr id="1048724" name="num"/>
          <p:cNvSpPr/>
          <p:nvPr/>
        </p:nvSpPr>
        <p:spPr>
          <a:xfrm>
            <a:off x="5120640" y="3268980"/>
            <a:ext cx="329184" cy="329184"/>
          </a:xfrm>
          <a:prstGeom prst="ellipse"/>
          <a:solidFill>
            <a:srgbClr val="F26B50"/>
          </a:solidFill>
          <a:ln w="12700">
            <a:solidFill>
              <a:srgbClr val="F26B50"/>
            </a:solidFill>
            <a:prstDash val="solid"/>
          </a:ln>
        </p:spPr>
      </p:sp>
      <p:sp>
        <p:nvSpPr>
          <p:cNvPr id="1048725" name="Text 16"/>
          <p:cNvSpPr txBox="1"/>
          <p:nvPr/>
        </p:nvSpPr>
        <p:spPr>
          <a:xfrm>
            <a:off x="5120640" y="3268980"/>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4</a:t>
            </a:r>
            <a:endParaRPr dirty="0" sz="1200" lang="en-US"/>
          </a:p>
        </p:txBody>
      </p:sp>
      <p:sp>
        <p:nvSpPr>
          <p:cNvPr id="1048726" name="Text 17"/>
          <p:cNvSpPr txBox="1"/>
          <p:nvPr/>
        </p:nvSpPr>
        <p:spPr>
          <a:xfrm>
            <a:off x="5623560" y="3241548"/>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Limited conversational, personalized help</a:t>
            </a:r>
            <a:endParaRPr dirty="0" sz="1500" lang="en-US"/>
          </a:p>
        </p:txBody>
      </p:sp>
      <p:sp>
        <p:nvSpPr>
          <p:cNvPr id="1048727" name="num"/>
          <p:cNvSpPr/>
          <p:nvPr/>
        </p:nvSpPr>
        <p:spPr>
          <a:xfrm>
            <a:off x="5120640" y="3694176"/>
            <a:ext cx="329184" cy="329184"/>
          </a:xfrm>
          <a:prstGeom prst="ellipse"/>
          <a:solidFill>
            <a:srgbClr val="F26B50"/>
          </a:solidFill>
          <a:ln w="12700">
            <a:solidFill>
              <a:srgbClr val="F26B50"/>
            </a:solidFill>
            <a:prstDash val="solid"/>
          </a:ln>
        </p:spPr>
      </p:sp>
      <p:sp>
        <p:nvSpPr>
          <p:cNvPr id="1048728" name="Text 19"/>
          <p:cNvSpPr txBox="1"/>
          <p:nvPr/>
        </p:nvSpPr>
        <p:spPr>
          <a:xfrm>
            <a:off x="5120640" y="3694176"/>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5</a:t>
            </a:r>
            <a:endParaRPr dirty="0" sz="1200" lang="en-US"/>
          </a:p>
        </p:txBody>
      </p:sp>
      <p:sp>
        <p:nvSpPr>
          <p:cNvPr id="1048729" name="Text 20"/>
          <p:cNvSpPr txBox="1"/>
          <p:nvPr/>
        </p:nvSpPr>
        <p:spPr>
          <a:xfrm>
            <a:off x="5623560" y="3666744"/>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Feedback reviewed and classified manually</a:t>
            </a:r>
            <a:endParaRPr dirty="0" sz="1500" lang="en-US"/>
          </a:p>
        </p:txBody>
      </p:sp>
      <p:sp>
        <p:nvSpPr>
          <p:cNvPr id="1048730" name="num"/>
          <p:cNvSpPr/>
          <p:nvPr/>
        </p:nvSpPr>
        <p:spPr>
          <a:xfrm>
            <a:off x="5120640" y="4119372"/>
            <a:ext cx="329184" cy="329184"/>
          </a:xfrm>
          <a:prstGeom prst="ellipse"/>
          <a:solidFill>
            <a:srgbClr val="F26B50"/>
          </a:solidFill>
          <a:ln w="12700">
            <a:solidFill>
              <a:srgbClr val="F26B50"/>
            </a:solidFill>
            <a:prstDash val="solid"/>
          </a:ln>
        </p:spPr>
      </p:sp>
      <p:sp>
        <p:nvSpPr>
          <p:cNvPr id="1048731" name="Text 22"/>
          <p:cNvSpPr txBox="1"/>
          <p:nvPr/>
        </p:nvSpPr>
        <p:spPr>
          <a:xfrm>
            <a:off x="5120640" y="4119372"/>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6</a:t>
            </a:r>
            <a:endParaRPr dirty="0" sz="1200" lang="en-US"/>
          </a:p>
        </p:txBody>
      </p:sp>
      <p:sp>
        <p:nvSpPr>
          <p:cNvPr id="1048732" name="Text 23"/>
          <p:cNvSpPr txBox="1"/>
          <p:nvPr/>
        </p:nvSpPr>
        <p:spPr>
          <a:xfrm>
            <a:off x="5623560" y="4091940"/>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Periodic surveys miss changing sentiment</a:t>
            </a:r>
            <a:endParaRPr dirty="0" sz="1500" lang="en-US"/>
          </a:p>
        </p:txBody>
      </p:sp>
      <p:sp>
        <p:nvSpPr>
          <p:cNvPr id="1048733" name="num"/>
          <p:cNvSpPr/>
          <p:nvPr/>
        </p:nvSpPr>
        <p:spPr>
          <a:xfrm>
            <a:off x="5120640" y="4544568"/>
            <a:ext cx="329184" cy="329184"/>
          </a:xfrm>
          <a:prstGeom prst="ellipse"/>
          <a:solidFill>
            <a:srgbClr val="F26B50"/>
          </a:solidFill>
          <a:ln w="12700">
            <a:solidFill>
              <a:srgbClr val="F26B50"/>
            </a:solidFill>
            <a:prstDash val="solid"/>
          </a:ln>
        </p:spPr>
      </p:sp>
      <p:sp>
        <p:nvSpPr>
          <p:cNvPr id="1048734" name="Text 25"/>
          <p:cNvSpPr txBox="1"/>
          <p:nvPr/>
        </p:nvSpPr>
        <p:spPr>
          <a:xfrm>
            <a:off x="5120640" y="4544568"/>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7</a:t>
            </a:r>
            <a:endParaRPr dirty="0" sz="1200" lang="en-US"/>
          </a:p>
        </p:txBody>
      </p:sp>
      <p:sp>
        <p:nvSpPr>
          <p:cNvPr id="1048735" name="Text 26"/>
          <p:cNvSpPr txBox="1"/>
          <p:nvPr/>
        </p:nvSpPr>
        <p:spPr>
          <a:xfrm>
            <a:off x="5623560" y="4517136"/>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Information fragmented across multiple tools</a:t>
            </a:r>
            <a:endParaRPr dirty="0" sz="1500" lang="en-US"/>
          </a:p>
        </p:txBody>
      </p:sp>
      <p:sp>
        <p:nvSpPr>
          <p:cNvPr id="1048736" name="num"/>
          <p:cNvSpPr/>
          <p:nvPr/>
        </p:nvSpPr>
        <p:spPr>
          <a:xfrm>
            <a:off x="5120640" y="4969764"/>
            <a:ext cx="329184" cy="329184"/>
          </a:xfrm>
          <a:prstGeom prst="ellipse"/>
          <a:solidFill>
            <a:srgbClr val="F26B50"/>
          </a:solidFill>
          <a:ln w="12700">
            <a:solidFill>
              <a:srgbClr val="F26B50"/>
            </a:solidFill>
            <a:prstDash val="solid"/>
          </a:ln>
        </p:spPr>
      </p:sp>
      <p:sp>
        <p:nvSpPr>
          <p:cNvPr id="1048737" name="Text 28"/>
          <p:cNvSpPr txBox="1"/>
          <p:nvPr/>
        </p:nvSpPr>
        <p:spPr>
          <a:xfrm>
            <a:off x="5120640" y="4969764"/>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8</a:t>
            </a:r>
            <a:endParaRPr dirty="0" sz="1200" lang="en-US"/>
          </a:p>
        </p:txBody>
      </p:sp>
      <p:sp>
        <p:nvSpPr>
          <p:cNvPr id="1048738" name="Text 29"/>
          <p:cNvSpPr txBox="1"/>
          <p:nvPr/>
        </p:nvSpPr>
        <p:spPr>
          <a:xfrm>
            <a:off x="5623560" y="4942332"/>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No automatic detection of recurring concerns</a:t>
            </a:r>
            <a:endParaRPr dirty="0" sz="1500" lang="en-US"/>
          </a:p>
        </p:txBody>
      </p:sp>
      <p:sp>
        <p:nvSpPr>
          <p:cNvPr id="1048739" name="num"/>
          <p:cNvSpPr/>
          <p:nvPr/>
        </p:nvSpPr>
        <p:spPr>
          <a:xfrm>
            <a:off x="5120640" y="5394960"/>
            <a:ext cx="329184" cy="329184"/>
          </a:xfrm>
          <a:prstGeom prst="ellipse"/>
          <a:solidFill>
            <a:srgbClr val="F26B50"/>
          </a:solidFill>
          <a:ln w="12700">
            <a:solidFill>
              <a:srgbClr val="F26B50"/>
            </a:solidFill>
            <a:prstDash val="solid"/>
          </a:ln>
        </p:spPr>
      </p:sp>
      <p:sp>
        <p:nvSpPr>
          <p:cNvPr id="1048740" name="Text 31"/>
          <p:cNvSpPr txBox="1"/>
          <p:nvPr/>
        </p:nvSpPr>
        <p:spPr>
          <a:xfrm>
            <a:off x="5120640" y="5394960"/>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9</a:t>
            </a:r>
            <a:endParaRPr dirty="0" sz="1200" lang="en-US"/>
          </a:p>
        </p:txBody>
      </p:sp>
      <p:sp>
        <p:nvSpPr>
          <p:cNvPr id="1048741" name="Text 32"/>
          <p:cNvSpPr txBox="1"/>
          <p:nvPr/>
        </p:nvSpPr>
        <p:spPr>
          <a:xfrm>
            <a:off x="5623560" y="5367528"/>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No real-time engagement trends or insights</a:t>
            </a:r>
            <a:endParaRPr dirty="0" sz="1500" lang="en-US"/>
          </a:p>
        </p:txBody>
      </p:sp>
      <p:sp>
        <p:nvSpPr>
          <p:cNvPr id="1048742" name="num"/>
          <p:cNvSpPr/>
          <p:nvPr/>
        </p:nvSpPr>
        <p:spPr>
          <a:xfrm>
            <a:off x="5120640" y="5820156"/>
            <a:ext cx="329184" cy="329184"/>
          </a:xfrm>
          <a:prstGeom prst="ellipse"/>
          <a:solidFill>
            <a:srgbClr val="F26B50"/>
          </a:solidFill>
          <a:ln w="12700">
            <a:solidFill>
              <a:srgbClr val="F26B50"/>
            </a:solidFill>
            <a:prstDash val="solid"/>
          </a:ln>
        </p:spPr>
      </p:sp>
      <p:sp>
        <p:nvSpPr>
          <p:cNvPr id="1048743" name="Text 34"/>
          <p:cNvSpPr txBox="1"/>
          <p:nvPr/>
        </p:nvSpPr>
        <p:spPr>
          <a:xfrm>
            <a:off x="5120640" y="5820156"/>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10</a:t>
            </a:r>
            <a:endParaRPr dirty="0" sz="1200" lang="en-US"/>
          </a:p>
        </p:txBody>
      </p:sp>
      <p:sp>
        <p:nvSpPr>
          <p:cNvPr id="1048744" name="Text 35"/>
          <p:cNvSpPr txBox="1"/>
          <p:nvPr/>
        </p:nvSpPr>
        <p:spPr>
          <a:xfrm>
            <a:off x="5623560" y="5792724"/>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Inconsistent communication, weaker experience</a:t>
            </a:r>
            <a:endParaRPr dirty="0" sz="1500" lang="en-US"/>
          </a:p>
        </p:txBody>
      </p:sp>
      <p:sp>
        <p:nvSpPr>
          <p:cNvPr id="1048745"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40" name=""/>
        <p:cNvGrpSpPr/>
        <p:nvPr/>
      </p:nvGrpSpPr>
      <p:grpSpPr>
        <a:xfrm>
          <a:off x="0" y="0"/>
          <a:ext cx="0" cy="0"/>
          <a:chOff x="0" y="0"/>
          <a:chExt cx="0" cy="0"/>
        </a:xfrm>
      </p:grpSpPr>
      <p:sp>
        <p:nvSpPr>
          <p:cNvPr id="1048749"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Proposed System &amp; its Advantages</a:t>
            </a:r>
            <a:endParaRPr dirty="0" sz="3400" lang="en-US"/>
          </a:p>
        </p:txBody>
      </p:sp>
      <p:sp>
        <p:nvSpPr>
          <p:cNvPr id="1048750" name="card"/>
          <p:cNvSpPr/>
          <p:nvPr/>
        </p:nvSpPr>
        <p:spPr>
          <a:xfrm>
            <a:off x="548640" y="1463040"/>
            <a:ext cx="4206240" cy="4754880"/>
          </a:xfrm>
          <a:prstGeom prst="roundRect">
            <a:avLst>
              <a:gd name="adj" fmla="val 2609"/>
            </a:avLst>
          </a:prstGeom>
          <a:solidFill>
            <a:srgbClr val="EAF6F5"/>
          </a:solidFill>
          <a:ln w="12700">
            <a:solidFill>
              <a:srgbClr val="EAF6F5"/>
            </a:solidFill>
            <a:prstDash val="solid"/>
          </a:ln>
        </p:spPr>
      </p:sp>
      <p:sp>
        <p:nvSpPr>
          <p:cNvPr id="1048751" name="icon-circle"/>
          <p:cNvSpPr/>
          <p:nvPr/>
        </p:nvSpPr>
        <p:spPr>
          <a:xfrm>
            <a:off x="822960" y="1737360"/>
            <a:ext cx="731520" cy="731520"/>
          </a:xfrm>
          <a:prstGeom prst="ellipse"/>
          <a:solidFill>
            <a:srgbClr val="12A19A"/>
          </a:solidFill>
          <a:ln w="12700">
            <a:solidFill>
              <a:srgbClr val="12A19A"/>
            </a:solidFill>
            <a:prstDash val="solid"/>
          </a:ln>
        </p:spPr>
      </p:sp>
      <p:pic>
        <p:nvPicPr>
          <p:cNvPr id="2097177" name="Image 0" descr="Robot icon"/>
          <p:cNvPicPr>
            <a:picLocks noChangeAspect="1"/>
          </p:cNvPicPr>
          <p:nvPr/>
        </p:nvPicPr>
        <p:blipFill>
          <a:blip xmlns:r="http://schemas.openxmlformats.org/officeDocument/2006/relationships" r:embed="rId1"/>
          <a:stretch>
            <a:fillRect/>
          </a:stretch>
        </p:blipFill>
        <p:spPr>
          <a:xfrm>
            <a:off x="1005840" y="1920240"/>
            <a:ext cx="365760" cy="365760"/>
          </a:xfrm>
          <a:prstGeom prst="rect"/>
        </p:spPr>
      </p:pic>
      <p:sp>
        <p:nvSpPr>
          <p:cNvPr id="1048752" name="Text 3"/>
          <p:cNvSpPr txBox="1"/>
          <p:nvPr/>
        </p:nvSpPr>
        <p:spPr>
          <a:xfrm>
            <a:off x="1691640" y="1737360"/>
            <a:ext cx="2926080" cy="731520"/>
          </a:xfrm>
          <a:prstGeom prst="rect"/>
          <a:noFill/>
        </p:spPr>
        <p:txBody>
          <a:bodyPr anchor="ctr" bIns="0" lIns="0" rIns="0" rtlCol="0" tIns="0" wrap="square"/>
          <a:p>
            <a:pPr indent="0" marL="0">
              <a:buNone/>
            </a:pPr>
            <a:r>
              <a:rPr b="1" dirty="0" sz="2200" lang="en-US">
                <a:solidFill>
                  <a:srgbClr val="14213D"/>
                </a:solidFill>
                <a:latin typeface="Cambria" pitchFamily="34" charset="0"/>
                <a:ea typeface="Cambria" pitchFamily="34" charset="-122"/>
                <a:cs typeface="Cambria" pitchFamily="34" charset="-120"/>
              </a:rPr>
              <a:t>Proposed System</a:t>
            </a:r>
            <a:endParaRPr dirty="0" sz="2200" lang="en-US"/>
          </a:p>
        </p:txBody>
      </p:sp>
      <p:sp>
        <p:nvSpPr>
          <p:cNvPr id="1048753" name="Text 4"/>
          <p:cNvSpPr txBox="1"/>
          <p:nvPr/>
        </p:nvSpPr>
        <p:spPr>
          <a:xfrm>
            <a:off x="822960" y="2743200"/>
            <a:ext cx="3611880" cy="3291840"/>
          </a:xfrm>
          <a:prstGeom prst="rect"/>
          <a:noFill/>
        </p:spPr>
        <p:txBody>
          <a:bodyPr anchor="t" bIns="0" lIns="0" rIns="0" rtlCol="0" tIns="0" wrap="square"/>
          <a:p>
            <a:pPr indent="-342900" marL="342900">
              <a:spcAft>
                <a:spcPts val="1200"/>
              </a:spcAft>
              <a:buSzPct val="100000"/>
              <a:buChar char="•"/>
            </a:pPr>
            <a:r>
              <a:rPr dirty="0" sz="1500" lang="en-US">
                <a:solidFill>
                  <a:srgbClr val="1F2937"/>
                </a:solidFill>
                <a:latin typeface="Calibri" pitchFamily="34" charset="0"/>
                <a:ea typeface="Calibri" pitchFamily="34" charset="-122"/>
                <a:cs typeface="Calibri" pitchFamily="34" charset="-120"/>
              </a:rPr>
              <a:t>Centralized GenAI platform for HR assistance, feedback, surveys, notifications and analytics</a:t>
            </a:r>
            <a:endParaRPr dirty="0" sz="1500" lang="en-US"/>
          </a:p>
          <a:p>
            <a:pPr indent="-342900" marL="342900">
              <a:spcAft>
                <a:spcPts val="1200"/>
              </a:spcAft>
              <a:buSzPct val="100000"/>
              <a:buChar char="•"/>
            </a:pPr>
            <a:r>
              <a:rPr dirty="0" sz="1500" lang="en-US">
                <a:solidFill>
                  <a:srgbClr val="1F2937"/>
                </a:solidFill>
                <a:latin typeface="Calibri" pitchFamily="34" charset="0"/>
                <a:ea typeface="Calibri" pitchFamily="34" charset="-122"/>
                <a:cs typeface="Calibri" pitchFamily="34" charset="-120"/>
              </a:rPr>
              <a:t>RAG grounds answers in approved handbooks, policies and FAQs</a:t>
            </a:r>
            <a:endParaRPr dirty="0" sz="1500" lang="en-US"/>
          </a:p>
          <a:p>
            <a:pPr indent="-342900" marL="342900">
              <a:spcAft>
                <a:spcPts val="1200"/>
              </a:spcAft>
              <a:buSzPct val="100000"/>
              <a:buChar char="•"/>
            </a:pPr>
            <a:r>
              <a:rPr dirty="0" sz="1500" lang="en-US">
                <a:solidFill>
                  <a:srgbClr val="1F2937"/>
                </a:solidFill>
                <a:latin typeface="Calibri" pitchFamily="34" charset="0"/>
                <a:ea typeface="Calibri" pitchFamily="34" charset="-122"/>
                <a:cs typeface="Calibri" pitchFamily="34" charset="-120"/>
              </a:rPr>
              <a:t>Sentiment analysis, AI summaries and dashboards guide HR decisions</a:t>
            </a:r>
            <a:endParaRPr dirty="0" sz="1500" lang="en-US"/>
          </a:p>
        </p:txBody>
      </p:sp>
      <p:sp>
        <p:nvSpPr>
          <p:cNvPr id="1048754" name="Text 5"/>
          <p:cNvSpPr txBox="1"/>
          <p:nvPr/>
        </p:nvSpPr>
        <p:spPr>
          <a:xfrm>
            <a:off x="5120640" y="1463040"/>
            <a:ext cx="6400800" cy="411480"/>
          </a:xfrm>
          <a:prstGeom prst="rect"/>
          <a:noFill/>
        </p:spPr>
        <p:txBody>
          <a:bodyPr anchor="ctr" bIns="0" lIns="0" rIns="0" rtlCol="0" tIns="0" wrap="square"/>
          <a:p>
            <a:pPr indent="0" marL="0">
              <a:buNone/>
            </a:pPr>
            <a:r>
              <a:rPr b="1" dirty="0" sz="2000" lang="en-US">
                <a:solidFill>
                  <a:srgbClr val="12A19A"/>
                </a:solidFill>
                <a:latin typeface="Calibri" pitchFamily="34" charset="0"/>
                <a:ea typeface="Calibri" pitchFamily="34" charset="-122"/>
                <a:cs typeface="Calibri" pitchFamily="34" charset="-120"/>
              </a:rPr>
              <a:t>Advantages</a:t>
            </a:r>
            <a:endParaRPr dirty="0" sz="2000" lang="en-US"/>
          </a:p>
        </p:txBody>
      </p:sp>
      <p:sp>
        <p:nvSpPr>
          <p:cNvPr id="1048755" name="num"/>
          <p:cNvSpPr/>
          <p:nvPr/>
        </p:nvSpPr>
        <p:spPr>
          <a:xfrm>
            <a:off x="5120640" y="1993392"/>
            <a:ext cx="329184" cy="329184"/>
          </a:xfrm>
          <a:prstGeom prst="ellipse"/>
          <a:solidFill>
            <a:srgbClr val="12A19A"/>
          </a:solidFill>
          <a:ln w="12700">
            <a:solidFill>
              <a:srgbClr val="12A19A"/>
            </a:solidFill>
            <a:prstDash val="solid"/>
          </a:ln>
        </p:spPr>
      </p:sp>
      <p:sp>
        <p:nvSpPr>
          <p:cNvPr id="1048756" name="Text 7"/>
          <p:cNvSpPr txBox="1"/>
          <p:nvPr/>
        </p:nvSpPr>
        <p:spPr>
          <a:xfrm>
            <a:off x="5120640" y="1993392"/>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1</a:t>
            </a:r>
            <a:endParaRPr dirty="0" sz="1200" lang="en-US"/>
          </a:p>
        </p:txBody>
      </p:sp>
      <p:sp>
        <p:nvSpPr>
          <p:cNvPr id="1048757" name="Text 8"/>
          <p:cNvSpPr txBox="1"/>
          <p:nvPr/>
        </p:nvSpPr>
        <p:spPr>
          <a:xfrm>
            <a:off x="5623560" y="1965960"/>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Instant AI answers to common HR queries</a:t>
            </a:r>
            <a:endParaRPr dirty="0" sz="1500" lang="en-US"/>
          </a:p>
        </p:txBody>
      </p:sp>
      <p:sp>
        <p:nvSpPr>
          <p:cNvPr id="1048758" name="num"/>
          <p:cNvSpPr/>
          <p:nvPr/>
        </p:nvSpPr>
        <p:spPr>
          <a:xfrm>
            <a:off x="5120640" y="2418588"/>
            <a:ext cx="329184" cy="329184"/>
          </a:xfrm>
          <a:prstGeom prst="ellipse"/>
          <a:solidFill>
            <a:srgbClr val="12A19A"/>
          </a:solidFill>
          <a:ln w="12700">
            <a:solidFill>
              <a:srgbClr val="12A19A"/>
            </a:solidFill>
            <a:prstDash val="solid"/>
          </a:ln>
        </p:spPr>
      </p:sp>
      <p:sp>
        <p:nvSpPr>
          <p:cNvPr id="1048759" name="Text 10"/>
          <p:cNvSpPr txBox="1"/>
          <p:nvPr/>
        </p:nvSpPr>
        <p:spPr>
          <a:xfrm>
            <a:off x="5120640" y="2418588"/>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2</a:t>
            </a:r>
            <a:endParaRPr dirty="0" sz="1200" lang="en-US"/>
          </a:p>
        </p:txBody>
      </p:sp>
      <p:sp>
        <p:nvSpPr>
          <p:cNvPr id="1048760" name="Text 11"/>
          <p:cNvSpPr txBox="1"/>
          <p:nvPr/>
        </p:nvSpPr>
        <p:spPr>
          <a:xfrm>
            <a:off x="5623560" y="2391156"/>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Less repetitive workload for HR teams</a:t>
            </a:r>
            <a:endParaRPr dirty="0" sz="1500" lang="en-US"/>
          </a:p>
        </p:txBody>
      </p:sp>
      <p:sp>
        <p:nvSpPr>
          <p:cNvPr id="1048761" name="num"/>
          <p:cNvSpPr/>
          <p:nvPr/>
        </p:nvSpPr>
        <p:spPr>
          <a:xfrm>
            <a:off x="5120640" y="2843784"/>
            <a:ext cx="329184" cy="329184"/>
          </a:xfrm>
          <a:prstGeom prst="ellipse"/>
          <a:solidFill>
            <a:srgbClr val="12A19A"/>
          </a:solidFill>
          <a:ln w="12700">
            <a:solidFill>
              <a:srgbClr val="12A19A"/>
            </a:solidFill>
            <a:prstDash val="solid"/>
          </a:ln>
        </p:spPr>
      </p:sp>
      <p:sp>
        <p:nvSpPr>
          <p:cNvPr id="1048762" name="Text 13"/>
          <p:cNvSpPr txBox="1"/>
          <p:nvPr/>
        </p:nvSpPr>
        <p:spPr>
          <a:xfrm>
            <a:off x="5120640" y="2843784"/>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3</a:t>
            </a:r>
            <a:endParaRPr dirty="0" sz="1200" lang="en-US"/>
          </a:p>
        </p:txBody>
      </p:sp>
      <p:sp>
        <p:nvSpPr>
          <p:cNvPr id="1048763" name="Text 14"/>
          <p:cNvSpPr txBox="1"/>
          <p:nvPr/>
        </p:nvSpPr>
        <p:spPr>
          <a:xfrm>
            <a:off x="5623560" y="2816352"/>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Context-aware answers from company knowledge</a:t>
            </a:r>
            <a:endParaRPr dirty="0" sz="1500" lang="en-US"/>
          </a:p>
        </p:txBody>
      </p:sp>
      <p:sp>
        <p:nvSpPr>
          <p:cNvPr id="1048764" name="num"/>
          <p:cNvSpPr/>
          <p:nvPr/>
        </p:nvSpPr>
        <p:spPr>
          <a:xfrm>
            <a:off x="5120640" y="3268980"/>
            <a:ext cx="329184" cy="329184"/>
          </a:xfrm>
          <a:prstGeom prst="ellipse"/>
          <a:solidFill>
            <a:srgbClr val="12A19A"/>
          </a:solidFill>
          <a:ln w="12700">
            <a:solidFill>
              <a:srgbClr val="12A19A"/>
            </a:solidFill>
            <a:prstDash val="solid"/>
          </a:ln>
        </p:spPr>
      </p:sp>
      <p:sp>
        <p:nvSpPr>
          <p:cNvPr id="1048765" name="Text 16"/>
          <p:cNvSpPr txBox="1"/>
          <p:nvPr/>
        </p:nvSpPr>
        <p:spPr>
          <a:xfrm>
            <a:off x="5120640" y="3268980"/>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4</a:t>
            </a:r>
            <a:endParaRPr dirty="0" sz="1200" lang="en-US"/>
          </a:p>
        </p:txBody>
      </p:sp>
      <p:sp>
        <p:nvSpPr>
          <p:cNvPr id="1048766" name="Text 17"/>
          <p:cNvSpPr txBox="1"/>
          <p:nvPr/>
        </p:nvSpPr>
        <p:spPr>
          <a:xfrm>
            <a:off x="5623560" y="3241548"/>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Engagement, feedback and policies in one place</a:t>
            </a:r>
            <a:endParaRPr dirty="0" sz="1500" lang="en-US"/>
          </a:p>
        </p:txBody>
      </p:sp>
      <p:sp>
        <p:nvSpPr>
          <p:cNvPr id="1048767" name="num"/>
          <p:cNvSpPr/>
          <p:nvPr/>
        </p:nvSpPr>
        <p:spPr>
          <a:xfrm>
            <a:off x="5120640" y="3694176"/>
            <a:ext cx="329184" cy="329184"/>
          </a:xfrm>
          <a:prstGeom prst="ellipse"/>
          <a:solidFill>
            <a:srgbClr val="12A19A"/>
          </a:solidFill>
          <a:ln w="12700">
            <a:solidFill>
              <a:srgbClr val="12A19A"/>
            </a:solidFill>
            <a:prstDash val="solid"/>
          </a:ln>
        </p:spPr>
      </p:sp>
      <p:sp>
        <p:nvSpPr>
          <p:cNvPr id="1048768" name="Text 19"/>
          <p:cNvSpPr txBox="1"/>
          <p:nvPr/>
        </p:nvSpPr>
        <p:spPr>
          <a:xfrm>
            <a:off x="5120640" y="3694176"/>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5</a:t>
            </a:r>
            <a:endParaRPr dirty="0" sz="1200" lang="en-US"/>
          </a:p>
        </p:txBody>
      </p:sp>
      <p:sp>
        <p:nvSpPr>
          <p:cNvPr id="1048769" name="Text 20"/>
          <p:cNvSpPr txBox="1"/>
          <p:nvPr/>
        </p:nvSpPr>
        <p:spPr>
          <a:xfrm>
            <a:off x="5623560" y="3666744"/>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AI-based sentiment analysis of feedback</a:t>
            </a:r>
            <a:endParaRPr dirty="0" sz="1500" lang="en-US"/>
          </a:p>
        </p:txBody>
      </p:sp>
      <p:sp>
        <p:nvSpPr>
          <p:cNvPr id="1048770" name="num"/>
          <p:cNvSpPr/>
          <p:nvPr/>
        </p:nvSpPr>
        <p:spPr>
          <a:xfrm>
            <a:off x="5120640" y="4119372"/>
            <a:ext cx="329184" cy="329184"/>
          </a:xfrm>
          <a:prstGeom prst="ellipse"/>
          <a:solidFill>
            <a:srgbClr val="12A19A"/>
          </a:solidFill>
          <a:ln w="12700">
            <a:solidFill>
              <a:srgbClr val="12A19A"/>
            </a:solidFill>
            <a:prstDash val="solid"/>
          </a:ln>
        </p:spPr>
      </p:sp>
      <p:sp>
        <p:nvSpPr>
          <p:cNvPr id="1048771" name="Text 22"/>
          <p:cNvSpPr txBox="1"/>
          <p:nvPr/>
        </p:nvSpPr>
        <p:spPr>
          <a:xfrm>
            <a:off x="5120640" y="4119372"/>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6</a:t>
            </a:r>
            <a:endParaRPr dirty="0" sz="1200" lang="en-US"/>
          </a:p>
        </p:txBody>
      </p:sp>
      <p:sp>
        <p:nvSpPr>
          <p:cNvPr id="1048772" name="Text 23"/>
          <p:cNvSpPr txBox="1"/>
          <p:nvPr/>
        </p:nvSpPr>
        <p:spPr>
          <a:xfrm>
            <a:off x="5623560" y="4091940"/>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Insights summarized from large feedback volumes</a:t>
            </a:r>
            <a:endParaRPr dirty="0" sz="1500" lang="en-US"/>
          </a:p>
        </p:txBody>
      </p:sp>
      <p:sp>
        <p:nvSpPr>
          <p:cNvPr id="1048773" name="num"/>
          <p:cNvSpPr/>
          <p:nvPr/>
        </p:nvSpPr>
        <p:spPr>
          <a:xfrm>
            <a:off x="5120640" y="4544568"/>
            <a:ext cx="329184" cy="329184"/>
          </a:xfrm>
          <a:prstGeom prst="ellipse"/>
          <a:solidFill>
            <a:srgbClr val="12A19A"/>
          </a:solidFill>
          <a:ln w="12700">
            <a:solidFill>
              <a:srgbClr val="12A19A"/>
            </a:solidFill>
            <a:prstDash val="solid"/>
          </a:ln>
        </p:spPr>
      </p:sp>
      <p:sp>
        <p:nvSpPr>
          <p:cNvPr id="1048774" name="Text 25"/>
          <p:cNvSpPr txBox="1"/>
          <p:nvPr/>
        </p:nvSpPr>
        <p:spPr>
          <a:xfrm>
            <a:off x="5120640" y="4544568"/>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7</a:t>
            </a:r>
            <a:endParaRPr dirty="0" sz="1200" lang="en-US"/>
          </a:p>
        </p:txBody>
      </p:sp>
      <p:sp>
        <p:nvSpPr>
          <p:cNvPr id="1048775" name="Text 26"/>
          <p:cNvSpPr txBox="1"/>
          <p:nvPr/>
        </p:nvSpPr>
        <p:spPr>
          <a:xfrm>
            <a:off x="5623560" y="4517136"/>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Easy access to policies, benefits and guidelines</a:t>
            </a:r>
            <a:endParaRPr dirty="0" sz="1500" lang="en-US"/>
          </a:p>
        </p:txBody>
      </p:sp>
      <p:sp>
        <p:nvSpPr>
          <p:cNvPr id="1048776" name="num"/>
          <p:cNvSpPr/>
          <p:nvPr/>
        </p:nvSpPr>
        <p:spPr>
          <a:xfrm>
            <a:off x="5120640" y="4969764"/>
            <a:ext cx="329184" cy="329184"/>
          </a:xfrm>
          <a:prstGeom prst="ellipse"/>
          <a:solidFill>
            <a:srgbClr val="12A19A"/>
          </a:solidFill>
          <a:ln w="12700">
            <a:solidFill>
              <a:srgbClr val="12A19A"/>
            </a:solidFill>
            <a:prstDash val="solid"/>
          </a:ln>
        </p:spPr>
      </p:sp>
      <p:sp>
        <p:nvSpPr>
          <p:cNvPr id="1048777" name="Text 28"/>
          <p:cNvSpPr txBox="1"/>
          <p:nvPr/>
        </p:nvSpPr>
        <p:spPr>
          <a:xfrm>
            <a:off x="5120640" y="4969764"/>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8</a:t>
            </a:r>
            <a:endParaRPr dirty="0" sz="1200" lang="en-US"/>
          </a:p>
        </p:txBody>
      </p:sp>
      <p:sp>
        <p:nvSpPr>
          <p:cNvPr id="1048778" name="Text 29"/>
          <p:cNvSpPr txBox="1"/>
          <p:nvPr/>
        </p:nvSpPr>
        <p:spPr>
          <a:xfrm>
            <a:off x="5623560" y="4942332"/>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Dashboards and trends for HR decisions</a:t>
            </a:r>
            <a:endParaRPr dirty="0" sz="1500" lang="en-US"/>
          </a:p>
        </p:txBody>
      </p:sp>
      <p:sp>
        <p:nvSpPr>
          <p:cNvPr id="1048779" name="num"/>
          <p:cNvSpPr/>
          <p:nvPr/>
        </p:nvSpPr>
        <p:spPr>
          <a:xfrm>
            <a:off x="5120640" y="5394960"/>
            <a:ext cx="329184" cy="329184"/>
          </a:xfrm>
          <a:prstGeom prst="ellipse"/>
          <a:solidFill>
            <a:srgbClr val="12A19A"/>
          </a:solidFill>
          <a:ln w="12700">
            <a:solidFill>
              <a:srgbClr val="12A19A"/>
            </a:solidFill>
            <a:prstDash val="solid"/>
          </a:ln>
        </p:spPr>
      </p:sp>
      <p:sp>
        <p:nvSpPr>
          <p:cNvPr id="1048780" name="Text 31"/>
          <p:cNvSpPr txBox="1"/>
          <p:nvPr/>
        </p:nvSpPr>
        <p:spPr>
          <a:xfrm>
            <a:off x="5120640" y="5394960"/>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9</a:t>
            </a:r>
            <a:endParaRPr dirty="0" sz="1200" lang="en-US"/>
          </a:p>
        </p:txBody>
      </p:sp>
      <p:sp>
        <p:nvSpPr>
          <p:cNvPr id="1048781" name="Text 32"/>
          <p:cNvSpPr txBox="1"/>
          <p:nvPr/>
        </p:nvSpPr>
        <p:spPr>
          <a:xfrm>
            <a:off x="5623560" y="5367528"/>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Simple participation in surveys and pulse checks</a:t>
            </a:r>
            <a:endParaRPr dirty="0" sz="1500" lang="en-US"/>
          </a:p>
        </p:txBody>
      </p:sp>
      <p:sp>
        <p:nvSpPr>
          <p:cNvPr id="1048782" name="num"/>
          <p:cNvSpPr/>
          <p:nvPr/>
        </p:nvSpPr>
        <p:spPr>
          <a:xfrm>
            <a:off x="5120640" y="5820156"/>
            <a:ext cx="329184" cy="329184"/>
          </a:xfrm>
          <a:prstGeom prst="ellipse"/>
          <a:solidFill>
            <a:srgbClr val="12A19A"/>
          </a:solidFill>
          <a:ln w="12700">
            <a:solidFill>
              <a:srgbClr val="12A19A"/>
            </a:solidFill>
            <a:prstDash val="solid"/>
          </a:ln>
        </p:spPr>
      </p:sp>
      <p:sp>
        <p:nvSpPr>
          <p:cNvPr id="1048783" name="Text 34"/>
          <p:cNvSpPr txBox="1"/>
          <p:nvPr/>
        </p:nvSpPr>
        <p:spPr>
          <a:xfrm>
            <a:off x="5120640" y="5820156"/>
            <a:ext cx="329184" cy="329184"/>
          </a:xfrm>
          <a:prstGeom prst="rect"/>
          <a:noFill/>
        </p:spPr>
        <p:txBody>
          <a:bodyPr anchor="ctr" bIns="0" lIns="0" rIns="0" rtlCol="0" tIns="0" wrap="square"/>
          <a:p>
            <a:pPr algn="ctr" indent="0" marL="0">
              <a:buNone/>
            </a:pPr>
            <a:r>
              <a:rPr b="1" dirty="0" sz="1200" lang="en-US">
                <a:solidFill>
                  <a:srgbClr val="FFFFFF"/>
                </a:solidFill>
                <a:latin typeface="Calibri" pitchFamily="34" charset="0"/>
                <a:ea typeface="Calibri" pitchFamily="34" charset="-122"/>
                <a:cs typeface="Calibri" pitchFamily="34" charset="-120"/>
              </a:rPr>
              <a:t>10</a:t>
            </a:r>
            <a:endParaRPr dirty="0" sz="1200" lang="en-US"/>
          </a:p>
        </p:txBody>
      </p:sp>
      <p:sp>
        <p:nvSpPr>
          <p:cNvPr id="1048784" name="Text 35"/>
          <p:cNvSpPr txBox="1"/>
          <p:nvPr/>
        </p:nvSpPr>
        <p:spPr>
          <a:xfrm>
            <a:off x="5623560" y="5792724"/>
            <a:ext cx="5989320" cy="384048"/>
          </a:xfrm>
          <a:prstGeom prst="rect"/>
          <a:noFill/>
        </p:spPr>
        <p:txBody>
          <a:bodyPr anchor="ctr" bIns="0" lIns="0" rIns="0" rtlCol="0" tIns="0" wrap="square"/>
          <a:p>
            <a:pPr indent="0" marL="0">
              <a:buNone/>
            </a:pPr>
            <a:r>
              <a:rPr dirty="0" sz="1500" lang="en-US">
                <a:solidFill>
                  <a:srgbClr val="1F2937"/>
                </a:solidFill>
                <a:latin typeface="Calibri" pitchFamily="34" charset="0"/>
                <a:ea typeface="Calibri" pitchFamily="34" charset="-122"/>
                <a:cs typeface="Calibri" pitchFamily="34" charset="-120"/>
              </a:rPr>
              <a:t>Faster, more consistent employee experience</a:t>
            </a:r>
            <a:endParaRPr dirty="0" sz="1500" lang="en-US"/>
          </a:p>
        </p:txBody>
      </p:sp>
      <p:sp>
        <p:nvSpPr>
          <p:cNvPr id="1048785"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43" name=""/>
        <p:cNvGrpSpPr/>
        <p:nvPr/>
      </p:nvGrpSpPr>
      <p:grpSpPr>
        <a:xfrm>
          <a:off x="0" y="0"/>
          <a:ext cx="0" cy="0"/>
          <a:chOff x="0" y="0"/>
          <a:chExt cx="0" cy="0"/>
        </a:xfrm>
      </p:grpSpPr>
      <p:sp>
        <p:nvSpPr>
          <p:cNvPr id="1048789"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System Architecture</a:t>
            </a:r>
            <a:endParaRPr dirty="0" sz="3400" lang="en-US"/>
          </a:p>
        </p:txBody>
      </p:sp>
      <p:pic>
        <p:nvPicPr>
          <p:cNvPr id="2097178" name="Image 0" descr="HRCompanion high-level software architecture diagram"/>
          <p:cNvPicPr>
            <a:picLocks noChangeAspect="1"/>
          </p:cNvPicPr>
          <p:nvPr/>
        </p:nvPicPr>
        <p:blipFill>
          <a:blip xmlns:r="http://schemas.openxmlformats.org/officeDocument/2006/relationships" r:embed="rId1"/>
          <a:stretch>
            <a:fillRect/>
          </a:stretch>
        </p:blipFill>
        <p:spPr>
          <a:xfrm>
            <a:off x="548640" y="1325880"/>
            <a:ext cx="7338060" cy="4892040"/>
          </a:xfrm>
          <a:prstGeom prst="rect"/>
        </p:spPr>
      </p:pic>
      <p:sp>
        <p:nvSpPr>
          <p:cNvPr id="1048790" name="card"/>
          <p:cNvSpPr/>
          <p:nvPr/>
        </p:nvSpPr>
        <p:spPr>
          <a:xfrm>
            <a:off x="8229600" y="1417320"/>
            <a:ext cx="3383280" cy="1097280"/>
          </a:xfrm>
          <a:prstGeom prst="roundRect">
            <a:avLst>
              <a:gd name="adj" fmla="val 10000"/>
            </a:avLst>
          </a:prstGeom>
          <a:solidFill>
            <a:srgbClr val="F5F7FA"/>
          </a:solidFill>
          <a:ln w="12700">
            <a:solidFill>
              <a:srgbClr val="F5F7FA"/>
            </a:solidFill>
            <a:prstDash val="solid"/>
          </a:ln>
        </p:spPr>
      </p:sp>
      <p:sp>
        <p:nvSpPr>
          <p:cNvPr id="1048791" name="Text 2"/>
          <p:cNvSpPr txBox="1"/>
          <p:nvPr/>
        </p:nvSpPr>
        <p:spPr>
          <a:xfrm>
            <a:off x="8412480" y="1527048"/>
            <a:ext cx="3017520" cy="365760"/>
          </a:xfrm>
          <a:prstGeom prst="rect"/>
          <a:noFill/>
        </p:spPr>
        <p:txBody>
          <a:bodyPr anchor="ctr" bIns="0" lIns="0" rIns="0" rtlCol="0" tIns="0" wrap="square"/>
          <a:p>
            <a:pPr indent="0" marL="0">
              <a:buNone/>
            </a:pPr>
            <a:r>
              <a:rPr b="1" dirty="0" sz="1600" lang="en-US">
                <a:solidFill>
                  <a:srgbClr val="12A19A"/>
                </a:solidFill>
                <a:latin typeface="Calibri" pitchFamily="34" charset="0"/>
                <a:ea typeface="Calibri" pitchFamily="34" charset="-122"/>
                <a:cs typeface="Calibri" pitchFamily="34" charset="-120"/>
              </a:rPr>
              <a:t>User / Input Layer</a:t>
            </a:r>
            <a:endParaRPr dirty="0" sz="1600" lang="en-US"/>
          </a:p>
        </p:txBody>
      </p:sp>
      <p:sp>
        <p:nvSpPr>
          <p:cNvPr id="1048792" name="Text 3"/>
          <p:cNvSpPr txBox="1"/>
          <p:nvPr/>
        </p:nvSpPr>
        <p:spPr>
          <a:xfrm>
            <a:off x="8412480" y="1892808"/>
            <a:ext cx="3063240" cy="54864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Portal, chatbot, feedback, requests</a:t>
            </a:r>
            <a:endParaRPr dirty="0" sz="1400" lang="en-US"/>
          </a:p>
        </p:txBody>
      </p:sp>
      <p:sp>
        <p:nvSpPr>
          <p:cNvPr id="1048793" name="card"/>
          <p:cNvSpPr/>
          <p:nvPr/>
        </p:nvSpPr>
        <p:spPr>
          <a:xfrm>
            <a:off x="8229600" y="2651760"/>
            <a:ext cx="3383280" cy="1097280"/>
          </a:xfrm>
          <a:prstGeom prst="roundRect">
            <a:avLst>
              <a:gd name="adj" fmla="val 10000"/>
            </a:avLst>
          </a:prstGeom>
          <a:solidFill>
            <a:srgbClr val="F5F7FA"/>
          </a:solidFill>
          <a:ln w="12700">
            <a:solidFill>
              <a:srgbClr val="F5F7FA"/>
            </a:solidFill>
            <a:prstDash val="solid"/>
          </a:ln>
        </p:spPr>
      </p:sp>
      <p:sp>
        <p:nvSpPr>
          <p:cNvPr id="1048794" name="Text 5"/>
          <p:cNvSpPr txBox="1"/>
          <p:nvPr/>
        </p:nvSpPr>
        <p:spPr>
          <a:xfrm>
            <a:off x="8412480" y="2761488"/>
            <a:ext cx="3017520" cy="365760"/>
          </a:xfrm>
          <a:prstGeom prst="rect"/>
          <a:noFill/>
        </p:spPr>
        <p:txBody>
          <a:bodyPr anchor="ctr" bIns="0" lIns="0" rIns="0" rtlCol="0" tIns="0" wrap="square"/>
          <a:p>
            <a:pPr indent="0" marL="0">
              <a:buNone/>
            </a:pPr>
            <a:r>
              <a:rPr b="1" dirty="0" sz="1600" lang="en-US">
                <a:solidFill>
                  <a:srgbClr val="12A19A"/>
                </a:solidFill>
                <a:latin typeface="Calibri" pitchFamily="34" charset="0"/>
                <a:ea typeface="Calibri" pitchFamily="34" charset="-122"/>
                <a:cs typeface="Calibri" pitchFamily="34" charset="-120"/>
              </a:rPr>
              <a:t>Core System</a:t>
            </a:r>
            <a:endParaRPr dirty="0" sz="1600" lang="en-US"/>
          </a:p>
        </p:txBody>
      </p:sp>
      <p:sp>
        <p:nvSpPr>
          <p:cNvPr id="1048795" name="Text 6"/>
          <p:cNvSpPr txBox="1"/>
          <p:nvPr/>
        </p:nvSpPr>
        <p:spPr>
          <a:xfrm>
            <a:off x="8412480" y="3127248"/>
            <a:ext cx="3063240" cy="54864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NLP, GenAI engine, analytics, data layer</a:t>
            </a:r>
            <a:endParaRPr dirty="0" sz="1400" lang="en-US"/>
          </a:p>
        </p:txBody>
      </p:sp>
      <p:sp>
        <p:nvSpPr>
          <p:cNvPr id="1048796" name="card"/>
          <p:cNvSpPr/>
          <p:nvPr/>
        </p:nvSpPr>
        <p:spPr>
          <a:xfrm>
            <a:off x="8229600" y="3886200"/>
            <a:ext cx="3383280" cy="1097280"/>
          </a:xfrm>
          <a:prstGeom prst="roundRect">
            <a:avLst>
              <a:gd name="adj" fmla="val 10000"/>
            </a:avLst>
          </a:prstGeom>
          <a:solidFill>
            <a:srgbClr val="F5F7FA"/>
          </a:solidFill>
          <a:ln w="12700">
            <a:solidFill>
              <a:srgbClr val="F5F7FA"/>
            </a:solidFill>
            <a:prstDash val="solid"/>
          </a:ln>
        </p:spPr>
      </p:sp>
      <p:sp>
        <p:nvSpPr>
          <p:cNvPr id="1048797" name="Text 8"/>
          <p:cNvSpPr txBox="1"/>
          <p:nvPr/>
        </p:nvSpPr>
        <p:spPr>
          <a:xfrm>
            <a:off x="8412480" y="3995928"/>
            <a:ext cx="3017520" cy="365760"/>
          </a:xfrm>
          <a:prstGeom prst="rect"/>
          <a:noFill/>
        </p:spPr>
        <p:txBody>
          <a:bodyPr anchor="ctr" bIns="0" lIns="0" rIns="0" rtlCol="0" tIns="0" wrap="square"/>
          <a:p>
            <a:pPr indent="0" marL="0">
              <a:buNone/>
            </a:pPr>
            <a:r>
              <a:rPr b="1" dirty="0" sz="1600" lang="en-US">
                <a:solidFill>
                  <a:srgbClr val="F26B50"/>
                </a:solidFill>
                <a:latin typeface="Calibri" pitchFamily="34" charset="0"/>
                <a:ea typeface="Calibri" pitchFamily="34" charset="-122"/>
                <a:cs typeface="Calibri" pitchFamily="34" charset="-120"/>
              </a:rPr>
              <a:t>Output Layer</a:t>
            </a:r>
            <a:endParaRPr dirty="0" sz="1600" lang="en-US"/>
          </a:p>
        </p:txBody>
      </p:sp>
      <p:sp>
        <p:nvSpPr>
          <p:cNvPr id="1048798" name="Text 9"/>
          <p:cNvSpPr txBox="1"/>
          <p:nvPr/>
        </p:nvSpPr>
        <p:spPr>
          <a:xfrm>
            <a:off x="8412480" y="4361688"/>
            <a:ext cx="3063240" cy="54864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Answers, guidance, reports, alerts</a:t>
            </a:r>
            <a:endParaRPr dirty="0" sz="1400" lang="en-US"/>
          </a:p>
        </p:txBody>
      </p:sp>
      <p:sp>
        <p:nvSpPr>
          <p:cNvPr id="1048799" name="card"/>
          <p:cNvSpPr/>
          <p:nvPr/>
        </p:nvSpPr>
        <p:spPr>
          <a:xfrm>
            <a:off x="8229600" y="5120640"/>
            <a:ext cx="3383280" cy="1097280"/>
          </a:xfrm>
          <a:prstGeom prst="roundRect">
            <a:avLst>
              <a:gd name="adj" fmla="val 10000"/>
            </a:avLst>
          </a:prstGeom>
          <a:solidFill>
            <a:srgbClr val="F5F7FA"/>
          </a:solidFill>
          <a:ln w="12700">
            <a:solidFill>
              <a:srgbClr val="F5F7FA"/>
            </a:solidFill>
            <a:prstDash val="solid"/>
          </a:ln>
        </p:spPr>
      </p:sp>
      <p:sp>
        <p:nvSpPr>
          <p:cNvPr id="1048800" name="Text 11"/>
          <p:cNvSpPr txBox="1"/>
          <p:nvPr/>
        </p:nvSpPr>
        <p:spPr>
          <a:xfrm>
            <a:off x="8412480" y="5230368"/>
            <a:ext cx="3017520" cy="365760"/>
          </a:xfrm>
          <a:prstGeom prst="rect"/>
          <a:noFill/>
        </p:spPr>
        <p:txBody>
          <a:bodyPr anchor="ctr" bIns="0" lIns="0" rIns="0" rtlCol="0" tIns="0" wrap="square"/>
          <a:p>
            <a:pPr indent="0" marL="0">
              <a:buNone/>
            </a:pPr>
            <a:r>
              <a:rPr b="1" dirty="0" sz="1600" lang="en-US">
                <a:solidFill>
                  <a:srgbClr val="14213D"/>
                </a:solidFill>
                <a:latin typeface="Calibri" pitchFamily="34" charset="0"/>
                <a:ea typeface="Calibri" pitchFamily="34" charset="-122"/>
                <a:cs typeface="Calibri" pitchFamily="34" charset="-120"/>
              </a:rPr>
              <a:t>Admin Layer</a:t>
            </a:r>
            <a:endParaRPr dirty="0" sz="1600" lang="en-US"/>
          </a:p>
        </p:txBody>
      </p:sp>
      <p:sp>
        <p:nvSpPr>
          <p:cNvPr id="1048801" name="Text 12"/>
          <p:cNvSpPr txBox="1"/>
          <p:nvPr/>
        </p:nvSpPr>
        <p:spPr>
          <a:xfrm>
            <a:off x="8412480" y="5596128"/>
            <a:ext cx="3063240" cy="548640"/>
          </a:xfrm>
          <a:prstGeom prst="rect"/>
          <a:noFill/>
        </p:spPr>
        <p:txBody>
          <a:bodyPr anchor="t" bIns="0" lIns="0" rIns="0" rtlCol="0" tIns="0" wrap="square"/>
          <a:p>
            <a:pPr indent="0" marL="0">
              <a:buNone/>
            </a:pPr>
            <a:r>
              <a:rPr dirty="0" sz="1400" lang="en-US">
                <a:solidFill>
                  <a:srgbClr val="1F2937"/>
                </a:solidFill>
                <a:latin typeface="Calibri" pitchFamily="34" charset="0"/>
                <a:ea typeface="Calibri" pitchFamily="34" charset="-122"/>
                <a:cs typeface="Calibri" pitchFamily="34" charset="-120"/>
              </a:rPr>
              <a:t>HR panel: roles, knowledge, surveys</a:t>
            </a:r>
            <a:endParaRPr dirty="0" sz="1400" lang="en-US"/>
          </a:p>
        </p:txBody>
      </p:sp>
      <p:sp>
        <p:nvSpPr>
          <p:cNvPr id="1048802"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46" name=""/>
        <p:cNvGrpSpPr/>
        <p:nvPr/>
      </p:nvGrpSpPr>
      <p:grpSpPr>
        <a:xfrm>
          <a:off x="0" y="0"/>
          <a:ext cx="0" cy="0"/>
          <a:chOff x="0" y="0"/>
          <a:chExt cx="0" cy="0"/>
        </a:xfrm>
      </p:grpSpPr>
      <p:sp>
        <p:nvSpPr>
          <p:cNvPr id="1048806"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Modules</a:t>
            </a:r>
            <a:endParaRPr dirty="0" sz="3400" lang="en-US"/>
          </a:p>
        </p:txBody>
      </p:sp>
      <p:sp>
        <p:nvSpPr>
          <p:cNvPr id="1048807" name="card"/>
          <p:cNvSpPr/>
          <p:nvPr/>
        </p:nvSpPr>
        <p:spPr>
          <a:xfrm>
            <a:off x="548640" y="1371600"/>
            <a:ext cx="2697480" cy="1005840"/>
          </a:xfrm>
          <a:prstGeom prst="roundRect">
            <a:avLst>
              <a:gd name="adj" fmla="val 10909"/>
            </a:avLst>
          </a:prstGeom>
          <a:solidFill>
            <a:srgbClr val="EAF6F5"/>
          </a:solidFill>
          <a:ln w="12700">
            <a:solidFill>
              <a:srgbClr val="EAF6F5"/>
            </a:solidFill>
            <a:prstDash val="solid"/>
          </a:ln>
        </p:spPr>
      </p:sp>
      <p:sp>
        <p:nvSpPr>
          <p:cNvPr id="1048808" name="num"/>
          <p:cNvSpPr/>
          <p:nvPr/>
        </p:nvSpPr>
        <p:spPr>
          <a:xfrm>
            <a:off x="685800" y="1645920"/>
            <a:ext cx="457200" cy="457200"/>
          </a:xfrm>
          <a:prstGeom prst="ellipse"/>
          <a:solidFill>
            <a:srgbClr val="12A19A"/>
          </a:solidFill>
          <a:ln w="12700">
            <a:solidFill>
              <a:srgbClr val="12A19A"/>
            </a:solidFill>
            <a:prstDash val="solid"/>
          </a:ln>
        </p:spPr>
      </p:sp>
      <p:sp>
        <p:nvSpPr>
          <p:cNvPr id="1048809" name="Text 3"/>
          <p:cNvSpPr txBox="1"/>
          <p:nvPr/>
        </p:nvSpPr>
        <p:spPr>
          <a:xfrm>
            <a:off x="685800" y="1645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1</a:t>
            </a:r>
            <a:endParaRPr dirty="0" sz="1400" lang="en-US"/>
          </a:p>
        </p:txBody>
      </p:sp>
      <p:sp>
        <p:nvSpPr>
          <p:cNvPr id="1048810" name="Text 4"/>
          <p:cNvSpPr txBox="1"/>
          <p:nvPr/>
        </p:nvSpPr>
        <p:spPr>
          <a:xfrm>
            <a:off x="1280160" y="1463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Admin / HR</a:t>
            </a:r>
            <a:endParaRPr dirty="0" sz="1400" lang="en-US"/>
          </a:p>
        </p:txBody>
      </p:sp>
      <p:sp>
        <p:nvSpPr>
          <p:cNvPr id="1048811" name="Text 5"/>
          <p:cNvSpPr txBox="1"/>
          <p:nvPr/>
        </p:nvSpPr>
        <p:spPr>
          <a:xfrm>
            <a:off x="1280160" y="1965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Central control and reports</a:t>
            </a:r>
            <a:endParaRPr dirty="0" sz="1200" lang="en-US"/>
          </a:p>
        </p:txBody>
      </p:sp>
      <p:sp>
        <p:nvSpPr>
          <p:cNvPr id="1048812" name="card"/>
          <p:cNvSpPr/>
          <p:nvPr/>
        </p:nvSpPr>
        <p:spPr>
          <a:xfrm>
            <a:off x="3368010" y="1371600"/>
            <a:ext cx="2697480" cy="1005840"/>
          </a:xfrm>
          <a:prstGeom prst="roundRect">
            <a:avLst>
              <a:gd name="adj" fmla="val 10909"/>
            </a:avLst>
          </a:prstGeom>
          <a:solidFill>
            <a:srgbClr val="EAF6F5"/>
          </a:solidFill>
          <a:ln w="12700">
            <a:solidFill>
              <a:srgbClr val="EAF6F5"/>
            </a:solidFill>
            <a:prstDash val="solid"/>
          </a:ln>
        </p:spPr>
      </p:sp>
      <p:sp>
        <p:nvSpPr>
          <p:cNvPr id="1048813" name="num"/>
          <p:cNvSpPr/>
          <p:nvPr/>
        </p:nvSpPr>
        <p:spPr>
          <a:xfrm>
            <a:off x="3505170" y="1645920"/>
            <a:ext cx="457200" cy="457200"/>
          </a:xfrm>
          <a:prstGeom prst="ellipse"/>
          <a:solidFill>
            <a:srgbClr val="12A19A"/>
          </a:solidFill>
          <a:ln w="12700">
            <a:solidFill>
              <a:srgbClr val="12A19A"/>
            </a:solidFill>
            <a:prstDash val="solid"/>
          </a:ln>
        </p:spPr>
      </p:sp>
      <p:sp>
        <p:nvSpPr>
          <p:cNvPr id="1048814" name="Text 8"/>
          <p:cNvSpPr txBox="1"/>
          <p:nvPr/>
        </p:nvSpPr>
        <p:spPr>
          <a:xfrm>
            <a:off x="3505170" y="1645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2</a:t>
            </a:r>
            <a:endParaRPr dirty="0" sz="1400" lang="en-US"/>
          </a:p>
        </p:txBody>
      </p:sp>
      <p:sp>
        <p:nvSpPr>
          <p:cNvPr id="1048815" name="Text 9"/>
          <p:cNvSpPr txBox="1"/>
          <p:nvPr/>
        </p:nvSpPr>
        <p:spPr>
          <a:xfrm>
            <a:off x="4099530" y="1463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Employee</a:t>
            </a:r>
            <a:endParaRPr dirty="0" sz="1400" lang="en-US"/>
          </a:p>
        </p:txBody>
      </p:sp>
      <p:sp>
        <p:nvSpPr>
          <p:cNvPr id="1048816" name="Text 10"/>
          <p:cNvSpPr txBox="1"/>
          <p:nvPr/>
        </p:nvSpPr>
        <p:spPr>
          <a:xfrm>
            <a:off x="4099530" y="1965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Personalized HR workspace</a:t>
            </a:r>
            <a:endParaRPr dirty="0" sz="1200" lang="en-US"/>
          </a:p>
        </p:txBody>
      </p:sp>
      <p:sp>
        <p:nvSpPr>
          <p:cNvPr id="1048817" name="card"/>
          <p:cNvSpPr/>
          <p:nvPr/>
        </p:nvSpPr>
        <p:spPr>
          <a:xfrm>
            <a:off x="6187379" y="1371600"/>
            <a:ext cx="2697480" cy="1005840"/>
          </a:xfrm>
          <a:prstGeom prst="roundRect">
            <a:avLst>
              <a:gd name="adj" fmla="val 10909"/>
            </a:avLst>
          </a:prstGeom>
          <a:solidFill>
            <a:srgbClr val="EEF1F7"/>
          </a:solidFill>
          <a:ln w="12700">
            <a:solidFill>
              <a:srgbClr val="EEF1F7"/>
            </a:solidFill>
            <a:prstDash val="solid"/>
          </a:ln>
        </p:spPr>
      </p:sp>
      <p:sp>
        <p:nvSpPr>
          <p:cNvPr id="1048818" name="num"/>
          <p:cNvSpPr/>
          <p:nvPr/>
        </p:nvSpPr>
        <p:spPr>
          <a:xfrm>
            <a:off x="6324539" y="1645920"/>
            <a:ext cx="457200" cy="457200"/>
          </a:xfrm>
          <a:prstGeom prst="ellipse"/>
          <a:solidFill>
            <a:srgbClr val="14213D"/>
          </a:solidFill>
          <a:ln w="12700">
            <a:solidFill>
              <a:srgbClr val="14213D"/>
            </a:solidFill>
            <a:prstDash val="solid"/>
          </a:ln>
        </p:spPr>
      </p:sp>
      <p:sp>
        <p:nvSpPr>
          <p:cNvPr id="1048819" name="Text 13"/>
          <p:cNvSpPr txBox="1"/>
          <p:nvPr/>
        </p:nvSpPr>
        <p:spPr>
          <a:xfrm>
            <a:off x="6324539" y="1645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3</a:t>
            </a:r>
            <a:endParaRPr dirty="0" sz="1400" lang="en-US"/>
          </a:p>
        </p:txBody>
      </p:sp>
      <p:sp>
        <p:nvSpPr>
          <p:cNvPr id="1048820" name="Text 14"/>
          <p:cNvSpPr txBox="1"/>
          <p:nvPr/>
        </p:nvSpPr>
        <p:spPr>
          <a:xfrm>
            <a:off x="6918899" y="1463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Employee Management</a:t>
            </a:r>
            <a:endParaRPr dirty="0" sz="1400" lang="en-US"/>
          </a:p>
        </p:txBody>
      </p:sp>
      <p:sp>
        <p:nvSpPr>
          <p:cNvPr id="1048821" name="Text 15"/>
          <p:cNvSpPr txBox="1"/>
          <p:nvPr/>
        </p:nvSpPr>
        <p:spPr>
          <a:xfrm>
            <a:off x="6918899" y="1965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Profiles and status</a:t>
            </a:r>
            <a:endParaRPr dirty="0" sz="1200" lang="en-US"/>
          </a:p>
        </p:txBody>
      </p:sp>
      <p:sp>
        <p:nvSpPr>
          <p:cNvPr id="1048822" name="card"/>
          <p:cNvSpPr/>
          <p:nvPr/>
        </p:nvSpPr>
        <p:spPr>
          <a:xfrm>
            <a:off x="9006749" y="1371600"/>
            <a:ext cx="2697480" cy="1005840"/>
          </a:xfrm>
          <a:prstGeom prst="roundRect">
            <a:avLst>
              <a:gd name="adj" fmla="val 10909"/>
            </a:avLst>
          </a:prstGeom>
          <a:solidFill>
            <a:srgbClr val="F5F7FA"/>
          </a:solidFill>
          <a:ln w="12700">
            <a:solidFill>
              <a:srgbClr val="F5F7FA"/>
            </a:solidFill>
            <a:prstDash val="solid"/>
          </a:ln>
        </p:spPr>
      </p:sp>
      <p:sp>
        <p:nvSpPr>
          <p:cNvPr id="1048823" name="num"/>
          <p:cNvSpPr/>
          <p:nvPr/>
        </p:nvSpPr>
        <p:spPr>
          <a:xfrm>
            <a:off x="9143909" y="1645920"/>
            <a:ext cx="457200" cy="457200"/>
          </a:xfrm>
          <a:prstGeom prst="ellipse"/>
          <a:solidFill>
            <a:srgbClr val="14213D"/>
          </a:solidFill>
          <a:ln w="12700">
            <a:solidFill>
              <a:srgbClr val="14213D"/>
            </a:solidFill>
            <a:prstDash val="solid"/>
          </a:ln>
        </p:spPr>
      </p:sp>
      <p:sp>
        <p:nvSpPr>
          <p:cNvPr id="1048824" name="Text 18"/>
          <p:cNvSpPr txBox="1"/>
          <p:nvPr/>
        </p:nvSpPr>
        <p:spPr>
          <a:xfrm>
            <a:off x="9143909" y="1645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4</a:t>
            </a:r>
            <a:endParaRPr dirty="0" sz="1400" lang="en-US"/>
          </a:p>
        </p:txBody>
      </p:sp>
      <p:sp>
        <p:nvSpPr>
          <p:cNvPr id="1048825" name="Text 19"/>
          <p:cNvSpPr txBox="1"/>
          <p:nvPr/>
        </p:nvSpPr>
        <p:spPr>
          <a:xfrm>
            <a:off x="9738269" y="1463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Department &amp; Designation</a:t>
            </a:r>
            <a:endParaRPr dirty="0" sz="1400" lang="en-US"/>
          </a:p>
        </p:txBody>
      </p:sp>
      <p:sp>
        <p:nvSpPr>
          <p:cNvPr id="1048826" name="Text 20"/>
          <p:cNvSpPr txBox="1"/>
          <p:nvPr/>
        </p:nvSpPr>
        <p:spPr>
          <a:xfrm>
            <a:off x="9738269" y="1965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Org structure and roles</a:t>
            </a:r>
            <a:endParaRPr dirty="0" sz="1200" lang="en-US"/>
          </a:p>
        </p:txBody>
      </p:sp>
      <p:sp>
        <p:nvSpPr>
          <p:cNvPr id="1048827" name="card"/>
          <p:cNvSpPr/>
          <p:nvPr/>
        </p:nvSpPr>
        <p:spPr>
          <a:xfrm>
            <a:off x="548640" y="2514600"/>
            <a:ext cx="2697480" cy="1005840"/>
          </a:xfrm>
          <a:prstGeom prst="roundRect">
            <a:avLst>
              <a:gd name="adj" fmla="val 10909"/>
            </a:avLst>
          </a:prstGeom>
          <a:solidFill>
            <a:srgbClr val="EEF1F7"/>
          </a:solidFill>
          <a:ln w="12700">
            <a:solidFill>
              <a:srgbClr val="EEF1F7"/>
            </a:solidFill>
            <a:prstDash val="solid"/>
          </a:ln>
        </p:spPr>
      </p:sp>
      <p:sp>
        <p:nvSpPr>
          <p:cNvPr id="1048828" name="num"/>
          <p:cNvSpPr/>
          <p:nvPr/>
        </p:nvSpPr>
        <p:spPr>
          <a:xfrm>
            <a:off x="685800" y="2788920"/>
            <a:ext cx="457200" cy="457200"/>
          </a:xfrm>
          <a:prstGeom prst="ellipse"/>
          <a:solidFill>
            <a:srgbClr val="14213D"/>
          </a:solidFill>
          <a:ln w="12700">
            <a:solidFill>
              <a:srgbClr val="14213D"/>
            </a:solidFill>
            <a:prstDash val="solid"/>
          </a:ln>
        </p:spPr>
      </p:sp>
      <p:sp>
        <p:nvSpPr>
          <p:cNvPr id="1048829" name="Text 23"/>
          <p:cNvSpPr txBox="1"/>
          <p:nvPr/>
        </p:nvSpPr>
        <p:spPr>
          <a:xfrm>
            <a:off x="685800" y="2788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5</a:t>
            </a:r>
            <a:endParaRPr dirty="0" sz="1400" lang="en-US"/>
          </a:p>
        </p:txBody>
      </p:sp>
      <p:sp>
        <p:nvSpPr>
          <p:cNvPr id="1048830" name="Text 24"/>
          <p:cNvSpPr txBox="1"/>
          <p:nvPr/>
        </p:nvSpPr>
        <p:spPr>
          <a:xfrm>
            <a:off x="1280160" y="2606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GenAI HR Companion</a:t>
            </a:r>
            <a:endParaRPr dirty="0" sz="1400" lang="en-US"/>
          </a:p>
        </p:txBody>
      </p:sp>
      <p:sp>
        <p:nvSpPr>
          <p:cNvPr id="1048831" name="Text 25"/>
          <p:cNvSpPr txBox="1"/>
          <p:nvPr/>
        </p:nvSpPr>
        <p:spPr>
          <a:xfrm>
            <a:off x="1280160" y="3108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Conversational HR Q&amp;A</a:t>
            </a:r>
            <a:endParaRPr dirty="0" sz="1200" lang="en-US"/>
          </a:p>
        </p:txBody>
      </p:sp>
      <p:sp>
        <p:nvSpPr>
          <p:cNvPr id="1048832" name="card"/>
          <p:cNvSpPr/>
          <p:nvPr/>
        </p:nvSpPr>
        <p:spPr>
          <a:xfrm>
            <a:off x="3368010" y="2514600"/>
            <a:ext cx="2697480" cy="1005840"/>
          </a:xfrm>
          <a:prstGeom prst="roundRect">
            <a:avLst>
              <a:gd name="adj" fmla="val 10909"/>
            </a:avLst>
          </a:prstGeom>
          <a:solidFill>
            <a:srgbClr val="F5F7FA"/>
          </a:solidFill>
          <a:ln w="12700">
            <a:solidFill>
              <a:srgbClr val="F5F7FA"/>
            </a:solidFill>
            <a:prstDash val="solid"/>
          </a:ln>
        </p:spPr>
      </p:sp>
      <p:sp>
        <p:nvSpPr>
          <p:cNvPr id="1048833" name="num"/>
          <p:cNvSpPr/>
          <p:nvPr/>
        </p:nvSpPr>
        <p:spPr>
          <a:xfrm>
            <a:off x="3505170" y="2788920"/>
            <a:ext cx="457200" cy="457200"/>
          </a:xfrm>
          <a:prstGeom prst="ellipse"/>
          <a:solidFill>
            <a:srgbClr val="14213D"/>
          </a:solidFill>
          <a:ln w="12700">
            <a:solidFill>
              <a:srgbClr val="14213D"/>
            </a:solidFill>
            <a:prstDash val="solid"/>
          </a:ln>
        </p:spPr>
      </p:sp>
      <p:sp>
        <p:nvSpPr>
          <p:cNvPr id="1048834" name="Text 28"/>
          <p:cNvSpPr txBox="1"/>
          <p:nvPr/>
        </p:nvSpPr>
        <p:spPr>
          <a:xfrm>
            <a:off x="3505170" y="2788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6</a:t>
            </a:r>
            <a:endParaRPr dirty="0" sz="1400" lang="en-US"/>
          </a:p>
        </p:txBody>
      </p:sp>
      <p:sp>
        <p:nvSpPr>
          <p:cNvPr id="1048835" name="Text 29"/>
          <p:cNvSpPr txBox="1"/>
          <p:nvPr/>
        </p:nvSpPr>
        <p:spPr>
          <a:xfrm>
            <a:off x="4099530" y="2606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HR Knowledge Base &amp; RAG</a:t>
            </a:r>
            <a:endParaRPr dirty="0" sz="1400" lang="en-US"/>
          </a:p>
        </p:txBody>
      </p:sp>
      <p:sp>
        <p:nvSpPr>
          <p:cNvPr id="1048836" name="Text 30"/>
          <p:cNvSpPr txBox="1"/>
          <p:nvPr/>
        </p:nvSpPr>
        <p:spPr>
          <a:xfrm>
            <a:off x="4099530" y="3108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Approved policy sources</a:t>
            </a:r>
            <a:endParaRPr dirty="0" sz="1200" lang="en-US"/>
          </a:p>
        </p:txBody>
      </p:sp>
      <p:sp>
        <p:nvSpPr>
          <p:cNvPr id="1048837" name="card"/>
          <p:cNvSpPr/>
          <p:nvPr/>
        </p:nvSpPr>
        <p:spPr>
          <a:xfrm>
            <a:off x="6187379" y="2514600"/>
            <a:ext cx="2697480" cy="1005840"/>
          </a:xfrm>
          <a:prstGeom prst="roundRect">
            <a:avLst>
              <a:gd name="adj" fmla="val 10909"/>
            </a:avLst>
          </a:prstGeom>
          <a:solidFill>
            <a:srgbClr val="EEF1F7"/>
          </a:solidFill>
          <a:ln w="12700">
            <a:solidFill>
              <a:srgbClr val="EEF1F7"/>
            </a:solidFill>
            <a:prstDash val="solid"/>
          </a:ln>
        </p:spPr>
      </p:sp>
      <p:sp>
        <p:nvSpPr>
          <p:cNvPr id="1048838" name="num"/>
          <p:cNvSpPr/>
          <p:nvPr/>
        </p:nvSpPr>
        <p:spPr>
          <a:xfrm>
            <a:off x="6324539" y="2788920"/>
            <a:ext cx="457200" cy="457200"/>
          </a:xfrm>
          <a:prstGeom prst="ellipse"/>
          <a:solidFill>
            <a:srgbClr val="14213D"/>
          </a:solidFill>
          <a:ln w="12700">
            <a:solidFill>
              <a:srgbClr val="14213D"/>
            </a:solidFill>
            <a:prstDash val="solid"/>
          </a:ln>
        </p:spPr>
      </p:sp>
      <p:sp>
        <p:nvSpPr>
          <p:cNvPr id="1048839" name="Text 33"/>
          <p:cNvSpPr txBox="1"/>
          <p:nvPr/>
        </p:nvSpPr>
        <p:spPr>
          <a:xfrm>
            <a:off x="6324539" y="2788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7</a:t>
            </a:r>
            <a:endParaRPr dirty="0" sz="1400" lang="en-US"/>
          </a:p>
        </p:txBody>
      </p:sp>
      <p:sp>
        <p:nvSpPr>
          <p:cNvPr id="1048840" name="Text 34"/>
          <p:cNvSpPr txBox="1"/>
          <p:nvPr/>
        </p:nvSpPr>
        <p:spPr>
          <a:xfrm>
            <a:off x="6918899" y="2606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Feedback &amp; Suggestions</a:t>
            </a:r>
            <a:endParaRPr dirty="0" sz="1400" lang="en-US"/>
          </a:p>
        </p:txBody>
      </p:sp>
      <p:sp>
        <p:nvSpPr>
          <p:cNvPr id="1048841" name="Text 35"/>
          <p:cNvSpPr txBox="1"/>
          <p:nvPr/>
        </p:nvSpPr>
        <p:spPr>
          <a:xfrm>
            <a:off x="6918899" y="3108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Employee voice channel</a:t>
            </a:r>
            <a:endParaRPr dirty="0" sz="1200" lang="en-US"/>
          </a:p>
        </p:txBody>
      </p:sp>
      <p:sp>
        <p:nvSpPr>
          <p:cNvPr id="1048842" name="card"/>
          <p:cNvSpPr/>
          <p:nvPr/>
        </p:nvSpPr>
        <p:spPr>
          <a:xfrm>
            <a:off x="9006749" y="2514600"/>
            <a:ext cx="2697480" cy="1005840"/>
          </a:xfrm>
          <a:prstGeom prst="roundRect">
            <a:avLst>
              <a:gd name="adj" fmla="val 10909"/>
            </a:avLst>
          </a:prstGeom>
          <a:solidFill>
            <a:srgbClr val="F5F7FA"/>
          </a:solidFill>
          <a:ln w="12700">
            <a:solidFill>
              <a:srgbClr val="F5F7FA"/>
            </a:solidFill>
            <a:prstDash val="solid"/>
          </a:ln>
        </p:spPr>
      </p:sp>
      <p:sp>
        <p:nvSpPr>
          <p:cNvPr id="1048843" name="num"/>
          <p:cNvSpPr/>
          <p:nvPr/>
        </p:nvSpPr>
        <p:spPr>
          <a:xfrm>
            <a:off x="9143909" y="2788920"/>
            <a:ext cx="457200" cy="457200"/>
          </a:xfrm>
          <a:prstGeom prst="ellipse"/>
          <a:solidFill>
            <a:srgbClr val="14213D"/>
          </a:solidFill>
          <a:ln w="12700">
            <a:solidFill>
              <a:srgbClr val="14213D"/>
            </a:solidFill>
            <a:prstDash val="solid"/>
          </a:ln>
        </p:spPr>
      </p:sp>
      <p:sp>
        <p:nvSpPr>
          <p:cNvPr id="1048844" name="Text 38"/>
          <p:cNvSpPr txBox="1"/>
          <p:nvPr/>
        </p:nvSpPr>
        <p:spPr>
          <a:xfrm>
            <a:off x="9143909" y="2788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8</a:t>
            </a:r>
            <a:endParaRPr dirty="0" sz="1400" lang="en-US"/>
          </a:p>
        </p:txBody>
      </p:sp>
      <p:sp>
        <p:nvSpPr>
          <p:cNvPr id="1048845" name="Text 39"/>
          <p:cNvSpPr txBox="1"/>
          <p:nvPr/>
        </p:nvSpPr>
        <p:spPr>
          <a:xfrm>
            <a:off x="9738269" y="2606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AI Sentiment Analysis</a:t>
            </a:r>
            <a:endParaRPr dirty="0" sz="1400" lang="en-US"/>
          </a:p>
        </p:txBody>
      </p:sp>
      <p:sp>
        <p:nvSpPr>
          <p:cNvPr id="1048846" name="Text 40"/>
          <p:cNvSpPr txBox="1"/>
          <p:nvPr/>
        </p:nvSpPr>
        <p:spPr>
          <a:xfrm>
            <a:off x="9738269" y="3108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Positive, neutral, negative</a:t>
            </a:r>
            <a:endParaRPr dirty="0" sz="1200" lang="en-US"/>
          </a:p>
        </p:txBody>
      </p:sp>
      <p:sp>
        <p:nvSpPr>
          <p:cNvPr id="1048847" name="card"/>
          <p:cNvSpPr/>
          <p:nvPr/>
        </p:nvSpPr>
        <p:spPr>
          <a:xfrm>
            <a:off x="548640" y="3657600"/>
            <a:ext cx="2697480" cy="1005840"/>
          </a:xfrm>
          <a:prstGeom prst="roundRect">
            <a:avLst>
              <a:gd name="adj" fmla="val 10909"/>
            </a:avLst>
          </a:prstGeom>
          <a:solidFill>
            <a:srgbClr val="EEF1F7"/>
          </a:solidFill>
          <a:ln w="12700">
            <a:solidFill>
              <a:srgbClr val="EEF1F7"/>
            </a:solidFill>
            <a:prstDash val="solid"/>
          </a:ln>
        </p:spPr>
      </p:sp>
      <p:sp>
        <p:nvSpPr>
          <p:cNvPr id="1048848" name="num"/>
          <p:cNvSpPr/>
          <p:nvPr/>
        </p:nvSpPr>
        <p:spPr>
          <a:xfrm>
            <a:off x="685800" y="3931920"/>
            <a:ext cx="457200" cy="457200"/>
          </a:xfrm>
          <a:prstGeom prst="ellipse"/>
          <a:solidFill>
            <a:srgbClr val="14213D"/>
          </a:solidFill>
          <a:ln w="12700">
            <a:solidFill>
              <a:srgbClr val="14213D"/>
            </a:solidFill>
            <a:prstDash val="solid"/>
          </a:ln>
        </p:spPr>
      </p:sp>
      <p:sp>
        <p:nvSpPr>
          <p:cNvPr id="1048849" name="Text 43"/>
          <p:cNvSpPr txBox="1"/>
          <p:nvPr/>
        </p:nvSpPr>
        <p:spPr>
          <a:xfrm>
            <a:off x="685800" y="3931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9</a:t>
            </a:r>
            <a:endParaRPr dirty="0" sz="1400" lang="en-US"/>
          </a:p>
        </p:txBody>
      </p:sp>
      <p:sp>
        <p:nvSpPr>
          <p:cNvPr id="1048850" name="Text 44"/>
          <p:cNvSpPr txBox="1"/>
          <p:nvPr/>
        </p:nvSpPr>
        <p:spPr>
          <a:xfrm>
            <a:off x="1280160" y="3749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Survey &amp; Pulse Check</a:t>
            </a:r>
            <a:endParaRPr dirty="0" sz="1400" lang="en-US"/>
          </a:p>
        </p:txBody>
      </p:sp>
      <p:sp>
        <p:nvSpPr>
          <p:cNvPr id="1048851" name="Text 45"/>
          <p:cNvSpPr txBox="1"/>
          <p:nvPr/>
        </p:nvSpPr>
        <p:spPr>
          <a:xfrm>
            <a:off x="1280160" y="4251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Continuous measurement</a:t>
            </a:r>
            <a:endParaRPr dirty="0" sz="1200" lang="en-US"/>
          </a:p>
        </p:txBody>
      </p:sp>
      <p:sp>
        <p:nvSpPr>
          <p:cNvPr id="1048852" name="card"/>
          <p:cNvSpPr/>
          <p:nvPr/>
        </p:nvSpPr>
        <p:spPr>
          <a:xfrm>
            <a:off x="3368010" y="3657600"/>
            <a:ext cx="2697480" cy="1005840"/>
          </a:xfrm>
          <a:prstGeom prst="roundRect">
            <a:avLst>
              <a:gd name="adj" fmla="val 10909"/>
            </a:avLst>
          </a:prstGeom>
          <a:solidFill>
            <a:srgbClr val="F5F7FA"/>
          </a:solidFill>
          <a:ln w="12700">
            <a:solidFill>
              <a:srgbClr val="F5F7FA"/>
            </a:solidFill>
            <a:prstDash val="solid"/>
          </a:ln>
        </p:spPr>
      </p:sp>
      <p:sp>
        <p:nvSpPr>
          <p:cNvPr id="1048853" name="num"/>
          <p:cNvSpPr/>
          <p:nvPr/>
        </p:nvSpPr>
        <p:spPr>
          <a:xfrm>
            <a:off x="3505170" y="3931920"/>
            <a:ext cx="457200" cy="457200"/>
          </a:xfrm>
          <a:prstGeom prst="ellipse"/>
          <a:solidFill>
            <a:srgbClr val="14213D"/>
          </a:solidFill>
          <a:ln w="12700">
            <a:solidFill>
              <a:srgbClr val="14213D"/>
            </a:solidFill>
            <a:prstDash val="solid"/>
          </a:ln>
        </p:spPr>
      </p:sp>
      <p:sp>
        <p:nvSpPr>
          <p:cNvPr id="1048854" name="Text 48"/>
          <p:cNvSpPr txBox="1"/>
          <p:nvPr/>
        </p:nvSpPr>
        <p:spPr>
          <a:xfrm>
            <a:off x="3505170" y="3931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10</a:t>
            </a:r>
            <a:endParaRPr dirty="0" sz="1400" lang="en-US"/>
          </a:p>
        </p:txBody>
      </p:sp>
      <p:sp>
        <p:nvSpPr>
          <p:cNvPr id="1048855" name="Text 49"/>
          <p:cNvSpPr txBox="1"/>
          <p:nvPr/>
        </p:nvSpPr>
        <p:spPr>
          <a:xfrm>
            <a:off x="4099530" y="3749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Engagement Analytics</a:t>
            </a:r>
            <a:endParaRPr dirty="0" sz="1400" lang="en-US"/>
          </a:p>
        </p:txBody>
      </p:sp>
      <p:sp>
        <p:nvSpPr>
          <p:cNvPr id="1048856" name="Text 50"/>
          <p:cNvSpPr txBox="1"/>
          <p:nvPr/>
        </p:nvSpPr>
        <p:spPr>
          <a:xfrm>
            <a:off x="4099530" y="4251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Trends and participation</a:t>
            </a:r>
            <a:endParaRPr dirty="0" sz="1200" lang="en-US"/>
          </a:p>
        </p:txBody>
      </p:sp>
      <p:sp>
        <p:nvSpPr>
          <p:cNvPr id="1048857" name="card"/>
          <p:cNvSpPr/>
          <p:nvPr/>
        </p:nvSpPr>
        <p:spPr>
          <a:xfrm>
            <a:off x="6187379" y="3657600"/>
            <a:ext cx="2697480" cy="1005840"/>
          </a:xfrm>
          <a:prstGeom prst="roundRect">
            <a:avLst>
              <a:gd name="adj" fmla="val 10909"/>
            </a:avLst>
          </a:prstGeom>
          <a:solidFill>
            <a:srgbClr val="EEF1F7"/>
          </a:solidFill>
          <a:ln w="12700">
            <a:solidFill>
              <a:srgbClr val="EEF1F7"/>
            </a:solidFill>
            <a:prstDash val="solid"/>
          </a:ln>
        </p:spPr>
      </p:sp>
      <p:sp>
        <p:nvSpPr>
          <p:cNvPr id="1048858" name="num"/>
          <p:cNvSpPr/>
          <p:nvPr/>
        </p:nvSpPr>
        <p:spPr>
          <a:xfrm>
            <a:off x="6324539" y="3931920"/>
            <a:ext cx="457200" cy="457200"/>
          </a:xfrm>
          <a:prstGeom prst="ellipse"/>
          <a:solidFill>
            <a:srgbClr val="14213D"/>
          </a:solidFill>
          <a:ln w="12700">
            <a:solidFill>
              <a:srgbClr val="14213D"/>
            </a:solidFill>
            <a:prstDash val="solid"/>
          </a:ln>
        </p:spPr>
      </p:sp>
      <p:sp>
        <p:nvSpPr>
          <p:cNvPr id="1048859" name="Text 53"/>
          <p:cNvSpPr txBox="1"/>
          <p:nvPr/>
        </p:nvSpPr>
        <p:spPr>
          <a:xfrm>
            <a:off x="6324539" y="3931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11</a:t>
            </a:r>
            <a:endParaRPr dirty="0" sz="1400" lang="en-US"/>
          </a:p>
        </p:txBody>
      </p:sp>
      <p:sp>
        <p:nvSpPr>
          <p:cNvPr id="1048860" name="Text 54"/>
          <p:cNvSpPr txBox="1"/>
          <p:nvPr/>
        </p:nvSpPr>
        <p:spPr>
          <a:xfrm>
            <a:off x="6918899" y="3749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AI Insights &amp; Recommendation</a:t>
            </a:r>
            <a:endParaRPr dirty="0" sz="1400" lang="en-US"/>
          </a:p>
        </p:txBody>
      </p:sp>
      <p:sp>
        <p:nvSpPr>
          <p:cNvPr id="1048861" name="Text 55"/>
          <p:cNvSpPr txBox="1"/>
          <p:nvPr/>
        </p:nvSpPr>
        <p:spPr>
          <a:xfrm>
            <a:off x="6918899" y="4251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Themes and suggestions</a:t>
            </a:r>
            <a:endParaRPr dirty="0" sz="1200" lang="en-US"/>
          </a:p>
        </p:txBody>
      </p:sp>
      <p:sp>
        <p:nvSpPr>
          <p:cNvPr id="1048862" name="card"/>
          <p:cNvSpPr/>
          <p:nvPr/>
        </p:nvSpPr>
        <p:spPr>
          <a:xfrm>
            <a:off x="9006749" y="3657600"/>
            <a:ext cx="2697480" cy="1005840"/>
          </a:xfrm>
          <a:prstGeom prst="roundRect">
            <a:avLst>
              <a:gd name="adj" fmla="val 10909"/>
            </a:avLst>
          </a:prstGeom>
          <a:solidFill>
            <a:srgbClr val="F5F7FA"/>
          </a:solidFill>
          <a:ln w="12700">
            <a:solidFill>
              <a:srgbClr val="F5F7FA"/>
            </a:solidFill>
            <a:prstDash val="solid"/>
          </a:ln>
        </p:spPr>
      </p:sp>
      <p:sp>
        <p:nvSpPr>
          <p:cNvPr id="1048863" name="num"/>
          <p:cNvSpPr/>
          <p:nvPr/>
        </p:nvSpPr>
        <p:spPr>
          <a:xfrm>
            <a:off x="9143909" y="3931920"/>
            <a:ext cx="457200" cy="457200"/>
          </a:xfrm>
          <a:prstGeom prst="ellipse"/>
          <a:solidFill>
            <a:srgbClr val="14213D"/>
          </a:solidFill>
          <a:ln w="12700">
            <a:solidFill>
              <a:srgbClr val="14213D"/>
            </a:solidFill>
            <a:prstDash val="solid"/>
          </a:ln>
        </p:spPr>
      </p:sp>
      <p:sp>
        <p:nvSpPr>
          <p:cNvPr id="1048864" name="Text 58"/>
          <p:cNvSpPr txBox="1"/>
          <p:nvPr/>
        </p:nvSpPr>
        <p:spPr>
          <a:xfrm>
            <a:off x="9143909" y="3931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12</a:t>
            </a:r>
            <a:endParaRPr dirty="0" sz="1400" lang="en-US"/>
          </a:p>
        </p:txBody>
      </p:sp>
      <p:sp>
        <p:nvSpPr>
          <p:cNvPr id="1048865" name="Text 59"/>
          <p:cNvSpPr txBox="1"/>
          <p:nvPr/>
        </p:nvSpPr>
        <p:spPr>
          <a:xfrm>
            <a:off x="9738269" y="3749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Announcements &amp; Notifications</a:t>
            </a:r>
            <a:endParaRPr dirty="0" sz="1400" lang="en-US"/>
          </a:p>
        </p:txBody>
      </p:sp>
      <p:sp>
        <p:nvSpPr>
          <p:cNvPr id="1048866" name="Text 60"/>
          <p:cNvSpPr txBox="1"/>
          <p:nvPr/>
        </p:nvSpPr>
        <p:spPr>
          <a:xfrm>
            <a:off x="9738269" y="4251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News and reminders</a:t>
            </a:r>
            <a:endParaRPr dirty="0" sz="1200" lang="en-US"/>
          </a:p>
        </p:txBody>
      </p:sp>
      <p:sp>
        <p:nvSpPr>
          <p:cNvPr id="1048867" name="card"/>
          <p:cNvSpPr/>
          <p:nvPr/>
        </p:nvSpPr>
        <p:spPr>
          <a:xfrm>
            <a:off x="548640" y="4800600"/>
            <a:ext cx="2697480" cy="1005840"/>
          </a:xfrm>
          <a:prstGeom prst="roundRect">
            <a:avLst>
              <a:gd name="adj" fmla="val 10909"/>
            </a:avLst>
          </a:prstGeom>
          <a:solidFill>
            <a:srgbClr val="EEF1F7"/>
          </a:solidFill>
          <a:ln w="12700">
            <a:solidFill>
              <a:srgbClr val="EEF1F7"/>
            </a:solidFill>
            <a:prstDash val="solid"/>
          </a:ln>
        </p:spPr>
      </p:sp>
      <p:sp>
        <p:nvSpPr>
          <p:cNvPr id="1048868" name="num"/>
          <p:cNvSpPr/>
          <p:nvPr/>
        </p:nvSpPr>
        <p:spPr>
          <a:xfrm>
            <a:off x="685800" y="5074920"/>
            <a:ext cx="457200" cy="457200"/>
          </a:xfrm>
          <a:prstGeom prst="ellipse"/>
          <a:solidFill>
            <a:srgbClr val="14213D"/>
          </a:solidFill>
          <a:ln w="12700">
            <a:solidFill>
              <a:srgbClr val="14213D"/>
            </a:solidFill>
            <a:prstDash val="solid"/>
          </a:ln>
        </p:spPr>
      </p:sp>
      <p:sp>
        <p:nvSpPr>
          <p:cNvPr id="1048869" name="Text 63"/>
          <p:cNvSpPr txBox="1"/>
          <p:nvPr/>
        </p:nvSpPr>
        <p:spPr>
          <a:xfrm>
            <a:off x="685800" y="5074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13</a:t>
            </a:r>
            <a:endParaRPr dirty="0" sz="1400" lang="en-US"/>
          </a:p>
        </p:txBody>
      </p:sp>
      <p:sp>
        <p:nvSpPr>
          <p:cNvPr id="1048870" name="Text 64"/>
          <p:cNvSpPr txBox="1"/>
          <p:nvPr/>
        </p:nvSpPr>
        <p:spPr>
          <a:xfrm>
            <a:off x="1280160" y="4892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Reports &amp; Analytics</a:t>
            </a:r>
            <a:endParaRPr dirty="0" sz="1400" lang="en-US"/>
          </a:p>
        </p:txBody>
      </p:sp>
      <p:sp>
        <p:nvSpPr>
          <p:cNvPr id="1048871" name="Text 65"/>
          <p:cNvSpPr txBox="1"/>
          <p:nvPr/>
        </p:nvSpPr>
        <p:spPr>
          <a:xfrm>
            <a:off x="1280160" y="5394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Structured HR reports</a:t>
            </a:r>
            <a:endParaRPr dirty="0" sz="1200" lang="en-US"/>
          </a:p>
        </p:txBody>
      </p:sp>
      <p:sp>
        <p:nvSpPr>
          <p:cNvPr id="1048872" name="card"/>
          <p:cNvSpPr/>
          <p:nvPr/>
        </p:nvSpPr>
        <p:spPr>
          <a:xfrm>
            <a:off x="3368010" y="4800600"/>
            <a:ext cx="2697480" cy="1005840"/>
          </a:xfrm>
          <a:prstGeom prst="roundRect">
            <a:avLst>
              <a:gd name="adj" fmla="val 10909"/>
            </a:avLst>
          </a:prstGeom>
          <a:solidFill>
            <a:srgbClr val="F5F7FA"/>
          </a:solidFill>
          <a:ln w="12700">
            <a:solidFill>
              <a:srgbClr val="F5F7FA"/>
            </a:solidFill>
            <a:prstDash val="solid"/>
          </a:ln>
        </p:spPr>
      </p:sp>
      <p:sp>
        <p:nvSpPr>
          <p:cNvPr id="1048873" name="num"/>
          <p:cNvSpPr/>
          <p:nvPr/>
        </p:nvSpPr>
        <p:spPr>
          <a:xfrm>
            <a:off x="3505170" y="5074920"/>
            <a:ext cx="457200" cy="457200"/>
          </a:xfrm>
          <a:prstGeom prst="ellipse"/>
          <a:solidFill>
            <a:srgbClr val="14213D"/>
          </a:solidFill>
          <a:ln w="12700">
            <a:solidFill>
              <a:srgbClr val="14213D"/>
            </a:solidFill>
            <a:prstDash val="solid"/>
          </a:ln>
        </p:spPr>
      </p:sp>
      <p:sp>
        <p:nvSpPr>
          <p:cNvPr id="1048874" name="Text 68"/>
          <p:cNvSpPr txBox="1"/>
          <p:nvPr/>
        </p:nvSpPr>
        <p:spPr>
          <a:xfrm>
            <a:off x="3505170" y="5074920"/>
            <a:ext cx="457200" cy="457200"/>
          </a:xfrm>
          <a:prstGeom prst="rect"/>
          <a:noFill/>
        </p:spPr>
        <p:txBody>
          <a:bodyPr anchor="ctr" bIns="0" lIns="0" rIns="0" rtlCol="0" tIns="0" wrap="square"/>
          <a:p>
            <a:pPr algn="ctr" indent="0" marL="0">
              <a:buNone/>
            </a:pPr>
            <a:r>
              <a:rPr b="1" dirty="0" sz="1400" lang="en-US">
                <a:solidFill>
                  <a:srgbClr val="FFFFFF"/>
                </a:solidFill>
                <a:latin typeface="Calibri" pitchFamily="34" charset="0"/>
                <a:ea typeface="Calibri" pitchFamily="34" charset="-122"/>
                <a:cs typeface="Calibri" pitchFamily="34" charset="-120"/>
              </a:rPr>
              <a:t>14</a:t>
            </a:r>
            <a:endParaRPr dirty="0" sz="1400" lang="en-US"/>
          </a:p>
        </p:txBody>
      </p:sp>
      <p:sp>
        <p:nvSpPr>
          <p:cNvPr id="1048875" name="Text 69"/>
          <p:cNvSpPr txBox="1"/>
          <p:nvPr/>
        </p:nvSpPr>
        <p:spPr>
          <a:xfrm>
            <a:off x="4099530" y="4892040"/>
            <a:ext cx="1874520" cy="502920"/>
          </a:xfrm>
          <a:prstGeom prst="rect"/>
          <a:noFill/>
        </p:spPr>
        <p:txBody>
          <a:bodyPr anchor="ctr" bIns="0" lIns="0" rIns="0" rtlCol="0" tIns="0" wrap="square"/>
          <a:p>
            <a:pPr indent="0" marL="0">
              <a:buNone/>
            </a:pPr>
            <a:r>
              <a:rPr b="1" dirty="0" sz="1400" lang="en-US">
                <a:solidFill>
                  <a:srgbClr val="14213D"/>
                </a:solidFill>
                <a:latin typeface="Calibri" pitchFamily="34" charset="0"/>
                <a:ea typeface="Calibri" pitchFamily="34" charset="-122"/>
                <a:cs typeface="Calibri" pitchFamily="34" charset="-120"/>
              </a:rPr>
              <a:t>Help &amp; Support</a:t>
            </a:r>
            <a:endParaRPr dirty="0" sz="1400" lang="en-US"/>
          </a:p>
        </p:txBody>
      </p:sp>
      <p:sp>
        <p:nvSpPr>
          <p:cNvPr id="1048876" name="Text 70"/>
          <p:cNvSpPr txBox="1"/>
          <p:nvPr/>
        </p:nvSpPr>
        <p:spPr>
          <a:xfrm>
            <a:off x="4099530" y="5394960"/>
            <a:ext cx="1874520" cy="320040"/>
          </a:xfrm>
          <a:prstGeom prst="rect"/>
          <a:noFill/>
        </p:spPr>
        <p:txBody>
          <a:bodyPr anchor="t" bIns="0" lIns="0" rIns="0" rtlCol="0" tIns="0" wrap="square"/>
          <a:p>
            <a:pPr indent="0" marL="0">
              <a:buNone/>
            </a:pPr>
            <a:r>
              <a:rPr dirty="0" sz="1200" lang="en-US">
                <a:solidFill>
                  <a:srgbClr val="5A6478"/>
                </a:solidFill>
                <a:latin typeface="Calibri" pitchFamily="34" charset="0"/>
                <a:ea typeface="Calibri" pitchFamily="34" charset="-122"/>
                <a:cs typeface="Calibri" pitchFamily="34" charset="-120"/>
              </a:rPr>
              <a:t>Escalation to HR</a:t>
            </a:r>
            <a:endParaRPr dirty="0" sz="1200" lang="en-US"/>
          </a:p>
        </p:txBody>
      </p:sp>
      <p:sp>
        <p:nvSpPr>
          <p:cNvPr id="1048877" name="card"/>
          <p:cNvSpPr/>
          <p:nvPr/>
        </p:nvSpPr>
        <p:spPr>
          <a:xfrm>
            <a:off x="6187379" y="4800600"/>
            <a:ext cx="5516850" cy="1005840"/>
          </a:xfrm>
          <a:prstGeom prst="roundRect">
            <a:avLst>
              <a:gd name="adj" fmla="val 10909"/>
            </a:avLst>
          </a:prstGeom>
          <a:solidFill>
            <a:srgbClr val="14213D"/>
          </a:solidFill>
          <a:ln w="12700">
            <a:solidFill>
              <a:srgbClr val="14213D"/>
            </a:solidFill>
            <a:prstDash val="solid"/>
          </a:ln>
        </p:spPr>
      </p:sp>
      <p:sp>
        <p:nvSpPr>
          <p:cNvPr id="1048878" name="Text 72"/>
          <p:cNvSpPr txBox="1"/>
          <p:nvPr/>
        </p:nvSpPr>
        <p:spPr>
          <a:xfrm>
            <a:off x="6370259" y="4873752"/>
            <a:ext cx="5151090" cy="320040"/>
          </a:xfrm>
          <a:prstGeom prst="rect"/>
          <a:noFill/>
        </p:spPr>
        <p:txBody>
          <a:bodyPr anchor="ctr" bIns="0" lIns="0" rIns="0" rtlCol="0" tIns="0" wrap="square"/>
          <a:p>
            <a:pPr indent="0" marL="0">
              <a:buNone/>
            </a:pPr>
            <a:r>
              <a:rPr b="1" dirty="0" sz="1400" lang="en-US">
                <a:solidFill>
                  <a:srgbClr val="9FE3DE"/>
                </a:solidFill>
                <a:latin typeface="Calibri" pitchFamily="34" charset="0"/>
                <a:ea typeface="Calibri" pitchFamily="34" charset="-122"/>
                <a:cs typeface="Calibri" pitchFamily="34" charset="-120"/>
              </a:rPr>
              <a:t>Employee Panel – 10 features</a:t>
            </a:r>
            <a:endParaRPr dirty="0" sz="1400" lang="en-US"/>
          </a:p>
        </p:txBody>
      </p:sp>
      <p:sp>
        <p:nvSpPr>
          <p:cNvPr id="1048879" name="Text 73"/>
          <p:cNvSpPr txBox="1"/>
          <p:nvPr/>
        </p:nvSpPr>
        <p:spPr>
          <a:xfrm>
            <a:off x="6370259" y="5193792"/>
            <a:ext cx="5151090" cy="566928"/>
          </a:xfrm>
          <a:prstGeom prst="rect"/>
          <a:noFill/>
        </p:spPr>
        <p:txBody>
          <a:bodyPr anchor="t" bIns="0" lIns="0" rIns="0" rtlCol="0" tIns="0" wrap="square"/>
          <a:p>
            <a:pPr indent="0" marL="0">
              <a:buNone/>
            </a:pPr>
            <a:r>
              <a:rPr dirty="0" sz="1200" lang="en-US">
                <a:solidFill>
                  <a:srgbClr val="FFFFFF"/>
                </a:solidFill>
                <a:latin typeface="Calibri" pitchFamily="34" charset="0"/>
                <a:ea typeface="Calibri" pitchFamily="34" charset="-122"/>
                <a:cs typeface="Calibri" pitchFamily="34" charset="-120"/>
              </a:rPr>
              <a:t>Dashboard · Profile · AI Chatbot · Policy Center · Feedback · Surveys · Personalized Guidance · Announcements · Interaction History · Help &amp; Support</a:t>
            </a:r>
            <a:endParaRPr dirty="0" sz="1200" lang="en-US"/>
          </a:p>
        </p:txBody>
      </p:sp>
      <p:sp>
        <p:nvSpPr>
          <p:cNvPr id="1048880"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49" name=""/>
        <p:cNvGrpSpPr/>
        <p:nvPr/>
      </p:nvGrpSpPr>
      <p:grpSpPr>
        <a:xfrm>
          <a:off x="0" y="0"/>
          <a:ext cx="0" cy="0"/>
          <a:chOff x="0" y="0"/>
          <a:chExt cx="0" cy="0"/>
        </a:xfrm>
      </p:grpSpPr>
      <p:sp>
        <p:nvSpPr>
          <p:cNvPr id="1048884" name="Text 1"/>
          <p:cNvSpPr/>
          <p:nvPr>
            <p:ph type="title" idx="101" hasCustomPrompt="1"/>
          </p:nvPr>
        </p:nvSpPr>
        <p:spPr>
          <a:xfrm>
            <a:off x="548640" y="320040"/>
            <a:ext cx="11064240" cy="868680"/>
          </a:xfrm>
          <a:prstGeom prst="rect"/>
          <a:noFill/>
        </p:spPr>
        <p:txBody>
          <a:bodyPr anchor="ctr" bIns="0" lIns="0" rIns="0" rtlCol="0" tIns="0" wrap="square"/>
          <a:p>
            <a:pPr indent="0" marL="0">
              <a:buNone/>
            </a:pPr>
            <a:r>
              <a:rPr b="1" dirty="0" sz="3400" lang="en-US">
                <a:solidFill>
                  <a:srgbClr val="14213D"/>
                </a:solidFill>
                <a:latin typeface="Cambria" pitchFamily="34" charset="0"/>
                <a:ea typeface="Cambria" pitchFamily="34" charset="-122"/>
                <a:cs typeface="Cambria" pitchFamily="34" charset="-120"/>
              </a:rPr>
              <a:t>Algorithms</a:t>
            </a:r>
            <a:endParaRPr dirty="0" sz="3400" lang="en-US"/>
          </a:p>
        </p:txBody>
      </p:sp>
      <p:sp>
        <p:nvSpPr>
          <p:cNvPr id="1048885" name="card"/>
          <p:cNvSpPr/>
          <p:nvPr/>
        </p:nvSpPr>
        <p:spPr>
          <a:xfrm>
            <a:off x="548640" y="1463040"/>
            <a:ext cx="2606040" cy="4754880"/>
          </a:xfrm>
          <a:prstGeom prst="roundRect">
            <a:avLst>
              <a:gd name="adj" fmla="val 4211"/>
            </a:avLst>
          </a:prstGeom>
          <a:solidFill>
            <a:srgbClr val="F5F7FA"/>
          </a:solidFill>
          <a:ln w="12700">
            <a:solidFill>
              <a:srgbClr val="F5F7FA"/>
            </a:solidFill>
            <a:prstDash val="solid"/>
          </a:ln>
        </p:spPr>
      </p:sp>
      <p:sp>
        <p:nvSpPr>
          <p:cNvPr id="1048886" name="icon-circle"/>
          <p:cNvSpPr/>
          <p:nvPr/>
        </p:nvSpPr>
        <p:spPr>
          <a:xfrm>
            <a:off x="777240" y="1691640"/>
            <a:ext cx="685800" cy="685800"/>
          </a:xfrm>
          <a:prstGeom prst="ellipse"/>
          <a:solidFill>
            <a:srgbClr val="12A19A"/>
          </a:solidFill>
          <a:ln w="12700">
            <a:solidFill>
              <a:srgbClr val="12A19A"/>
            </a:solidFill>
            <a:prstDash val="solid"/>
          </a:ln>
        </p:spPr>
      </p:sp>
      <p:pic>
        <p:nvPicPr>
          <p:cNvPr id="2097179" name="Image 0" descr="Search icon"/>
          <p:cNvPicPr>
            <a:picLocks noChangeAspect="1"/>
          </p:cNvPicPr>
          <p:nvPr/>
        </p:nvPicPr>
        <p:blipFill>
          <a:blip xmlns:r="http://schemas.openxmlformats.org/officeDocument/2006/relationships" r:embed="rId1"/>
          <a:stretch>
            <a:fillRect/>
          </a:stretch>
        </p:blipFill>
        <p:spPr>
          <a:xfrm>
            <a:off x="948690" y="1863090"/>
            <a:ext cx="342900" cy="342900"/>
          </a:xfrm>
          <a:prstGeom prst="rect"/>
        </p:spPr>
      </p:pic>
      <p:sp>
        <p:nvSpPr>
          <p:cNvPr id="1048887" name="Text 3"/>
          <p:cNvSpPr txBox="1"/>
          <p:nvPr/>
        </p:nvSpPr>
        <p:spPr>
          <a:xfrm>
            <a:off x="1600200" y="1783080"/>
            <a:ext cx="1371600" cy="502920"/>
          </a:xfrm>
          <a:prstGeom prst="rect"/>
          <a:noFill/>
        </p:spPr>
        <p:txBody>
          <a:bodyPr anchor="ctr" bIns="0" lIns="0" rIns="0" rtlCol="0" tIns="0" wrap="square"/>
          <a:p>
            <a:pPr indent="0" marL="0">
              <a:buNone/>
            </a:pPr>
            <a:r>
              <a:rPr b="1" dirty="0" sz="1400" kern="0" lang="en-US" spc="200">
                <a:solidFill>
                  <a:srgbClr val="12A19A"/>
                </a:solidFill>
                <a:latin typeface="Calibri" pitchFamily="34" charset="0"/>
                <a:ea typeface="Calibri" pitchFamily="34" charset="-122"/>
                <a:cs typeface="Calibri" pitchFamily="34" charset="-120"/>
              </a:rPr>
              <a:t>NLP</a:t>
            </a:r>
            <a:endParaRPr dirty="0" sz="1400" lang="en-US"/>
          </a:p>
        </p:txBody>
      </p:sp>
      <p:sp>
        <p:nvSpPr>
          <p:cNvPr id="1048888" name="Text 4"/>
          <p:cNvSpPr txBox="1"/>
          <p:nvPr/>
        </p:nvSpPr>
        <p:spPr>
          <a:xfrm>
            <a:off x="777240" y="2560320"/>
            <a:ext cx="2194560" cy="868680"/>
          </a:xfrm>
          <a:prstGeom prst="rect"/>
          <a:noFill/>
        </p:spPr>
        <p:txBody>
          <a:bodyPr anchor="t" bIns="0" lIns="0" rIns="0" rtlCol="0" tIns="0" wrap="square"/>
          <a:p>
            <a:pPr indent="0" marL="0">
              <a:buNone/>
            </a:pPr>
            <a:r>
              <a:rPr b="1" dirty="0" sz="1800" lang="en-US">
                <a:solidFill>
                  <a:srgbClr val="14213D"/>
                </a:solidFill>
                <a:latin typeface="Cambria" pitchFamily="34" charset="0"/>
                <a:ea typeface="Cambria" pitchFamily="34" charset="-122"/>
                <a:cs typeface="Cambria" pitchFamily="34" charset="-120"/>
              </a:rPr>
              <a:t>Query Understanding &amp; Classification</a:t>
            </a:r>
            <a:endParaRPr dirty="0" sz="1800" lang="en-US"/>
          </a:p>
        </p:txBody>
      </p:sp>
      <p:sp>
        <p:nvSpPr>
          <p:cNvPr id="1048889" name="Text 5"/>
          <p:cNvSpPr txBox="1"/>
          <p:nvPr/>
        </p:nvSpPr>
        <p:spPr>
          <a:xfrm>
            <a:off x="777240" y="3520440"/>
            <a:ext cx="2194560" cy="2560320"/>
          </a:xfrm>
          <a:prstGeom prst="rect"/>
          <a:noFill/>
        </p:spPr>
        <p:txBody>
          <a:bodyPr anchor="t" bIns="0" lIns="0" rIns="0" rtlCol="0" tIns="0" wrap="square"/>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Interpret the employee's natural-language query</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Classify type: policy, leave, benefits, onboarding</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Route to context retrieval</a:t>
            </a:r>
            <a:endParaRPr dirty="0" sz="1400" lang="en-US"/>
          </a:p>
        </p:txBody>
      </p:sp>
      <p:sp>
        <p:nvSpPr>
          <p:cNvPr id="1048890" name="card"/>
          <p:cNvSpPr/>
          <p:nvPr/>
        </p:nvSpPr>
        <p:spPr>
          <a:xfrm>
            <a:off x="3337560" y="1463040"/>
            <a:ext cx="2606040" cy="4754880"/>
          </a:xfrm>
          <a:prstGeom prst="roundRect">
            <a:avLst>
              <a:gd name="adj" fmla="val 4211"/>
            </a:avLst>
          </a:prstGeom>
          <a:solidFill>
            <a:srgbClr val="F5F7FA"/>
          </a:solidFill>
          <a:ln w="12700">
            <a:solidFill>
              <a:srgbClr val="F5F7FA"/>
            </a:solidFill>
            <a:prstDash val="solid"/>
          </a:ln>
        </p:spPr>
      </p:sp>
      <p:sp>
        <p:nvSpPr>
          <p:cNvPr id="1048891" name="icon-circle"/>
          <p:cNvSpPr/>
          <p:nvPr/>
        </p:nvSpPr>
        <p:spPr>
          <a:xfrm>
            <a:off x="3566160" y="1691640"/>
            <a:ext cx="685800" cy="685800"/>
          </a:xfrm>
          <a:prstGeom prst="ellipse"/>
          <a:solidFill>
            <a:srgbClr val="14213D"/>
          </a:solidFill>
          <a:ln w="12700">
            <a:solidFill>
              <a:srgbClr val="14213D"/>
            </a:solidFill>
            <a:prstDash val="solid"/>
          </a:ln>
        </p:spPr>
      </p:sp>
      <p:pic>
        <p:nvPicPr>
          <p:cNvPr id="2097180" name="Image 1" descr="Database icon"/>
          <p:cNvPicPr>
            <a:picLocks noChangeAspect="1"/>
          </p:cNvPicPr>
          <p:nvPr/>
        </p:nvPicPr>
        <p:blipFill>
          <a:blip xmlns:r="http://schemas.openxmlformats.org/officeDocument/2006/relationships" r:embed="rId2"/>
          <a:stretch>
            <a:fillRect/>
          </a:stretch>
        </p:blipFill>
        <p:spPr>
          <a:xfrm>
            <a:off x="3737610" y="1863090"/>
            <a:ext cx="342900" cy="342900"/>
          </a:xfrm>
          <a:prstGeom prst="rect"/>
        </p:spPr>
      </p:pic>
      <p:sp>
        <p:nvSpPr>
          <p:cNvPr id="1048892" name="Text 8"/>
          <p:cNvSpPr txBox="1"/>
          <p:nvPr/>
        </p:nvSpPr>
        <p:spPr>
          <a:xfrm>
            <a:off x="4389120" y="1783080"/>
            <a:ext cx="1371600" cy="502920"/>
          </a:xfrm>
          <a:prstGeom prst="rect"/>
          <a:noFill/>
        </p:spPr>
        <p:txBody>
          <a:bodyPr anchor="ctr" bIns="0" lIns="0" rIns="0" rtlCol="0" tIns="0" wrap="square"/>
          <a:p>
            <a:pPr indent="0" marL="0">
              <a:buNone/>
            </a:pPr>
            <a:r>
              <a:rPr b="1" dirty="0" sz="1400" kern="0" lang="en-US" spc="200">
                <a:solidFill>
                  <a:srgbClr val="14213D"/>
                </a:solidFill>
                <a:latin typeface="Calibri" pitchFamily="34" charset="0"/>
                <a:ea typeface="Calibri" pitchFamily="34" charset="-122"/>
                <a:cs typeface="Calibri" pitchFamily="34" charset="-120"/>
              </a:rPr>
              <a:t>RAG</a:t>
            </a:r>
            <a:endParaRPr dirty="0" sz="1400" lang="en-US"/>
          </a:p>
        </p:txBody>
      </p:sp>
      <p:sp>
        <p:nvSpPr>
          <p:cNvPr id="1048893" name="Text 9"/>
          <p:cNvSpPr txBox="1"/>
          <p:nvPr/>
        </p:nvSpPr>
        <p:spPr>
          <a:xfrm>
            <a:off x="3566160" y="2560320"/>
            <a:ext cx="2194560" cy="868680"/>
          </a:xfrm>
          <a:prstGeom prst="rect"/>
          <a:noFill/>
        </p:spPr>
        <p:txBody>
          <a:bodyPr anchor="t" bIns="0" lIns="0" rIns="0" rtlCol="0" tIns="0" wrap="square"/>
          <a:p>
            <a:pPr indent="0" marL="0">
              <a:buNone/>
            </a:pPr>
            <a:r>
              <a:rPr b="1" dirty="0" sz="1800" lang="en-US">
                <a:solidFill>
                  <a:srgbClr val="14213D"/>
                </a:solidFill>
                <a:latin typeface="Cambria" pitchFamily="34" charset="0"/>
                <a:ea typeface="Cambria" pitchFamily="34" charset="-122"/>
                <a:cs typeface="Cambria" pitchFamily="34" charset="-120"/>
              </a:rPr>
              <a:t>Retrieval-Augmented Generation</a:t>
            </a:r>
            <a:endParaRPr dirty="0" sz="1800" lang="en-US"/>
          </a:p>
        </p:txBody>
      </p:sp>
      <p:sp>
        <p:nvSpPr>
          <p:cNvPr id="1048894" name="Text 10"/>
          <p:cNvSpPr txBox="1"/>
          <p:nvPr/>
        </p:nvSpPr>
        <p:spPr>
          <a:xfrm>
            <a:off x="3566160" y="3520440"/>
            <a:ext cx="2194560" cy="2560320"/>
          </a:xfrm>
          <a:prstGeom prst="rect"/>
          <a:noFill/>
        </p:spPr>
        <p:txBody>
          <a:bodyPr anchor="t" bIns="0" lIns="0" rIns="0" rtlCol="0" tIns="0" wrap="square"/>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Maintain approved HR documents as knowledge base</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Retrieve content relevant to the query</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Pass it as context to the GenAI model</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Generate and refine a grounded response</a:t>
            </a:r>
            <a:endParaRPr dirty="0" sz="1400" lang="en-US"/>
          </a:p>
        </p:txBody>
      </p:sp>
      <p:sp>
        <p:nvSpPr>
          <p:cNvPr id="1048895" name="card"/>
          <p:cNvSpPr/>
          <p:nvPr/>
        </p:nvSpPr>
        <p:spPr>
          <a:xfrm>
            <a:off x="6126480" y="1463040"/>
            <a:ext cx="2606040" cy="4754880"/>
          </a:xfrm>
          <a:prstGeom prst="roundRect">
            <a:avLst>
              <a:gd name="adj" fmla="val 4211"/>
            </a:avLst>
          </a:prstGeom>
          <a:solidFill>
            <a:srgbClr val="F5F7FA"/>
          </a:solidFill>
          <a:ln w="12700">
            <a:solidFill>
              <a:srgbClr val="F5F7FA"/>
            </a:solidFill>
            <a:prstDash val="solid"/>
          </a:ln>
        </p:spPr>
      </p:sp>
      <p:sp>
        <p:nvSpPr>
          <p:cNvPr id="1048896" name="icon-circle"/>
          <p:cNvSpPr/>
          <p:nvPr/>
        </p:nvSpPr>
        <p:spPr>
          <a:xfrm>
            <a:off x="6355080" y="1691640"/>
            <a:ext cx="685800" cy="685800"/>
          </a:xfrm>
          <a:prstGeom prst="ellipse"/>
          <a:solidFill>
            <a:srgbClr val="F26B50"/>
          </a:solidFill>
          <a:ln w="12700">
            <a:solidFill>
              <a:srgbClr val="F26B50"/>
            </a:solidFill>
            <a:prstDash val="solid"/>
          </a:ln>
        </p:spPr>
      </p:sp>
      <p:pic>
        <p:nvPicPr>
          <p:cNvPr id="2097181" name="Image 2" descr="Smile icon"/>
          <p:cNvPicPr>
            <a:picLocks noChangeAspect="1"/>
          </p:cNvPicPr>
          <p:nvPr/>
        </p:nvPicPr>
        <p:blipFill>
          <a:blip xmlns:r="http://schemas.openxmlformats.org/officeDocument/2006/relationships" r:embed="rId3"/>
          <a:stretch>
            <a:fillRect/>
          </a:stretch>
        </p:blipFill>
        <p:spPr>
          <a:xfrm>
            <a:off x="6526530" y="1863090"/>
            <a:ext cx="342900" cy="342900"/>
          </a:xfrm>
          <a:prstGeom prst="rect"/>
        </p:spPr>
      </p:pic>
      <p:sp>
        <p:nvSpPr>
          <p:cNvPr id="1048897" name="Text 13"/>
          <p:cNvSpPr txBox="1"/>
          <p:nvPr/>
        </p:nvSpPr>
        <p:spPr>
          <a:xfrm>
            <a:off x="7178040" y="1783080"/>
            <a:ext cx="1371600" cy="502920"/>
          </a:xfrm>
          <a:prstGeom prst="rect"/>
          <a:noFill/>
        </p:spPr>
        <p:txBody>
          <a:bodyPr anchor="ctr" bIns="0" lIns="0" rIns="0" rtlCol="0" tIns="0" wrap="square"/>
          <a:p>
            <a:pPr indent="0" marL="0">
              <a:buNone/>
            </a:pPr>
            <a:r>
              <a:rPr b="1" dirty="0" sz="1400" kern="0" lang="en-US" spc="200">
                <a:solidFill>
                  <a:srgbClr val="F26B50"/>
                </a:solidFill>
                <a:latin typeface="Calibri" pitchFamily="34" charset="0"/>
                <a:ea typeface="Calibri" pitchFamily="34" charset="-122"/>
                <a:cs typeface="Calibri" pitchFamily="34" charset="-120"/>
              </a:rPr>
              <a:t>NLP</a:t>
            </a:r>
            <a:endParaRPr dirty="0" sz="1400" lang="en-US"/>
          </a:p>
        </p:txBody>
      </p:sp>
      <p:sp>
        <p:nvSpPr>
          <p:cNvPr id="1048898" name="Text 14"/>
          <p:cNvSpPr txBox="1"/>
          <p:nvPr/>
        </p:nvSpPr>
        <p:spPr>
          <a:xfrm>
            <a:off x="6355080" y="2560320"/>
            <a:ext cx="2194560" cy="868680"/>
          </a:xfrm>
          <a:prstGeom prst="rect"/>
          <a:noFill/>
        </p:spPr>
        <p:txBody>
          <a:bodyPr anchor="t" bIns="0" lIns="0" rIns="0" rtlCol="0" tIns="0" wrap="square"/>
          <a:p>
            <a:pPr indent="0" marL="0">
              <a:buNone/>
            </a:pPr>
            <a:r>
              <a:rPr b="1" dirty="0" sz="1800" lang="en-US">
                <a:solidFill>
                  <a:srgbClr val="14213D"/>
                </a:solidFill>
                <a:latin typeface="Cambria" pitchFamily="34" charset="0"/>
                <a:ea typeface="Cambria" pitchFamily="34" charset="-122"/>
                <a:cs typeface="Cambria" pitchFamily="34" charset="-120"/>
              </a:rPr>
              <a:t>Sentiment Analysis</a:t>
            </a:r>
            <a:endParaRPr dirty="0" sz="1800" lang="en-US"/>
          </a:p>
        </p:txBody>
      </p:sp>
      <p:sp>
        <p:nvSpPr>
          <p:cNvPr id="1048899" name="Text 15"/>
          <p:cNvSpPr txBox="1"/>
          <p:nvPr/>
        </p:nvSpPr>
        <p:spPr>
          <a:xfrm>
            <a:off x="6355080" y="3520440"/>
            <a:ext cx="2194560" cy="2560320"/>
          </a:xfrm>
          <a:prstGeom prst="rect"/>
          <a:noFill/>
        </p:spPr>
        <p:txBody>
          <a:bodyPr anchor="t" bIns="0" lIns="0" rIns="0" rtlCol="0" tIns="0" wrap="square"/>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Preprocess feedback and text interactions</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Classify as positive, neutral or negative</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Aggregate by department and time period</a:t>
            </a:r>
            <a:endParaRPr dirty="0" sz="1400" lang="en-US"/>
          </a:p>
        </p:txBody>
      </p:sp>
      <p:sp>
        <p:nvSpPr>
          <p:cNvPr id="1048900" name="card"/>
          <p:cNvSpPr/>
          <p:nvPr/>
        </p:nvSpPr>
        <p:spPr>
          <a:xfrm>
            <a:off x="8915400" y="1463040"/>
            <a:ext cx="2606040" cy="4754880"/>
          </a:xfrm>
          <a:prstGeom prst="roundRect">
            <a:avLst>
              <a:gd name="adj" fmla="val 4211"/>
            </a:avLst>
          </a:prstGeom>
          <a:solidFill>
            <a:srgbClr val="F5F7FA"/>
          </a:solidFill>
          <a:ln w="12700">
            <a:solidFill>
              <a:srgbClr val="F5F7FA"/>
            </a:solidFill>
            <a:prstDash val="solid"/>
          </a:ln>
        </p:spPr>
      </p:sp>
      <p:sp>
        <p:nvSpPr>
          <p:cNvPr id="1048901" name="icon-circle"/>
          <p:cNvSpPr/>
          <p:nvPr/>
        </p:nvSpPr>
        <p:spPr>
          <a:xfrm>
            <a:off x="9144000" y="1691640"/>
            <a:ext cx="685800" cy="685800"/>
          </a:xfrm>
          <a:prstGeom prst="ellipse"/>
          <a:solidFill>
            <a:srgbClr val="12A19A"/>
          </a:solidFill>
          <a:ln w="12700">
            <a:solidFill>
              <a:srgbClr val="12A19A"/>
            </a:solidFill>
            <a:prstDash val="solid"/>
          </a:ln>
        </p:spPr>
      </p:sp>
      <p:pic>
        <p:nvPicPr>
          <p:cNvPr id="2097182" name="Image 3" descr="Lightbulb icon"/>
          <p:cNvPicPr>
            <a:picLocks noChangeAspect="1"/>
          </p:cNvPicPr>
          <p:nvPr/>
        </p:nvPicPr>
        <p:blipFill>
          <a:blip xmlns:r="http://schemas.openxmlformats.org/officeDocument/2006/relationships" r:embed="rId4"/>
          <a:stretch>
            <a:fillRect/>
          </a:stretch>
        </p:blipFill>
        <p:spPr>
          <a:xfrm>
            <a:off x="9315450" y="1863090"/>
            <a:ext cx="342900" cy="342900"/>
          </a:xfrm>
          <a:prstGeom prst="rect"/>
        </p:spPr>
      </p:pic>
      <p:sp>
        <p:nvSpPr>
          <p:cNvPr id="1048902" name="Text 18"/>
          <p:cNvSpPr txBox="1"/>
          <p:nvPr/>
        </p:nvSpPr>
        <p:spPr>
          <a:xfrm>
            <a:off x="9966960" y="1783080"/>
            <a:ext cx="1371600" cy="502920"/>
          </a:xfrm>
          <a:prstGeom prst="rect"/>
          <a:noFill/>
        </p:spPr>
        <p:txBody>
          <a:bodyPr anchor="ctr" bIns="0" lIns="0" rIns="0" rtlCol="0" tIns="0" wrap="square"/>
          <a:p>
            <a:pPr indent="0" marL="0">
              <a:buNone/>
            </a:pPr>
            <a:r>
              <a:rPr b="1" dirty="0" sz="1400" kern="0" lang="en-US" spc="200">
                <a:solidFill>
                  <a:srgbClr val="12A19A"/>
                </a:solidFill>
                <a:latin typeface="Calibri" pitchFamily="34" charset="0"/>
                <a:ea typeface="Calibri" pitchFamily="34" charset="-122"/>
                <a:cs typeface="Calibri" pitchFamily="34" charset="-120"/>
              </a:rPr>
              <a:t>GenAI</a:t>
            </a:r>
            <a:endParaRPr dirty="0" sz="1400" lang="en-US"/>
          </a:p>
        </p:txBody>
      </p:sp>
      <p:sp>
        <p:nvSpPr>
          <p:cNvPr id="1048903" name="Text 19"/>
          <p:cNvSpPr txBox="1"/>
          <p:nvPr/>
        </p:nvSpPr>
        <p:spPr>
          <a:xfrm>
            <a:off x="9144000" y="2560320"/>
            <a:ext cx="2194560" cy="868680"/>
          </a:xfrm>
          <a:prstGeom prst="rect"/>
          <a:noFill/>
        </p:spPr>
        <p:txBody>
          <a:bodyPr anchor="t" bIns="0" lIns="0" rIns="0" rtlCol="0" tIns="0" wrap="square"/>
          <a:p>
            <a:pPr indent="0" marL="0">
              <a:buNone/>
            </a:pPr>
            <a:r>
              <a:rPr b="1" dirty="0" sz="1800" lang="en-US">
                <a:solidFill>
                  <a:srgbClr val="14213D"/>
                </a:solidFill>
                <a:latin typeface="Cambria" pitchFamily="34" charset="0"/>
                <a:ea typeface="Cambria" pitchFamily="34" charset="-122"/>
                <a:cs typeface="Cambria" pitchFamily="34" charset="-120"/>
              </a:rPr>
              <a:t>Insights &amp; Summarization</a:t>
            </a:r>
            <a:endParaRPr dirty="0" sz="1800" lang="en-US"/>
          </a:p>
        </p:txBody>
      </p:sp>
      <p:sp>
        <p:nvSpPr>
          <p:cNvPr id="1048904" name="Text 20"/>
          <p:cNvSpPr txBox="1"/>
          <p:nvPr/>
        </p:nvSpPr>
        <p:spPr>
          <a:xfrm>
            <a:off x="9144000" y="3520440"/>
            <a:ext cx="2194560" cy="2560320"/>
          </a:xfrm>
          <a:prstGeom prst="rect"/>
          <a:noFill/>
        </p:spPr>
        <p:txBody>
          <a:bodyPr anchor="t" bIns="0" lIns="0" rIns="0" rtlCol="0" tIns="0" wrap="square"/>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Group recurring themes in feedback</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Summarize large feedback volumes</a:t>
            </a:r>
            <a:endParaRPr dirty="0" sz="1400" lang="en-US"/>
          </a:p>
          <a:p>
            <a:pPr indent="-342900" marL="342900">
              <a:spcAft>
                <a:spcPts val="800"/>
              </a:spcAft>
              <a:buSzPct val="100000"/>
              <a:buFont typeface="+mj-lt"/>
              <a:buAutoNum type="arabicPeriod" startAt="1"/>
            </a:pPr>
            <a:r>
              <a:rPr dirty="0" sz="1400" lang="en-US">
                <a:solidFill>
                  <a:srgbClr val="1F2937"/>
                </a:solidFill>
                <a:latin typeface="Calibri" pitchFamily="34" charset="0"/>
                <a:ea typeface="Calibri" pitchFamily="34" charset="-122"/>
                <a:cs typeface="Calibri" pitchFamily="34" charset="-120"/>
              </a:rPr>
              <a:t>Present recommendations for HR review</a:t>
            </a:r>
            <a:endParaRPr dirty="0" sz="1400" lang="en-US"/>
          </a:p>
        </p:txBody>
      </p:sp>
      <p:sp>
        <p:nvSpPr>
          <p:cNvPr id="1048905" name="Slide Number Placeholder 0"/>
          <p:cNvSpPr>
            <a:spLocks noGrp="1"/>
          </p:cNvSpPr>
          <p:nvPr>
            <p:ph type="sldNum" sz="quarter" idx="4294967295"/>
          </p:nvPr>
        </p:nvSpPr>
        <p:spPr>
          <a:xfrm>
            <a:off x="11155680" y="6400800"/>
            <a:ext cx="548640" cy="274320"/>
          </a:xfrm>
          <a:prstGeom prst="rect"/>
        </p:spPr>
        <p:txBody>
          <a:bodyPr/>
          <a:lstStyle>
            <a:lvl1pPr>
              <a:defRPr sz="1100">
                <a:solidFill>
                  <a:srgbClr val="5A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HRCompanion">
  <a:themeElements>
    <a:clrScheme name="HRCompanion">
      <a:dk1>
        <a:srgbClr val="1F2937"/>
      </a:dk1>
      <a:lt1>
        <a:srgbClr val="FFFFFF"/>
      </a:lt1>
      <a:dk2>
        <a:srgbClr val="14213D"/>
      </a:dk2>
      <a:lt2>
        <a:srgbClr val="F5F7FA"/>
      </a:lt2>
      <a:accent1>
        <a:srgbClr val="12A19A"/>
      </a:accent1>
      <a:accent2>
        <a:srgbClr val="F26B50"/>
      </a:accent2>
      <a:accent3>
        <a:srgbClr val="6B5BD2"/>
      </a:accent3>
      <a:accent4>
        <a:srgbClr val="F2B84B"/>
      </a:accent4>
      <a:accent5>
        <a:srgbClr val="3B82F6"/>
      </a:accent5>
      <a:accent6>
        <a:srgbClr val="7C8AA5"/>
      </a:accent6>
      <a:hlink>
        <a:srgbClr val="12A19A"/>
      </a:hlink>
      <a:folHlink>
        <a:srgbClr val="6B5BD2"/>
      </a:folHlink>
    </a:clrScheme>
    <a:fontScheme name="HRCompan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HRCompanion">
  <a:themeElements>
    <a:clrScheme name="HRCompanion">
      <a:dk1>
        <a:srgbClr val="1F2937"/>
      </a:dk1>
      <a:lt1>
        <a:srgbClr val="FFFFFF"/>
      </a:lt1>
      <a:dk2>
        <a:srgbClr val="14213D"/>
      </a:dk2>
      <a:lt2>
        <a:srgbClr val="F5F7FA"/>
      </a:lt2>
      <a:accent1>
        <a:srgbClr val="12A19A"/>
      </a:accent1>
      <a:accent2>
        <a:srgbClr val="F26B50"/>
      </a:accent2>
      <a:accent3>
        <a:srgbClr val="6B5BD2"/>
      </a:accent3>
      <a:accent4>
        <a:srgbClr val="F2B84B"/>
      </a:accent4>
      <a:accent5>
        <a:srgbClr val="3B82F6"/>
      </a:accent5>
      <a:accent6>
        <a:srgbClr val="7C8AA5"/>
      </a:accent6>
      <a:hlink>
        <a:srgbClr val="12A19A"/>
      </a:hlink>
      <a:folHlink>
        <a:srgbClr val="6B5BD2"/>
      </a:folHlink>
    </a:clrScheme>
    <a:fontScheme name="HRCompan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PptxGenJS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HRCompanion – Major Project Phase-1 (Review-2)</dc:title>
  <dc:creator>PptxGenJS</dc:creator>
  <cp:lastModifiedBy>PptxGenJS</cp:lastModifiedBy>
  <dcterms:created xsi:type="dcterms:W3CDTF">2026-10-27T19:14:05Z</dcterms:created>
  <dcterms:modified xsi:type="dcterms:W3CDTF">2026-10-28T06:21:20Z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f28b3e49cf6c4dc9acf1a57205b37369_23</vt:lpwstr>
  </property>
</Properties>
</file>