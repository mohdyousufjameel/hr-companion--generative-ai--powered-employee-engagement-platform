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63372"/>
          </a:solidFill>
          <a:ln/>
        </p:spPr>
      </p:sp>
      <p:sp>
        <p:nvSpPr>
          <p:cNvPr id="3" name="Shape 1"/>
          <p:cNvSpPr/>
          <p:nvPr/>
        </p:nvSpPr>
        <p:spPr>
          <a:xfrm>
            <a:off x="-1645920" y="4572000"/>
            <a:ext cx="3840480" cy="3840480"/>
          </a:xfrm>
          <a:prstGeom prst="ellipse">
            <a:avLst/>
          </a:prstGeom>
          <a:solidFill>
            <a:srgbClr val="263372"/>
          </a:solidFill>
          <a:ln/>
        </p:spPr>
      </p:sp>
      <p:sp>
        <p:nvSpPr>
          <p:cNvPr id="4" name="Shape 2"/>
          <p:cNvSpPr/>
          <p:nvPr/>
        </p:nvSpPr>
        <p:spPr>
          <a:xfrm>
            <a:off x="10698480" y="4206240"/>
            <a:ext cx="2377440" cy="2377440"/>
          </a:xfrm>
          <a:prstGeom prst="ellipse">
            <a:avLst/>
          </a:prstGeom>
          <a:solidFill>
            <a:srgbClr val="3DDC97"/>
          </a:solidFill>
          <a:ln/>
        </p:spPr>
      </p:sp>
      <p:sp>
        <p:nvSpPr>
          <p:cNvPr id="5" name="Text 3"/>
          <p:cNvSpPr/>
          <p:nvPr/>
        </p:nvSpPr>
        <p:spPr>
          <a:xfrm>
            <a:off x="822960" y="1417320"/>
            <a:ext cx="7315200" cy="365760"/>
          </a:xfrm>
          <a:prstGeom prst="rect">
            <a:avLst/>
          </a:prstGeom>
          <a:noFill/>
          <a:ln/>
        </p:spPr>
        <p:txBody>
          <a:bodyPr wrap="square" lIns="0" tIns="0" rIns="0" bIns="0" rtlCol="0" anchor="ctr"/>
          <a:lstStyle/>
          <a:p>
            <a:pPr indent="0" marL="0">
              <a:buNone/>
            </a:pPr>
            <a:r>
              <a:rPr lang="en-US" sz="1500" b="1" spc="300" kern="0" dirty="0">
                <a:solidFill>
                  <a:srgbClr val="3DDC97"/>
                </a:solidFill>
                <a:latin typeface="Calibri" pitchFamily="34" charset="0"/>
                <a:ea typeface="Calibri" pitchFamily="34" charset="-122"/>
                <a:cs typeface="Calibri" pitchFamily="34" charset="-120"/>
              </a:rPr>
              <a:t>MAJOR PROJECT</a:t>
            </a:r>
            <a:endParaRPr lang="en-US" sz="1500" dirty="0"/>
          </a:p>
        </p:txBody>
      </p:sp>
      <p:sp>
        <p:nvSpPr>
          <p:cNvPr id="6" name="Text 4"/>
          <p:cNvSpPr/>
          <p:nvPr/>
        </p:nvSpPr>
        <p:spPr>
          <a:xfrm>
            <a:off x="777240" y="1783080"/>
            <a:ext cx="100584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HRCompanion</a:t>
            </a:r>
            <a:endParaRPr lang="en-US" sz="5400" dirty="0"/>
          </a:p>
        </p:txBody>
      </p:sp>
      <p:sp>
        <p:nvSpPr>
          <p:cNvPr id="7" name="Text 5"/>
          <p:cNvSpPr/>
          <p:nvPr/>
        </p:nvSpPr>
        <p:spPr>
          <a:xfrm>
            <a:off x="822960" y="2880360"/>
            <a:ext cx="9875520" cy="64008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Generative AI–Powered Employee Engagement Platform</a:t>
            </a:r>
            <a:endParaRPr lang="en-US" sz="2200" dirty="0"/>
          </a:p>
        </p:txBody>
      </p:sp>
      <p:sp>
        <p:nvSpPr>
          <p:cNvPr id="8" name="Shape 6"/>
          <p:cNvSpPr/>
          <p:nvPr/>
        </p:nvSpPr>
        <p:spPr>
          <a:xfrm>
            <a:off x="822960" y="3611880"/>
            <a:ext cx="502920" cy="45720"/>
          </a:xfrm>
          <a:prstGeom prst="roundRect">
            <a:avLst/>
          </a:prstGeom>
          <a:solidFill>
            <a:srgbClr val="3DDC97"/>
          </a:solidFill>
          <a:ln/>
        </p:spPr>
      </p:sp>
      <p:sp>
        <p:nvSpPr>
          <p:cNvPr id="9" name="Text 7"/>
          <p:cNvSpPr/>
          <p:nvPr/>
        </p:nvSpPr>
        <p:spPr>
          <a:xfrm>
            <a:off x="822960" y="3977640"/>
            <a:ext cx="4572000" cy="320040"/>
          </a:xfrm>
          <a:prstGeom prst="rect">
            <a:avLst/>
          </a:prstGeom>
          <a:noFill/>
          <a:ln/>
        </p:spPr>
        <p:txBody>
          <a:bodyPr wrap="square" lIns="0" tIns="0" rIns="0" bIns="0" rtlCol="0" anchor="ctr"/>
          <a:lstStyle/>
          <a:p>
            <a:pPr indent="0" marL="0">
              <a:buNone/>
            </a:pPr>
            <a:r>
              <a:rPr lang="en-US" sz="1300" b="1" spc="100" kern="0" dirty="0">
                <a:solidFill>
                  <a:srgbClr val="3DDC97"/>
                </a:solidFill>
                <a:latin typeface="Calibri" pitchFamily="34" charset="0"/>
                <a:ea typeface="Calibri" pitchFamily="34" charset="-122"/>
                <a:cs typeface="Calibri" pitchFamily="34" charset="-120"/>
              </a:rPr>
              <a:t>Team Members</a:t>
            </a:r>
            <a:endParaRPr lang="en-US" sz="1300" dirty="0"/>
          </a:p>
        </p:txBody>
      </p:sp>
      <p:sp>
        <p:nvSpPr>
          <p:cNvPr id="10" name="Text 8"/>
          <p:cNvSpPr/>
          <p:nvPr/>
        </p:nvSpPr>
        <p:spPr>
          <a:xfrm>
            <a:off x="822960" y="4343400"/>
            <a:ext cx="283464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Mohd Feroz</a:t>
            </a:r>
            <a:endParaRPr lang="en-US" sz="1600" dirty="0"/>
          </a:p>
        </p:txBody>
      </p:sp>
      <p:sp>
        <p:nvSpPr>
          <p:cNvPr id="11" name="Text 9"/>
          <p:cNvSpPr/>
          <p:nvPr/>
        </p:nvSpPr>
        <p:spPr>
          <a:xfrm>
            <a:off x="3840480" y="4343400"/>
            <a:ext cx="283464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Mohd Yousuf Jameel</a:t>
            </a:r>
            <a:endParaRPr lang="en-US" sz="1600" dirty="0"/>
          </a:p>
        </p:txBody>
      </p:sp>
      <p:sp>
        <p:nvSpPr>
          <p:cNvPr id="12" name="Text 10"/>
          <p:cNvSpPr/>
          <p:nvPr/>
        </p:nvSpPr>
        <p:spPr>
          <a:xfrm>
            <a:off x="822960" y="4800600"/>
            <a:ext cx="283464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Mohammed Sameer</a:t>
            </a:r>
            <a:endParaRPr lang="en-US" sz="1600" dirty="0"/>
          </a:p>
        </p:txBody>
      </p:sp>
      <p:sp>
        <p:nvSpPr>
          <p:cNvPr id="13" name="Text 11"/>
          <p:cNvSpPr/>
          <p:nvPr/>
        </p:nvSpPr>
        <p:spPr>
          <a:xfrm>
            <a:off x="3840480" y="4800600"/>
            <a:ext cx="283464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Rahman Ullah Khan</a:t>
            </a:r>
            <a:endParaRPr lang="en-US" sz="1600" dirty="0"/>
          </a:p>
        </p:txBody>
      </p:sp>
      <p:sp>
        <p:nvSpPr>
          <p:cNvPr id="14" name="Text 12"/>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HRCompanion — Major Project</a:t>
            </a:r>
            <a:endParaRPr lang="en-US" sz="1000" dirty="0"/>
          </a:p>
        </p:txBody>
      </p:sp>
      <p:sp>
        <p:nvSpPr>
          <p:cNvPr id="15" name="Text 13"/>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Table of Contents</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Shape 2"/>
          <p:cNvSpPr/>
          <p:nvPr/>
        </p:nvSpPr>
        <p:spPr>
          <a:xfrm>
            <a:off x="640080" y="1554480"/>
            <a:ext cx="685800" cy="685800"/>
          </a:xfrm>
          <a:prstGeom prst="ellipse">
            <a:avLst/>
          </a:prstGeom>
          <a:solidFill>
            <a:srgbClr val="CADCFC"/>
          </a:solidFill>
          <a:ln/>
        </p:spPr>
      </p:sp>
      <p:sp>
        <p:nvSpPr>
          <p:cNvPr id="5" name="Text 3"/>
          <p:cNvSpPr/>
          <p:nvPr/>
        </p:nvSpPr>
        <p:spPr>
          <a:xfrm>
            <a:off x="640080" y="1554480"/>
            <a:ext cx="685800" cy="685800"/>
          </a:xfrm>
          <a:prstGeom prst="rect">
            <a:avLst/>
          </a:prstGeom>
          <a:noFill/>
          <a:ln/>
        </p:spPr>
        <p:txBody>
          <a:bodyPr wrap="square" lIns="0" tIns="0" rIns="0" bIns="0" rtlCol="0" anchor="ctr"/>
          <a:lstStyle/>
          <a:p>
            <a:pPr algn="ctr" indent="0" marL="0">
              <a:buNone/>
            </a:pPr>
            <a:r>
              <a:rPr lang="en-US" sz="1950" b="1" dirty="0">
                <a:solidFill>
                  <a:srgbClr val="1E2761"/>
                </a:solidFill>
                <a:latin typeface="Arial" pitchFamily="34" charset="0"/>
                <a:ea typeface="Arial" pitchFamily="34" charset="-122"/>
                <a:cs typeface="Arial" pitchFamily="34" charset="-120"/>
              </a:rPr>
              <a:t>01</a:t>
            </a:r>
            <a:endParaRPr lang="en-US" sz="1950" dirty="0"/>
          </a:p>
        </p:txBody>
      </p:sp>
      <p:sp>
        <p:nvSpPr>
          <p:cNvPr id="6" name="Text 4"/>
          <p:cNvSpPr/>
          <p:nvPr/>
        </p:nvSpPr>
        <p:spPr>
          <a:xfrm>
            <a:off x="1600200" y="1499616"/>
            <a:ext cx="777240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Abstract</a:t>
            </a:r>
            <a:endParaRPr lang="en-US" sz="2200" dirty="0"/>
          </a:p>
        </p:txBody>
      </p:sp>
      <p:sp>
        <p:nvSpPr>
          <p:cNvPr id="7" name="Text 5"/>
          <p:cNvSpPr/>
          <p:nvPr/>
        </p:nvSpPr>
        <p:spPr>
          <a:xfrm>
            <a:off x="1600200" y="1938528"/>
            <a:ext cx="8686800" cy="457200"/>
          </a:xfrm>
          <a:prstGeom prst="rect">
            <a:avLst/>
          </a:prstGeom>
          <a:noFill/>
          <a:ln/>
        </p:spPr>
        <p:txBody>
          <a:bodyPr wrap="square" lIns="0" tIns="0" rIns="0" bIns="0" rtlCol="0" anchor="ctr"/>
          <a:lstStyle/>
          <a:p>
            <a:pPr indent="0" marL="0">
              <a:buNone/>
            </a:pPr>
            <a:r>
              <a:rPr lang="en-US" sz="1400" dirty="0">
                <a:solidFill>
                  <a:srgbClr val="5B6178"/>
                </a:solidFill>
                <a:latin typeface="Calibri" pitchFamily="34" charset="0"/>
                <a:ea typeface="Calibri" pitchFamily="34" charset="-122"/>
                <a:cs typeface="Calibri" pitchFamily="34" charset="-120"/>
              </a:rPr>
              <a:t>A concise overview of the HRCompanion platform</a:t>
            </a:r>
            <a:endParaRPr lang="en-US" sz="1400" dirty="0"/>
          </a:p>
        </p:txBody>
      </p:sp>
      <p:sp>
        <p:nvSpPr>
          <p:cNvPr id="8" name="Shape 6"/>
          <p:cNvSpPr/>
          <p:nvPr/>
        </p:nvSpPr>
        <p:spPr>
          <a:xfrm>
            <a:off x="640080" y="2532888"/>
            <a:ext cx="9966960" cy="0"/>
          </a:xfrm>
          <a:prstGeom prst="line">
            <a:avLst/>
          </a:prstGeom>
          <a:noFill/>
          <a:ln w="12700">
            <a:solidFill>
              <a:srgbClr val="E4E7F2"/>
            </a:solidFill>
            <a:prstDash val="solid"/>
          </a:ln>
        </p:spPr>
      </p:sp>
      <p:sp>
        <p:nvSpPr>
          <p:cNvPr id="9" name="Shape 7"/>
          <p:cNvSpPr/>
          <p:nvPr/>
        </p:nvSpPr>
        <p:spPr>
          <a:xfrm>
            <a:off x="640080" y="2697480"/>
            <a:ext cx="685800" cy="685800"/>
          </a:xfrm>
          <a:prstGeom prst="ellipse">
            <a:avLst/>
          </a:prstGeom>
          <a:solidFill>
            <a:srgbClr val="CADCFC"/>
          </a:solidFill>
          <a:ln/>
        </p:spPr>
      </p:sp>
      <p:sp>
        <p:nvSpPr>
          <p:cNvPr id="10" name="Text 8"/>
          <p:cNvSpPr/>
          <p:nvPr/>
        </p:nvSpPr>
        <p:spPr>
          <a:xfrm>
            <a:off x="640080" y="2697480"/>
            <a:ext cx="685800" cy="685800"/>
          </a:xfrm>
          <a:prstGeom prst="rect">
            <a:avLst/>
          </a:prstGeom>
          <a:noFill/>
          <a:ln/>
        </p:spPr>
        <p:txBody>
          <a:bodyPr wrap="square" lIns="0" tIns="0" rIns="0" bIns="0" rtlCol="0" anchor="ctr"/>
          <a:lstStyle/>
          <a:p>
            <a:pPr algn="ctr" indent="0" marL="0">
              <a:buNone/>
            </a:pPr>
            <a:r>
              <a:rPr lang="en-US" sz="1950" b="1" dirty="0">
                <a:solidFill>
                  <a:srgbClr val="1E2761"/>
                </a:solidFill>
                <a:latin typeface="Arial" pitchFamily="34" charset="0"/>
                <a:ea typeface="Arial" pitchFamily="34" charset="-122"/>
                <a:cs typeface="Arial" pitchFamily="34" charset="-120"/>
              </a:rPr>
              <a:t>02</a:t>
            </a:r>
            <a:endParaRPr lang="en-US" sz="1950" dirty="0"/>
          </a:p>
        </p:txBody>
      </p:sp>
      <p:sp>
        <p:nvSpPr>
          <p:cNvPr id="11" name="Text 9"/>
          <p:cNvSpPr/>
          <p:nvPr/>
        </p:nvSpPr>
        <p:spPr>
          <a:xfrm>
            <a:off x="1600200" y="2642616"/>
            <a:ext cx="777240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Objective</a:t>
            </a:r>
            <a:endParaRPr lang="en-US" sz="2200" dirty="0"/>
          </a:p>
        </p:txBody>
      </p:sp>
      <p:sp>
        <p:nvSpPr>
          <p:cNvPr id="12" name="Text 10"/>
          <p:cNvSpPr/>
          <p:nvPr/>
        </p:nvSpPr>
        <p:spPr>
          <a:xfrm>
            <a:off x="1600200" y="3081528"/>
            <a:ext cx="8686800" cy="457200"/>
          </a:xfrm>
          <a:prstGeom prst="rect">
            <a:avLst/>
          </a:prstGeom>
          <a:noFill/>
          <a:ln/>
        </p:spPr>
        <p:txBody>
          <a:bodyPr wrap="square" lIns="0" tIns="0" rIns="0" bIns="0" rtlCol="0" anchor="ctr"/>
          <a:lstStyle/>
          <a:p>
            <a:pPr indent="0" marL="0">
              <a:buNone/>
            </a:pPr>
            <a:r>
              <a:rPr lang="en-US" sz="1400" dirty="0">
                <a:solidFill>
                  <a:srgbClr val="5B6178"/>
                </a:solidFill>
                <a:latin typeface="Calibri" pitchFamily="34" charset="0"/>
                <a:ea typeface="Calibri" pitchFamily="34" charset="-122"/>
                <a:cs typeface="Calibri" pitchFamily="34" charset="-120"/>
              </a:rPr>
              <a:t>Goals the project sets out to achieve</a:t>
            </a:r>
            <a:endParaRPr lang="en-US" sz="1400" dirty="0"/>
          </a:p>
        </p:txBody>
      </p:sp>
      <p:sp>
        <p:nvSpPr>
          <p:cNvPr id="13" name="Shape 11"/>
          <p:cNvSpPr/>
          <p:nvPr/>
        </p:nvSpPr>
        <p:spPr>
          <a:xfrm>
            <a:off x="640080" y="3675888"/>
            <a:ext cx="9966960" cy="0"/>
          </a:xfrm>
          <a:prstGeom prst="line">
            <a:avLst/>
          </a:prstGeom>
          <a:noFill/>
          <a:ln w="12700">
            <a:solidFill>
              <a:srgbClr val="E4E7F2"/>
            </a:solidFill>
            <a:prstDash val="solid"/>
          </a:ln>
        </p:spPr>
      </p:sp>
      <p:sp>
        <p:nvSpPr>
          <p:cNvPr id="14" name="Shape 12"/>
          <p:cNvSpPr/>
          <p:nvPr/>
        </p:nvSpPr>
        <p:spPr>
          <a:xfrm>
            <a:off x="640080" y="3840480"/>
            <a:ext cx="685800" cy="685800"/>
          </a:xfrm>
          <a:prstGeom prst="ellipse">
            <a:avLst/>
          </a:prstGeom>
          <a:solidFill>
            <a:srgbClr val="CADCFC"/>
          </a:solidFill>
          <a:ln/>
        </p:spPr>
      </p:sp>
      <p:sp>
        <p:nvSpPr>
          <p:cNvPr id="15" name="Text 13"/>
          <p:cNvSpPr/>
          <p:nvPr/>
        </p:nvSpPr>
        <p:spPr>
          <a:xfrm>
            <a:off x="640080" y="3840480"/>
            <a:ext cx="685800" cy="685800"/>
          </a:xfrm>
          <a:prstGeom prst="rect">
            <a:avLst/>
          </a:prstGeom>
          <a:noFill/>
          <a:ln/>
        </p:spPr>
        <p:txBody>
          <a:bodyPr wrap="square" lIns="0" tIns="0" rIns="0" bIns="0" rtlCol="0" anchor="ctr"/>
          <a:lstStyle/>
          <a:p>
            <a:pPr algn="ctr" indent="0" marL="0">
              <a:buNone/>
            </a:pPr>
            <a:r>
              <a:rPr lang="en-US" sz="1950" b="1" dirty="0">
                <a:solidFill>
                  <a:srgbClr val="1E2761"/>
                </a:solidFill>
                <a:latin typeface="Arial" pitchFamily="34" charset="0"/>
                <a:ea typeface="Arial" pitchFamily="34" charset="-122"/>
                <a:cs typeface="Arial" pitchFamily="34" charset="-120"/>
              </a:rPr>
              <a:t>03</a:t>
            </a:r>
            <a:endParaRPr lang="en-US" sz="1950" dirty="0"/>
          </a:p>
        </p:txBody>
      </p:sp>
      <p:sp>
        <p:nvSpPr>
          <p:cNvPr id="16" name="Text 14"/>
          <p:cNvSpPr/>
          <p:nvPr/>
        </p:nvSpPr>
        <p:spPr>
          <a:xfrm>
            <a:off x="1600200" y="3785616"/>
            <a:ext cx="777240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Introduction</a:t>
            </a:r>
            <a:endParaRPr lang="en-US" sz="2200" dirty="0"/>
          </a:p>
        </p:txBody>
      </p:sp>
      <p:sp>
        <p:nvSpPr>
          <p:cNvPr id="17" name="Text 15"/>
          <p:cNvSpPr/>
          <p:nvPr/>
        </p:nvSpPr>
        <p:spPr>
          <a:xfrm>
            <a:off x="1600200" y="4224528"/>
            <a:ext cx="8686800" cy="457200"/>
          </a:xfrm>
          <a:prstGeom prst="rect">
            <a:avLst/>
          </a:prstGeom>
          <a:noFill/>
          <a:ln/>
        </p:spPr>
        <p:txBody>
          <a:bodyPr wrap="square" lIns="0" tIns="0" rIns="0" bIns="0" rtlCol="0" anchor="ctr"/>
          <a:lstStyle/>
          <a:p>
            <a:pPr indent="0" marL="0">
              <a:buNone/>
            </a:pPr>
            <a:r>
              <a:rPr lang="en-US" sz="1400" dirty="0">
                <a:solidFill>
                  <a:srgbClr val="5B6178"/>
                </a:solidFill>
                <a:latin typeface="Calibri" pitchFamily="34" charset="0"/>
                <a:ea typeface="Calibri" pitchFamily="34" charset="-122"/>
                <a:cs typeface="Calibri" pitchFamily="34" charset="-120"/>
              </a:rPr>
              <a:t>Background, motivation and problem context</a:t>
            </a:r>
            <a:endParaRPr lang="en-US" sz="1400" dirty="0"/>
          </a:p>
        </p:txBody>
      </p:sp>
      <p:sp>
        <p:nvSpPr>
          <p:cNvPr id="18" name="Shape 16"/>
          <p:cNvSpPr/>
          <p:nvPr/>
        </p:nvSpPr>
        <p:spPr>
          <a:xfrm>
            <a:off x="640080" y="4818888"/>
            <a:ext cx="9966960" cy="0"/>
          </a:xfrm>
          <a:prstGeom prst="line">
            <a:avLst/>
          </a:prstGeom>
          <a:noFill/>
          <a:ln w="12700">
            <a:solidFill>
              <a:srgbClr val="E4E7F2"/>
            </a:solidFill>
            <a:prstDash val="solid"/>
          </a:ln>
        </p:spPr>
      </p:sp>
      <p:sp>
        <p:nvSpPr>
          <p:cNvPr id="19" name="Shape 17"/>
          <p:cNvSpPr/>
          <p:nvPr/>
        </p:nvSpPr>
        <p:spPr>
          <a:xfrm>
            <a:off x="640080" y="4983480"/>
            <a:ext cx="685800" cy="685800"/>
          </a:xfrm>
          <a:prstGeom prst="ellipse">
            <a:avLst/>
          </a:prstGeom>
          <a:solidFill>
            <a:srgbClr val="CADCFC"/>
          </a:solidFill>
          <a:ln/>
        </p:spPr>
      </p:sp>
      <p:sp>
        <p:nvSpPr>
          <p:cNvPr id="20" name="Text 18"/>
          <p:cNvSpPr/>
          <p:nvPr/>
        </p:nvSpPr>
        <p:spPr>
          <a:xfrm>
            <a:off x="640080" y="4983480"/>
            <a:ext cx="685800" cy="685800"/>
          </a:xfrm>
          <a:prstGeom prst="rect">
            <a:avLst/>
          </a:prstGeom>
          <a:noFill/>
          <a:ln/>
        </p:spPr>
        <p:txBody>
          <a:bodyPr wrap="square" lIns="0" tIns="0" rIns="0" bIns="0" rtlCol="0" anchor="ctr"/>
          <a:lstStyle/>
          <a:p>
            <a:pPr algn="ctr" indent="0" marL="0">
              <a:buNone/>
            </a:pPr>
            <a:r>
              <a:rPr lang="en-US" sz="1950" b="1" dirty="0">
                <a:solidFill>
                  <a:srgbClr val="1E2761"/>
                </a:solidFill>
                <a:latin typeface="Arial" pitchFamily="34" charset="0"/>
                <a:ea typeface="Arial" pitchFamily="34" charset="-122"/>
                <a:cs typeface="Arial" pitchFamily="34" charset="-120"/>
              </a:rPr>
              <a:t>04</a:t>
            </a:r>
            <a:endParaRPr lang="en-US" sz="1950" dirty="0"/>
          </a:p>
        </p:txBody>
      </p:sp>
      <p:sp>
        <p:nvSpPr>
          <p:cNvPr id="21" name="Text 19"/>
          <p:cNvSpPr/>
          <p:nvPr/>
        </p:nvSpPr>
        <p:spPr>
          <a:xfrm>
            <a:off x="1600200" y="4928616"/>
            <a:ext cx="777240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Literature Survey</a:t>
            </a:r>
            <a:endParaRPr lang="en-US" sz="2200" dirty="0"/>
          </a:p>
        </p:txBody>
      </p:sp>
      <p:sp>
        <p:nvSpPr>
          <p:cNvPr id="22" name="Text 20"/>
          <p:cNvSpPr/>
          <p:nvPr/>
        </p:nvSpPr>
        <p:spPr>
          <a:xfrm>
            <a:off x="1600200" y="5367528"/>
            <a:ext cx="8686800" cy="457200"/>
          </a:xfrm>
          <a:prstGeom prst="rect">
            <a:avLst/>
          </a:prstGeom>
          <a:noFill/>
          <a:ln/>
        </p:spPr>
        <p:txBody>
          <a:bodyPr wrap="square" lIns="0" tIns="0" rIns="0" bIns="0" rtlCol="0" anchor="ctr"/>
          <a:lstStyle/>
          <a:p>
            <a:pPr indent="0" marL="0">
              <a:buNone/>
            </a:pPr>
            <a:r>
              <a:rPr lang="en-US" sz="1400" dirty="0">
                <a:solidFill>
                  <a:srgbClr val="5B6178"/>
                </a:solidFill>
                <a:latin typeface="Calibri" pitchFamily="34" charset="0"/>
                <a:ea typeface="Calibri" pitchFamily="34" charset="-122"/>
                <a:cs typeface="Calibri" pitchFamily="34" charset="-120"/>
              </a:rPr>
              <a:t>Review of 10 related research papers</a:t>
            </a:r>
            <a:endParaRPr lang="en-US" sz="14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24" name="Text 22"/>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Abstract</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Shape 2"/>
          <p:cNvSpPr/>
          <p:nvPr/>
        </p:nvSpPr>
        <p:spPr>
          <a:xfrm>
            <a:off x="548640" y="1417320"/>
            <a:ext cx="6949440" cy="4846320"/>
          </a:xfrm>
          <a:prstGeom prst="roundRect">
            <a:avLst>
              <a:gd name="adj" fmla="val 2264"/>
            </a:avLst>
          </a:prstGeom>
          <a:solidFill>
            <a:srgbClr val="F7F9FD"/>
          </a:solidFill>
          <a:ln/>
        </p:spPr>
      </p:sp>
      <p:sp>
        <p:nvSpPr>
          <p:cNvPr id="5" name="Text 3"/>
          <p:cNvSpPr/>
          <p:nvPr/>
        </p:nvSpPr>
        <p:spPr>
          <a:xfrm>
            <a:off x="868680" y="1691640"/>
            <a:ext cx="6309360" cy="4297680"/>
          </a:xfrm>
          <a:prstGeom prst="rect">
            <a:avLst/>
          </a:prstGeom>
          <a:noFill/>
          <a:ln/>
        </p:spPr>
        <p:txBody>
          <a:bodyPr wrap="square" lIns="0" tIns="0" rIns="0" bIns="0" rtlCol="0" anchor="t"/>
          <a:lstStyle/>
          <a:p>
            <a:pPr indent="0" marL="0">
              <a:lnSpc>
                <a:spcPct val="125000"/>
              </a:lnSpc>
              <a:buNone/>
            </a:pPr>
            <a:r>
              <a:rPr lang="en-US" sz="1500" dirty="0">
                <a:solidFill>
                  <a:srgbClr val="1B1F3B"/>
                </a:solidFill>
                <a:latin typeface="Calibri" pitchFamily="34" charset="0"/>
                <a:ea typeface="Calibri" pitchFamily="34" charset="-122"/>
                <a:cs typeface="Calibri" pitchFamily="34" charset="-120"/>
              </a:rPr>
              <a:t>Employee engagement remains one of the most persistent challenges in modern organizations, with traditional HR support systems often being slow, impersonal, and unavailable outside working hours. HRCompanion is a Generative AI–powered employee engagement platform designed to bridge this gap by offering employees an intelligent, conversational assistant for HR-related queries, feedback, onboarding support, and real-time sentiment tracking. Built on Large Language Model (LLM) technology, the platform understands natural language, personalizes responses, and continuously learns from employee interactions to improve organizational communication. By automating routine HR tasks and providing 24/7 accessible, empathetic support, HRCompanion aims to enhance employee satisfaction, strengthen retention, and enable HR teams to focus on strategic, people-centric initiatives.</a:t>
            </a:r>
            <a:endParaRPr lang="en-US" sz="1500" dirty="0"/>
          </a:p>
        </p:txBody>
      </p:sp>
      <p:sp>
        <p:nvSpPr>
          <p:cNvPr id="6" name="Shape 4"/>
          <p:cNvSpPr/>
          <p:nvPr/>
        </p:nvSpPr>
        <p:spPr>
          <a:xfrm>
            <a:off x="7818120" y="1600200"/>
            <a:ext cx="3794760" cy="1280160"/>
          </a:xfrm>
          <a:prstGeom prst="roundRect">
            <a:avLst>
              <a:gd name="adj" fmla="val 7143"/>
            </a:avLst>
          </a:prstGeom>
          <a:solidFill>
            <a:srgbClr val="1E2761"/>
          </a:solidFill>
          <a:ln/>
        </p:spPr>
      </p:sp>
      <p:sp>
        <p:nvSpPr>
          <p:cNvPr id="7" name="Text 5"/>
          <p:cNvSpPr/>
          <p:nvPr/>
        </p:nvSpPr>
        <p:spPr>
          <a:xfrm>
            <a:off x="8001000" y="1737360"/>
            <a:ext cx="3429000" cy="548640"/>
          </a:xfrm>
          <a:prstGeom prst="rect">
            <a:avLst/>
          </a:prstGeom>
          <a:noFill/>
          <a:ln/>
        </p:spPr>
        <p:txBody>
          <a:bodyPr wrap="square" lIns="0" tIns="0" rIns="0" bIns="0" rtlCol="0" anchor="ctr"/>
          <a:lstStyle/>
          <a:p>
            <a:pPr indent="0" marL="0">
              <a:buNone/>
            </a:pPr>
            <a:r>
              <a:rPr lang="en-US" sz="2600" b="1" dirty="0">
                <a:solidFill>
                  <a:srgbClr val="3DDC97"/>
                </a:solidFill>
                <a:latin typeface="Cambria" pitchFamily="34" charset="0"/>
                <a:ea typeface="Cambria" pitchFamily="34" charset="-122"/>
                <a:cs typeface="Cambria" pitchFamily="34" charset="-120"/>
              </a:rPr>
              <a:t>24/7</a:t>
            </a:r>
            <a:endParaRPr lang="en-US" sz="2600" dirty="0"/>
          </a:p>
        </p:txBody>
      </p:sp>
      <p:sp>
        <p:nvSpPr>
          <p:cNvPr id="8" name="Text 6"/>
          <p:cNvSpPr/>
          <p:nvPr/>
        </p:nvSpPr>
        <p:spPr>
          <a:xfrm>
            <a:off x="8001000" y="2350008"/>
            <a:ext cx="342900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Always-on support</a:t>
            </a:r>
            <a:endParaRPr lang="en-US" sz="1300" dirty="0"/>
          </a:p>
        </p:txBody>
      </p:sp>
      <p:sp>
        <p:nvSpPr>
          <p:cNvPr id="9" name="Shape 7"/>
          <p:cNvSpPr/>
          <p:nvPr/>
        </p:nvSpPr>
        <p:spPr>
          <a:xfrm>
            <a:off x="7818120" y="3154680"/>
            <a:ext cx="3794760" cy="1280160"/>
          </a:xfrm>
          <a:prstGeom prst="roundRect">
            <a:avLst>
              <a:gd name="adj" fmla="val 7143"/>
            </a:avLst>
          </a:prstGeom>
          <a:solidFill>
            <a:srgbClr val="1E2761"/>
          </a:solidFill>
          <a:ln/>
        </p:spPr>
      </p:sp>
      <p:sp>
        <p:nvSpPr>
          <p:cNvPr id="10" name="Text 8"/>
          <p:cNvSpPr/>
          <p:nvPr/>
        </p:nvSpPr>
        <p:spPr>
          <a:xfrm>
            <a:off x="8001000" y="3291840"/>
            <a:ext cx="3429000" cy="548640"/>
          </a:xfrm>
          <a:prstGeom prst="rect">
            <a:avLst/>
          </a:prstGeom>
          <a:noFill/>
          <a:ln/>
        </p:spPr>
        <p:txBody>
          <a:bodyPr wrap="square" lIns="0" tIns="0" rIns="0" bIns="0" rtlCol="0" anchor="ctr"/>
          <a:lstStyle/>
          <a:p>
            <a:pPr indent="0" marL="0">
              <a:buNone/>
            </a:pPr>
            <a:r>
              <a:rPr lang="en-US" sz="2600" b="1" dirty="0">
                <a:solidFill>
                  <a:srgbClr val="3DDC97"/>
                </a:solidFill>
                <a:latin typeface="Cambria" pitchFamily="34" charset="0"/>
                <a:ea typeface="Cambria" pitchFamily="34" charset="-122"/>
                <a:cs typeface="Cambria" pitchFamily="34" charset="-120"/>
              </a:rPr>
              <a:t>LLM</a:t>
            </a:r>
            <a:endParaRPr lang="en-US" sz="2600" dirty="0"/>
          </a:p>
        </p:txBody>
      </p:sp>
      <p:sp>
        <p:nvSpPr>
          <p:cNvPr id="11" name="Text 9"/>
          <p:cNvSpPr/>
          <p:nvPr/>
        </p:nvSpPr>
        <p:spPr>
          <a:xfrm>
            <a:off x="8001000" y="3904488"/>
            <a:ext cx="342900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Core AI engine</a:t>
            </a:r>
            <a:endParaRPr lang="en-US" sz="1300" dirty="0"/>
          </a:p>
        </p:txBody>
      </p:sp>
      <p:sp>
        <p:nvSpPr>
          <p:cNvPr id="12" name="Shape 10"/>
          <p:cNvSpPr/>
          <p:nvPr/>
        </p:nvSpPr>
        <p:spPr>
          <a:xfrm>
            <a:off x="7818120" y="4709160"/>
            <a:ext cx="3794760" cy="1280160"/>
          </a:xfrm>
          <a:prstGeom prst="roundRect">
            <a:avLst>
              <a:gd name="adj" fmla="val 7143"/>
            </a:avLst>
          </a:prstGeom>
          <a:solidFill>
            <a:srgbClr val="1E2761"/>
          </a:solidFill>
          <a:ln/>
        </p:spPr>
      </p:sp>
      <p:sp>
        <p:nvSpPr>
          <p:cNvPr id="13" name="Text 11"/>
          <p:cNvSpPr/>
          <p:nvPr/>
        </p:nvSpPr>
        <p:spPr>
          <a:xfrm>
            <a:off x="8001000" y="4846320"/>
            <a:ext cx="3429000" cy="548640"/>
          </a:xfrm>
          <a:prstGeom prst="rect">
            <a:avLst/>
          </a:prstGeom>
          <a:noFill/>
          <a:ln/>
        </p:spPr>
        <p:txBody>
          <a:bodyPr wrap="square" lIns="0" tIns="0" rIns="0" bIns="0" rtlCol="0" anchor="ctr"/>
          <a:lstStyle/>
          <a:p>
            <a:pPr indent="0" marL="0">
              <a:buNone/>
            </a:pPr>
            <a:r>
              <a:rPr lang="en-US" sz="2600" b="1" dirty="0">
                <a:solidFill>
                  <a:srgbClr val="3DDC97"/>
                </a:solidFill>
                <a:latin typeface="Cambria" pitchFamily="34" charset="0"/>
                <a:ea typeface="Cambria" pitchFamily="34" charset="-122"/>
                <a:cs typeface="Cambria" pitchFamily="34" charset="-120"/>
              </a:rPr>
              <a:t>Real-time</a:t>
            </a:r>
            <a:endParaRPr lang="en-US" sz="2600" dirty="0"/>
          </a:p>
        </p:txBody>
      </p:sp>
      <p:sp>
        <p:nvSpPr>
          <p:cNvPr id="14" name="Text 12"/>
          <p:cNvSpPr/>
          <p:nvPr/>
        </p:nvSpPr>
        <p:spPr>
          <a:xfrm>
            <a:off x="8001000" y="5458968"/>
            <a:ext cx="342900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Sentiment insights</a:t>
            </a:r>
            <a:endParaRPr lang="en-US" sz="1300" dirty="0"/>
          </a:p>
        </p:txBody>
      </p:sp>
      <p:sp>
        <p:nvSpPr>
          <p:cNvPr id="15" name="Text 13"/>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16" name="Text 14"/>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Objective</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Shape 2"/>
          <p:cNvSpPr/>
          <p:nvPr/>
        </p:nvSpPr>
        <p:spPr>
          <a:xfrm>
            <a:off x="548640" y="1508760"/>
            <a:ext cx="3520440" cy="2148840"/>
          </a:xfrm>
          <a:prstGeom prst="roundRect">
            <a:avLst>
              <a:gd name="adj" fmla="val 4255"/>
            </a:avLst>
          </a:prstGeom>
          <a:solidFill>
            <a:srgbClr val="F7F9FD"/>
          </a:solidFill>
          <a:ln/>
          <a:effectLst>
            <a:outerShdw sx="100000" sy="100000" kx="0" ky="0" algn="bl" rotWithShape="0" blurRad="76200" dist="25400" dir="5400000">
              <a:srgbClr val="1E2761">
                <a:alpha val="12000"/>
              </a:srgbClr>
            </a:outerShdw>
          </a:effectLst>
        </p:spPr>
      </p:sp>
      <p:sp>
        <p:nvSpPr>
          <p:cNvPr id="5" name="Shape 3"/>
          <p:cNvSpPr/>
          <p:nvPr/>
        </p:nvSpPr>
        <p:spPr>
          <a:xfrm>
            <a:off x="777240" y="1737360"/>
            <a:ext cx="502920" cy="502920"/>
          </a:xfrm>
          <a:prstGeom prst="ellipse">
            <a:avLst/>
          </a:prstGeom>
          <a:solidFill>
            <a:srgbClr val="1E2761"/>
          </a:solidFill>
          <a:ln/>
        </p:spPr>
      </p:sp>
      <p:sp>
        <p:nvSpPr>
          <p:cNvPr id="6" name="Text 4"/>
          <p:cNvSpPr/>
          <p:nvPr/>
        </p:nvSpPr>
        <p:spPr>
          <a:xfrm>
            <a:off x="777240" y="17373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Arial" pitchFamily="34" charset="0"/>
                <a:ea typeface="Arial" pitchFamily="34" charset="-122"/>
                <a:cs typeface="Arial" pitchFamily="34" charset="-120"/>
              </a:rPr>
              <a:t>1</a:t>
            </a:r>
            <a:endParaRPr lang="en-US" sz="1430" dirty="0"/>
          </a:p>
        </p:txBody>
      </p:sp>
      <p:sp>
        <p:nvSpPr>
          <p:cNvPr id="7" name="Text 5"/>
          <p:cNvSpPr/>
          <p:nvPr/>
        </p:nvSpPr>
        <p:spPr>
          <a:xfrm>
            <a:off x="777240" y="2350008"/>
            <a:ext cx="306324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AI-Powered Assistant</a:t>
            </a:r>
            <a:endParaRPr lang="en-US" sz="1500" dirty="0"/>
          </a:p>
        </p:txBody>
      </p:sp>
      <p:sp>
        <p:nvSpPr>
          <p:cNvPr id="8" name="Text 6"/>
          <p:cNvSpPr/>
          <p:nvPr/>
        </p:nvSpPr>
        <p:spPr>
          <a:xfrm>
            <a:off x="777240" y="2770632"/>
            <a:ext cx="3063240" cy="822960"/>
          </a:xfrm>
          <a:prstGeom prst="rect">
            <a:avLst/>
          </a:prstGeom>
          <a:noFill/>
          <a:ln/>
        </p:spPr>
        <p:txBody>
          <a:bodyPr wrap="square" lIns="0" tIns="0" rIns="0" bIns="0" rtlCol="0" anchor="t"/>
          <a:lstStyle/>
          <a:p>
            <a:pPr indent="0" marL="0">
              <a:lnSpc>
                <a:spcPct val="115000"/>
              </a:lnSpc>
              <a:buNone/>
            </a:pPr>
            <a:r>
              <a:rPr lang="en-US" sz="1150" dirty="0">
                <a:solidFill>
                  <a:srgbClr val="5B6178"/>
                </a:solidFill>
                <a:latin typeface="Calibri" pitchFamily="34" charset="0"/>
                <a:ea typeface="Calibri" pitchFamily="34" charset="-122"/>
                <a:cs typeface="Calibri" pitchFamily="34" charset="-120"/>
              </a:rPr>
              <a:t>Develop a generative-AI conversational agent that resolves employee HR queries instantly and accurately.</a:t>
            </a:r>
            <a:endParaRPr lang="en-US" sz="1150" dirty="0"/>
          </a:p>
        </p:txBody>
      </p:sp>
      <p:sp>
        <p:nvSpPr>
          <p:cNvPr id="9" name="Shape 7"/>
          <p:cNvSpPr/>
          <p:nvPr/>
        </p:nvSpPr>
        <p:spPr>
          <a:xfrm>
            <a:off x="4325112" y="1508760"/>
            <a:ext cx="3520440" cy="2148840"/>
          </a:xfrm>
          <a:prstGeom prst="roundRect">
            <a:avLst>
              <a:gd name="adj" fmla="val 4255"/>
            </a:avLst>
          </a:prstGeom>
          <a:solidFill>
            <a:srgbClr val="F7F9FD"/>
          </a:solidFill>
          <a:ln/>
          <a:effectLst>
            <a:outerShdw sx="100000" sy="100000" kx="0" ky="0" algn="bl" rotWithShape="0" blurRad="76200" dist="25400" dir="5400000">
              <a:srgbClr val="1E2761">
                <a:alpha val="12000"/>
              </a:srgbClr>
            </a:outerShdw>
          </a:effectLst>
        </p:spPr>
      </p:sp>
      <p:sp>
        <p:nvSpPr>
          <p:cNvPr id="10" name="Shape 8"/>
          <p:cNvSpPr/>
          <p:nvPr/>
        </p:nvSpPr>
        <p:spPr>
          <a:xfrm>
            <a:off x="4553712" y="1737360"/>
            <a:ext cx="502920" cy="502920"/>
          </a:xfrm>
          <a:prstGeom prst="ellipse">
            <a:avLst/>
          </a:prstGeom>
          <a:solidFill>
            <a:srgbClr val="1E2761"/>
          </a:solidFill>
          <a:ln/>
        </p:spPr>
      </p:sp>
      <p:sp>
        <p:nvSpPr>
          <p:cNvPr id="11" name="Text 9"/>
          <p:cNvSpPr/>
          <p:nvPr/>
        </p:nvSpPr>
        <p:spPr>
          <a:xfrm>
            <a:off x="4553712" y="17373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Arial" pitchFamily="34" charset="0"/>
                <a:ea typeface="Arial" pitchFamily="34" charset="-122"/>
                <a:cs typeface="Arial" pitchFamily="34" charset="-120"/>
              </a:rPr>
              <a:t>2</a:t>
            </a:r>
            <a:endParaRPr lang="en-US" sz="1430" dirty="0"/>
          </a:p>
        </p:txBody>
      </p:sp>
      <p:sp>
        <p:nvSpPr>
          <p:cNvPr id="12" name="Text 10"/>
          <p:cNvSpPr/>
          <p:nvPr/>
        </p:nvSpPr>
        <p:spPr>
          <a:xfrm>
            <a:off x="4553712" y="2350008"/>
            <a:ext cx="306324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Boost Engagement</a:t>
            </a:r>
            <a:endParaRPr lang="en-US" sz="1500" dirty="0"/>
          </a:p>
        </p:txBody>
      </p:sp>
      <p:sp>
        <p:nvSpPr>
          <p:cNvPr id="13" name="Text 11"/>
          <p:cNvSpPr/>
          <p:nvPr/>
        </p:nvSpPr>
        <p:spPr>
          <a:xfrm>
            <a:off x="4553712" y="2770632"/>
            <a:ext cx="3063240" cy="822960"/>
          </a:xfrm>
          <a:prstGeom prst="rect">
            <a:avLst/>
          </a:prstGeom>
          <a:noFill/>
          <a:ln/>
        </p:spPr>
        <p:txBody>
          <a:bodyPr wrap="square" lIns="0" tIns="0" rIns="0" bIns="0" rtlCol="0" anchor="t"/>
          <a:lstStyle/>
          <a:p>
            <a:pPr indent="0" marL="0">
              <a:lnSpc>
                <a:spcPct val="115000"/>
              </a:lnSpc>
              <a:buNone/>
            </a:pPr>
            <a:r>
              <a:rPr lang="en-US" sz="1150" dirty="0">
                <a:solidFill>
                  <a:srgbClr val="5B6178"/>
                </a:solidFill>
                <a:latin typeface="Calibri" pitchFamily="34" charset="0"/>
                <a:ea typeface="Calibri" pitchFamily="34" charset="-122"/>
                <a:cs typeface="Calibri" pitchFamily="34" charset="-120"/>
              </a:rPr>
              <a:t>Increase day-to-day employee engagement, satisfaction and retention through personalized interaction.</a:t>
            </a:r>
            <a:endParaRPr lang="en-US" sz="1150" dirty="0"/>
          </a:p>
        </p:txBody>
      </p:sp>
      <p:sp>
        <p:nvSpPr>
          <p:cNvPr id="14" name="Shape 12"/>
          <p:cNvSpPr/>
          <p:nvPr/>
        </p:nvSpPr>
        <p:spPr>
          <a:xfrm>
            <a:off x="8101584" y="1508760"/>
            <a:ext cx="3520440" cy="2148840"/>
          </a:xfrm>
          <a:prstGeom prst="roundRect">
            <a:avLst>
              <a:gd name="adj" fmla="val 4255"/>
            </a:avLst>
          </a:prstGeom>
          <a:solidFill>
            <a:srgbClr val="F7F9FD"/>
          </a:solidFill>
          <a:ln/>
          <a:effectLst>
            <a:outerShdw sx="100000" sy="100000" kx="0" ky="0" algn="bl" rotWithShape="0" blurRad="76200" dist="25400" dir="5400000">
              <a:srgbClr val="1E2761">
                <a:alpha val="12000"/>
              </a:srgbClr>
            </a:outerShdw>
          </a:effectLst>
        </p:spPr>
      </p:sp>
      <p:sp>
        <p:nvSpPr>
          <p:cNvPr id="15" name="Shape 13"/>
          <p:cNvSpPr/>
          <p:nvPr/>
        </p:nvSpPr>
        <p:spPr>
          <a:xfrm>
            <a:off x="8330184" y="1737360"/>
            <a:ext cx="502920" cy="502920"/>
          </a:xfrm>
          <a:prstGeom prst="ellipse">
            <a:avLst/>
          </a:prstGeom>
          <a:solidFill>
            <a:srgbClr val="1E2761"/>
          </a:solidFill>
          <a:ln/>
        </p:spPr>
      </p:sp>
      <p:sp>
        <p:nvSpPr>
          <p:cNvPr id="16" name="Text 14"/>
          <p:cNvSpPr/>
          <p:nvPr/>
        </p:nvSpPr>
        <p:spPr>
          <a:xfrm>
            <a:off x="8330184" y="173736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Arial" pitchFamily="34" charset="0"/>
                <a:ea typeface="Arial" pitchFamily="34" charset="-122"/>
                <a:cs typeface="Arial" pitchFamily="34" charset="-120"/>
              </a:rPr>
              <a:t>3</a:t>
            </a:r>
            <a:endParaRPr lang="en-US" sz="1430" dirty="0"/>
          </a:p>
        </p:txBody>
      </p:sp>
      <p:sp>
        <p:nvSpPr>
          <p:cNvPr id="17" name="Text 15"/>
          <p:cNvSpPr/>
          <p:nvPr/>
        </p:nvSpPr>
        <p:spPr>
          <a:xfrm>
            <a:off x="8330184" y="2350008"/>
            <a:ext cx="306324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Sentiment Analysis</a:t>
            </a:r>
            <a:endParaRPr lang="en-US" sz="1500" dirty="0"/>
          </a:p>
        </p:txBody>
      </p:sp>
      <p:sp>
        <p:nvSpPr>
          <p:cNvPr id="18" name="Text 16"/>
          <p:cNvSpPr/>
          <p:nvPr/>
        </p:nvSpPr>
        <p:spPr>
          <a:xfrm>
            <a:off x="8330184" y="2770632"/>
            <a:ext cx="3063240" cy="822960"/>
          </a:xfrm>
          <a:prstGeom prst="rect">
            <a:avLst/>
          </a:prstGeom>
          <a:noFill/>
          <a:ln/>
        </p:spPr>
        <p:txBody>
          <a:bodyPr wrap="square" lIns="0" tIns="0" rIns="0" bIns="0" rtlCol="0" anchor="t"/>
          <a:lstStyle/>
          <a:p>
            <a:pPr indent="0" marL="0">
              <a:lnSpc>
                <a:spcPct val="115000"/>
              </a:lnSpc>
              <a:buNone/>
            </a:pPr>
            <a:r>
              <a:rPr lang="en-US" sz="1150" dirty="0">
                <a:solidFill>
                  <a:srgbClr val="5B6178"/>
                </a:solidFill>
                <a:latin typeface="Calibri" pitchFamily="34" charset="0"/>
                <a:ea typeface="Calibri" pitchFamily="34" charset="-122"/>
                <a:cs typeface="Calibri" pitchFamily="34" charset="-120"/>
              </a:rPr>
              <a:t>Continuously analyze employee feedback and conversations to surface morale trends early.</a:t>
            </a:r>
            <a:endParaRPr lang="en-US" sz="1150" dirty="0"/>
          </a:p>
        </p:txBody>
      </p:sp>
      <p:sp>
        <p:nvSpPr>
          <p:cNvPr id="19" name="Shape 17"/>
          <p:cNvSpPr/>
          <p:nvPr/>
        </p:nvSpPr>
        <p:spPr>
          <a:xfrm>
            <a:off x="548640" y="3931920"/>
            <a:ext cx="3520440" cy="2148840"/>
          </a:xfrm>
          <a:prstGeom prst="roundRect">
            <a:avLst>
              <a:gd name="adj" fmla="val 4255"/>
            </a:avLst>
          </a:prstGeom>
          <a:solidFill>
            <a:srgbClr val="F7F9FD"/>
          </a:solidFill>
          <a:ln/>
          <a:effectLst>
            <a:outerShdw sx="100000" sy="100000" kx="0" ky="0" algn="bl" rotWithShape="0" blurRad="76200" dist="25400" dir="5400000">
              <a:srgbClr val="1E2761">
                <a:alpha val="12000"/>
              </a:srgbClr>
            </a:outerShdw>
          </a:effectLst>
        </p:spPr>
      </p:sp>
      <p:sp>
        <p:nvSpPr>
          <p:cNvPr id="20" name="Shape 18"/>
          <p:cNvSpPr/>
          <p:nvPr/>
        </p:nvSpPr>
        <p:spPr>
          <a:xfrm>
            <a:off x="777240" y="4160520"/>
            <a:ext cx="502920" cy="502920"/>
          </a:xfrm>
          <a:prstGeom prst="ellipse">
            <a:avLst/>
          </a:prstGeom>
          <a:solidFill>
            <a:srgbClr val="1E2761"/>
          </a:solidFill>
          <a:ln/>
        </p:spPr>
      </p:sp>
      <p:sp>
        <p:nvSpPr>
          <p:cNvPr id="21" name="Text 19"/>
          <p:cNvSpPr/>
          <p:nvPr/>
        </p:nvSpPr>
        <p:spPr>
          <a:xfrm>
            <a:off x="777240" y="41605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Arial" pitchFamily="34" charset="0"/>
                <a:ea typeface="Arial" pitchFamily="34" charset="-122"/>
                <a:cs typeface="Arial" pitchFamily="34" charset="-120"/>
              </a:rPr>
              <a:t>4</a:t>
            </a:r>
            <a:endParaRPr lang="en-US" sz="1430" dirty="0"/>
          </a:p>
        </p:txBody>
      </p:sp>
      <p:sp>
        <p:nvSpPr>
          <p:cNvPr id="22" name="Text 20"/>
          <p:cNvSpPr/>
          <p:nvPr/>
        </p:nvSpPr>
        <p:spPr>
          <a:xfrm>
            <a:off x="777240" y="4773168"/>
            <a:ext cx="306324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Automate HR Tasks</a:t>
            </a:r>
            <a:endParaRPr lang="en-US" sz="1500" dirty="0"/>
          </a:p>
        </p:txBody>
      </p:sp>
      <p:sp>
        <p:nvSpPr>
          <p:cNvPr id="23" name="Text 21"/>
          <p:cNvSpPr/>
          <p:nvPr/>
        </p:nvSpPr>
        <p:spPr>
          <a:xfrm>
            <a:off x="777240" y="5193792"/>
            <a:ext cx="3063240" cy="822960"/>
          </a:xfrm>
          <a:prstGeom prst="rect">
            <a:avLst/>
          </a:prstGeom>
          <a:noFill/>
          <a:ln/>
        </p:spPr>
        <p:txBody>
          <a:bodyPr wrap="square" lIns="0" tIns="0" rIns="0" bIns="0" rtlCol="0" anchor="t"/>
          <a:lstStyle/>
          <a:p>
            <a:pPr indent="0" marL="0">
              <a:lnSpc>
                <a:spcPct val="115000"/>
              </a:lnSpc>
              <a:buNone/>
            </a:pPr>
            <a:r>
              <a:rPr lang="en-US" sz="1150" dirty="0">
                <a:solidFill>
                  <a:srgbClr val="5B6178"/>
                </a:solidFill>
                <a:latin typeface="Calibri" pitchFamily="34" charset="0"/>
                <a:ea typeface="Calibri" pitchFamily="34" charset="-122"/>
                <a:cs typeface="Calibri" pitchFamily="34" charset="-120"/>
              </a:rPr>
              <a:t>Reduce manual workload by automating onboarding, leave, policy and benefits queries.</a:t>
            </a:r>
            <a:endParaRPr lang="en-US" sz="1150" dirty="0"/>
          </a:p>
        </p:txBody>
      </p:sp>
      <p:sp>
        <p:nvSpPr>
          <p:cNvPr id="24" name="Shape 22"/>
          <p:cNvSpPr/>
          <p:nvPr/>
        </p:nvSpPr>
        <p:spPr>
          <a:xfrm>
            <a:off x="4325112" y="3931920"/>
            <a:ext cx="3520440" cy="2148840"/>
          </a:xfrm>
          <a:prstGeom prst="roundRect">
            <a:avLst>
              <a:gd name="adj" fmla="val 4255"/>
            </a:avLst>
          </a:prstGeom>
          <a:solidFill>
            <a:srgbClr val="F7F9FD"/>
          </a:solidFill>
          <a:ln/>
          <a:effectLst>
            <a:outerShdw sx="100000" sy="100000" kx="0" ky="0" algn="bl" rotWithShape="0" blurRad="76200" dist="25400" dir="5400000">
              <a:srgbClr val="1E2761">
                <a:alpha val="12000"/>
              </a:srgbClr>
            </a:outerShdw>
          </a:effectLst>
        </p:spPr>
      </p:sp>
      <p:sp>
        <p:nvSpPr>
          <p:cNvPr id="25" name="Shape 23"/>
          <p:cNvSpPr/>
          <p:nvPr/>
        </p:nvSpPr>
        <p:spPr>
          <a:xfrm>
            <a:off x="4553712" y="4160520"/>
            <a:ext cx="502920" cy="502920"/>
          </a:xfrm>
          <a:prstGeom prst="ellipse">
            <a:avLst/>
          </a:prstGeom>
          <a:solidFill>
            <a:srgbClr val="1E2761"/>
          </a:solidFill>
          <a:ln/>
        </p:spPr>
      </p:sp>
      <p:sp>
        <p:nvSpPr>
          <p:cNvPr id="26" name="Text 24"/>
          <p:cNvSpPr/>
          <p:nvPr/>
        </p:nvSpPr>
        <p:spPr>
          <a:xfrm>
            <a:off x="4553712" y="41605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Arial" pitchFamily="34" charset="0"/>
                <a:ea typeface="Arial" pitchFamily="34" charset="-122"/>
                <a:cs typeface="Arial" pitchFamily="34" charset="-120"/>
              </a:rPr>
              <a:t>5</a:t>
            </a:r>
            <a:endParaRPr lang="en-US" sz="1430" dirty="0"/>
          </a:p>
        </p:txBody>
      </p:sp>
      <p:sp>
        <p:nvSpPr>
          <p:cNvPr id="27" name="Text 25"/>
          <p:cNvSpPr/>
          <p:nvPr/>
        </p:nvSpPr>
        <p:spPr>
          <a:xfrm>
            <a:off x="4553712" y="4773168"/>
            <a:ext cx="306324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Personalized Support</a:t>
            </a:r>
            <a:endParaRPr lang="en-US" sz="1500" dirty="0"/>
          </a:p>
        </p:txBody>
      </p:sp>
      <p:sp>
        <p:nvSpPr>
          <p:cNvPr id="28" name="Text 26"/>
          <p:cNvSpPr/>
          <p:nvPr/>
        </p:nvSpPr>
        <p:spPr>
          <a:xfrm>
            <a:off x="4553712" y="5193792"/>
            <a:ext cx="3063240" cy="822960"/>
          </a:xfrm>
          <a:prstGeom prst="rect">
            <a:avLst/>
          </a:prstGeom>
          <a:noFill/>
          <a:ln/>
        </p:spPr>
        <p:txBody>
          <a:bodyPr wrap="square" lIns="0" tIns="0" rIns="0" bIns="0" rtlCol="0" anchor="t"/>
          <a:lstStyle/>
          <a:p>
            <a:pPr indent="0" marL="0">
              <a:lnSpc>
                <a:spcPct val="115000"/>
              </a:lnSpc>
              <a:buNone/>
            </a:pPr>
            <a:r>
              <a:rPr lang="en-US" sz="1150" dirty="0">
                <a:solidFill>
                  <a:srgbClr val="5B6178"/>
                </a:solidFill>
                <a:latin typeface="Calibri" pitchFamily="34" charset="0"/>
                <a:ea typeface="Calibri" pitchFamily="34" charset="-122"/>
                <a:cs typeface="Calibri" pitchFamily="34" charset="-120"/>
              </a:rPr>
              <a:t>Deliver context-aware, individualized recommendations instead of generic responses.</a:t>
            </a:r>
            <a:endParaRPr lang="en-US" sz="1150" dirty="0"/>
          </a:p>
        </p:txBody>
      </p:sp>
      <p:sp>
        <p:nvSpPr>
          <p:cNvPr id="29" name="Shape 27"/>
          <p:cNvSpPr/>
          <p:nvPr/>
        </p:nvSpPr>
        <p:spPr>
          <a:xfrm>
            <a:off x="8101584" y="3931920"/>
            <a:ext cx="3520440" cy="2148840"/>
          </a:xfrm>
          <a:prstGeom prst="roundRect">
            <a:avLst>
              <a:gd name="adj" fmla="val 4255"/>
            </a:avLst>
          </a:prstGeom>
          <a:solidFill>
            <a:srgbClr val="F7F9FD"/>
          </a:solidFill>
          <a:ln/>
          <a:effectLst>
            <a:outerShdw sx="100000" sy="100000" kx="0" ky="0" algn="bl" rotWithShape="0" blurRad="76200" dist="25400" dir="5400000">
              <a:srgbClr val="1E2761">
                <a:alpha val="12000"/>
              </a:srgbClr>
            </a:outerShdw>
          </a:effectLst>
        </p:spPr>
      </p:sp>
      <p:sp>
        <p:nvSpPr>
          <p:cNvPr id="30" name="Shape 28"/>
          <p:cNvSpPr/>
          <p:nvPr/>
        </p:nvSpPr>
        <p:spPr>
          <a:xfrm>
            <a:off x="8330184" y="4160520"/>
            <a:ext cx="502920" cy="502920"/>
          </a:xfrm>
          <a:prstGeom prst="ellipse">
            <a:avLst/>
          </a:prstGeom>
          <a:solidFill>
            <a:srgbClr val="1E2761"/>
          </a:solidFill>
          <a:ln/>
        </p:spPr>
      </p:sp>
      <p:sp>
        <p:nvSpPr>
          <p:cNvPr id="31" name="Text 29"/>
          <p:cNvSpPr/>
          <p:nvPr/>
        </p:nvSpPr>
        <p:spPr>
          <a:xfrm>
            <a:off x="8330184" y="41605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Arial" pitchFamily="34" charset="0"/>
                <a:ea typeface="Arial" pitchFamily="34" charset="-122"/>
                <a:cs typeface="Arial" pitchFamily="34" charset="-120"/>
              </a:rPr>
              <a:t>6</a:t>
            </a:r>
            <a:endParaRPr lang="en-US" sz="1430" dirty="0"/>
          </a:p>
        </p:txBody>
      </p:sp>
      <p:sp>
        <p:nvSpPr>
          <p:cNvPr id="32" name="Text 30"/>
          <p:cNvSpPr/>
          <p:nvPr/>
        </p:nvSpPr>
        <p:spPr>
          <a:xfrm>
            <a:off x="8330184" y="4773168"/>
            <a:ext cx="306324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24/7 Availability</a:t>
            </a:r>
            <a:endParaRPr lang="en-US" sz="1500" dirty="0"/>
          </a:p>
        </p:txBody>
      </p:sp>
      <p:sp>
        <p:nvSpPr>
          <p:cNvPr id="33" name="Text 31"/>
          <p:cNvSpPr/>
          <p:nvPr/>
        </p:nvSpPr>
        <p:spPr>
          <a:xfrm>
            <a:off x="8330184" y="5193792"/>
            <a:ext cx="3063240" cy="822960"/>
          </a:xfrm>
          <a:prstGeom prst="rect">
            <a:avLst/>
          </a:prstGeom>
          <a:noFill/>
          <a:ln/>
        </p:spPr>
        <p:txBody>
          <a:bodyPr wrap="square" lIns="0" tIns="0" rIns="0" bIns="0" rtlCol="0" anchor="t"/>
          <a:lstStyle/>
          <a:p>
            <a:pPr indent="0" marL="0">
              <a:lnSpc>
                <a:spcPct val="115000"/>
              </a:lnSpc>
              <a:buNone/>
            </a:pPr>
            <a:r>
              <a:rPr lang="en-US" sz="1150" dirty="0">
                <a:solidFill>
                  <a:srgbClr val="5B6178"/>
                </a:solidFill>
                <a:latin typeface="Calibri" pitchFamily="34" charset="0"/>
                <a:ea typeface="Calibri" pitchFamily="34" charset="-122"/>
                <a:cs typeface="Calibri" pitchFamily="34" charset="-120"/>
              </a:rPr>
              <a:t>Provide always-available support so employees are never blocked waiting on HR.</a:t>
            </a:r>
            <a:endParaRPr lang="en-US" sz="1150" dirty="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35" name="Text 33"/>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Introduction</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Text 2"/>
          <p:cNvSpPr/>
          <p:nvPr/>
        </p:nvSpPr>
        <p:spPr>
          <a:xfrm>
            <a:off x="548640" y="1463040"/>
            <a:ext cx="6217920" cy="1554480"/>
          </a:xfrm>
          <a:prstGeom prst="rect">
            <a:avLst/>
          </a:prstGeom>
          <a:noFill/>
          <a:ln/>
        </p:spPr>
        <p:txBody>
          <a:bodyPr wrap="square" lIns="0" tIns="0" rIns="0" bIns="0" rtlCol="0" anchor="t"/>
          <a:lstStyle/>
          <a:p>
            <a:pPr indent="0" marL="0">
              <a:lnSpc>
                <a:spcPct val="125000"/>
              </a:lnSpc>
              <a:buNone/>
            </a:pPr>
            <a:r>
              <a:rPr lang="en-US" sz="1450" dirty="0">
                <a:solidFill>
                  <a:srgbClr val="1B1F3B"/>
                </a:solidFill>
                <a:latin typeface="Calibri" pitchFamily="34" charset="0"/>
                <a:ea typeface="Calibri" pitchFamily="34" charset="-122"/>
                <a:cs typeface="Calibri" pitchFamily="34" charset="-120"/>
              </a:rPr>
              <a:t>Employee engagement directly influences productivity, retention and organizational culture, yet most companies still rely on static portals, ticketing systems, and slow email chains for HR support. This creates delays, inconsistent answers, and a disconnect between employees and HR teams — especially in hybrid and distributed workplaces.</a:t>
            </a:r>
            <a:endParaRPr lang="en-US" sz="1450" dirty="0"/>
          </a:p>
        </p:txBody>
      </p:sp>
      <p:sp>
        <p:nvSpPr>
          <p:cNvPr id="5" name="Text 3"/>
          <p:cNvSpPr/>
          <p:nvPr/>
        </p:nvSpPr>
        <p:spPr>
          <a:xfrm>
            <a:off x="548640" y="3154680"/>
            <a:ext cx="6217920" cy="1920240"/>
          </a:xfrm>
          <a:prstGeom prst="rect">
            <a:avLst/>
          </a:prstGeom>
          <a:noFill/>
          <a:ln/>
        </p:spPr>
        <p:txBody>
          <a:bodyPr wrap="square" lIns="0" tIns="0" rIns="0" bIns="0" rtlCol="0" anchor="t"/>
          <a:lstStyle/>
          <a:p>
            <a:pPr indent="0" marL="0">
              <a:lnSpc>
                <a:spcPct val="125000"/>
              </a:lnSpc>
              <a:buNone/>
            </a:pPr>
            <a:r>
              <a:rPr lang="en-US" sz="1450" dirty="0">
                <a:solidFill>
                  <a:srgbClr val="1B1F3B"/>
                </a:solidFill>
                <a:latin typeface="Calibri" pitchFamily="34" charset="0"/>
                <a:ea typeface="Calibri" pitchFamily="34" charset="-122"/>
                <a:cs typeface="Calibri" pitchFamily="34" charset="-120"/>
              </a:rPr>
              <a:t>The rise of Generative AI and Large Language Models (LLMs) has opened new possibilities for building conversational systems that understand context, respond empathetically, and personalize interactions at scale. HRCompanion leverages these advances to reimagine the HR support experience — combining a generative-AI chat interface with sentiment analysis and workflow automation into a single engagement platform.</a:t>
            </a:r>
            <a:endParaRPr lang="en-US" sz="1450" dirty="0"/>
          </a:p>
        </p:txBody>
      </p:sp>
      <p:sp>
        <p:nvSpPr>
          <p:cNvPr id="6" name="Shape 4"/>
          <p:cNvSpPr/>
          <p:nvPr/>
        </p:nvSpPr>
        <p:spPr>
          <a:xfrm>
            <a:off x="7132320" y="1417320"/>
            <a:ext cx="4480560" cy="4892040"/>
          </a:xfrm>
          <a:prstGeom prst="roundRect">
            <a:avLst>
              <a:gd name="adj" fmla="val 2041"/>
            </a:avLst>
          </a:prstGeom>
          <a:solidFill>
            <a:srgbClr val="1E2761"/>
          </a:solidFill>
          <a:ln/>
        </p:spPr>
      </p:sp>
      <p:sp>
        <p:nvSpPr>
          <p:cNvPr id="7" name="Text 5"/>
          <p:cNvSpPr/>
          <p:nvPr/>
        </p:nvSpPr>
        <p:spPr>
          <a:xfrm>
            <a:off x="7452360" y="1645920"/>
            <a:ext cx="3840480" cy="365760"/>
          </a:xfrm>
          <a:prstGeom prst="rect">
            <a:avLst/>
          </a:prstGeom>
          <a:noFill/>
          <a:ln/>
        </p:spPr>
        <p:txBody>
          <a:bodyPr wrap="square" lIns="0" tIns="0" rIns="0" bIns="0" rtlCol="0" anchor="ctr"/>
          <a:lstStyle/>
          <a:p>
            <a:pPr indent="0" marL="0">
              <a:buNone/>
            </a:pPr>
            <a:r>
              <a:rPr lang="en-US" sz="1400" b="1" dirty="0">
                <a:solidFill>
                  <a:srgbClr val="3DDC97"/>
                </a:solidFill>
                <a:latin typeface="Calibri" pitchFamily="34" charset="0"/>
                <a:ea typeface="Calibri" pitchFamily="34" charset="-122"/>
                <a:cs typeface="Calibri" pitchFamily="34" charset="-120"/>
              </a:rPr>
              <a:t>Why It Matters</a:t>
            </a:r>
            <a:endParaRPr lang="en-US" sz="1400" dirty="0"/>
          </a:p>
        </p:txBody>
      </p:sp>
      <p:sp>
        <p:nvSpPr>
          <p:cNvPr id="8" name="Shape 6"/>
          <p:cNvSpPr/>
          <p:nvPr/>
        </p:nvSpPr>
        <p:spPr>
          <a:xfrm>
            <a:off x="7452360" y="2194560"/>
            <a:ext cx="146304" cy="146304"/>
          </a:xfrm>
          <a:prstGeom prst="ellipse">
            <a:avLst/>
          </a:prstGeom>
          <a:solidFill>
            <a:srgbClr val="3DDC97"/>
          </a:solidFill>
          <a:ln/>
        </p:spPr>
      </p:sp>
      <p:sp>
        <p:nvSpPr>
          <p:cNvPr id="9" name="Text 7"/>
          <p:cNvSpPr/>
          <p:nvPr/>
        </p:nvSpPr>
        <p:spPr>
          <a:xfrm>
            <a:off x="7772400" y="2039112"/>
            <a:ext cx="37033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Delayed HR responses hurt day-to-day morale</a:t>
            </a:r>
            <a:endParaRPr lang="en-US" sz="1250" dirty="0"/>
          </a:p>
        </p:txBody>
      </p:sp>
      <p:sp>
        <p:nvSpPr>
          <p:cNvPr id="10" name="Shape 8"/>
          <p:cNvSpPr/>
          <p:nvPr/>
        </p:nvSpPr>
        <p:spPr>
          <a:xfrm>
            <a:off x="7452360" y="2999232"/>
            <a:ext cx="146304" cy="146304"/>
          </a:xfrm>
          <a:prstGeom prst="ellipse">
            <a:avLst/>
          </a:prstGeom>
          <a:solidFill>
            <a:srgbClr val="3DDC97"/>
          </a:solidFill>
          <a:ln/>
        </p:spPr>
      </p:sp>
      <p:sp>
        <p:nvSpPr>
          <p:cNvPr id="11" name="Text 9"/>
          <p:cNvSpPr/>
          <p:nvPr/>
        </p:nvSpPr>
        <p:spPr>
          <a:xfrm>
            <a:off x="7772400" y="2843784"/>
            <a:ext cx="37033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Disengaged employees are more likely to leave</a:t>
            </a:r>
            <a:endParaRPr lang="en-US" sz="1250" dirty="0"/>
          </a:p>
        </p:txBody>
      </p:sp>
      <p:sp>
        <p:nvSpPr>
          <p:cNvPr id="12" name="Shape 10"/>
          <p:cNvSpPr/>
          <p:nvPr/>
        </p:nvSpPr>
        <p:spPr>
          <a:xfrm>
            <a:off x="7452360" y="3803904"/>
            <a:ext cx="146304" cy="146304"/>
          </a:xfrm>
          <a:prstGeom prst="ellipse">
            <a:avLst/>
          </a:prstGeom>
          <a:solidFill>
            <a:srgbClr val="3DDC97"/>
          </a:solidFill>
          <a:ln/>
        </p:spPr>
      </p:sp>
      <p:sp>
        <p:nvSpPr>
          <p:cNvPr id="13" name="Text 11"/>
          <p:cNvSpPr/>
          <p:nvPr/>
        </p:nvSpPr>
        <p:spPr>
          <a:xfrm>
            <a:off x="7772400" y="3648456"/>
            <a:ext cx="37033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HR teams are overloaded with repetitive queries</a:t>
            </a:r>
            <a:endParaRPr lang="en-US" sz="1250" dirty="0"/>
          </a:p>
        </p:txBody>
      </p:sp>
      <p:sp>
        <p:nvSpPr>
          <p:cNvPr id="14" name="Shape 12"/>
          <p:cNvSpPr/>
          <p:nvPr/>
        </p:nvSpPr>
        <p:spPr>
          <a:xfrm>
            <a:off x="7452360" y="4608576"/>
            <a:ext cx="146304" cy="146304"/>
          </a:xfrm>
          <a:prstGeom prst="ellipse">
            <a:avLst/>
          </a:prstGeom>
          <a:solidFill>
            <a:srgbClr val="3DDC97"/>
          </a:solidFill>
          <a:ln/>
        </p:spPr>
      </p:sp>
      <p:sp>
        <p:nvSpPr>
          <p:cNvPr id="15" name="Text 13"/>
          <p:cNvSpPr/>
          <p:nvPr/>
        </p:nvSpPr>
        <p:spPr>
          <a:xfrm>
            <a:off x="7772400" y="4453128"/>
            <a:ext cx="37033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Feedback often goes uncollected or unanalyzed</a:t>
            </a:r>
            <a:endParaRPr lang="en-US" sz="1250" dirty="0"/>
          </a:p>
        </p:txBody>
      </p:sp>
      <p:sp>
        <p:nvSpPr>
          <p:cNvPr id="16" name="Shape 14"/>
          <p:cNvSpPr/>
          <p:nvPr/>
        </p:nvSpPr>
        <p:spPr>
          <a:xfrm>
            <a:off x="7452360" y="5413248"/>
            <a:ext cx="146304" cy="146304"/>
          </a:xfrm>
          <a:prstGeom prst="ellipse">
            <a:avLst/>
          </a:prstGeom>
          <a:solidFill>
            <a:srgbClr val="3DDC97"/>
          </a:solidFill>
          <a:ln/>
        </p:spPr>
      </p:sp>
      <p:sp>
        <p:nvSpPr>
          <p:cNvPr id="17" name="Text 15"/>
          <p:cNvSpPr/>
          <p:nvPr/>
        </p:nvSpPr>
        <p:spPr>
          <a:xfrm>
            <a:off x="7772400" y="5257800"/>
            <a:ext cx="3703320" cy="685800"/>
          </a:xfrm>
          <a:prstGeom prst="rect">
            <a:avLst/>
          </a:prstGeom>
          <a:noFill/>
          <a:ln/>
        </p:spPr>
        <p:txBody>
          <a:bodyPr wrap="square" lIns="0" tIns="0" rIns="0" bIns="0" rtlCol="0" anchor="t"/>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Generative AI enables scalable, human-like support</a:t>
            </a:r>
            <a:endParaRPr lang="en-US" sz="1250" dirty="0"/>
          </a:p>
        </p:txBody>
      </p:sp>
      <p:sp>
        <p:nvSpPr>
          <p:cNvPr id="18" name="Text 16"/>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19" name="Text 17"/>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Literature Survey</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Text 2"/>
          <p:cNvSpPr/>
          <p:nvPr/>
        </p:nvSpPr>
        <p:spPr>
          <a:xfrm>
            <a:off x="566928" y="1170432"/>
            <a:ext cx="9144000" cy="320040"/>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Papers 1–5 of 10</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54880"/>
        </p:xfrm>
        <a:graphic>
          <a:graphicData uri="http://schemas.openxmlformats.org/drawingml/2006/table">
            <a:tbl>
              <a:tblPr/>
              <a:tblGrid>
                <a:gridCol w="640080"/>
                <a:gridCol w="3246120"/>
                <a:gridCol w="1965960"/>
                <a:gridCol w="2194560"/>
                <a:gridCol w="3017520"/>
              </a:tblGrid>
              <a:tr h="792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S.No</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Title of Paper with Published Year</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Author(s)</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Methodology</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Findings</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Harnessing AI and LLMs to Transform Employee Engagement and Retention in HR: Trends and Challenges (2026)</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Meraj, F. &amp; Sunayana</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Review of AI/LLM adoption trends in HR</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LLM-based virtual assistants improve engagement and retention; ethical &amp; data-privacy challenges remain open.</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Large Language Models in Human Resource Management: A Systematic Literature Review (2026)</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ScienceDirect Authors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Systematic literature review</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Generative LLMs act as virtual HR assistants and content producers; identifies open issues and future research directions.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Generative AI as a Catalyst for HRM Practices: Mediating Effects of Trust (2024)</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Humanities &amp; Social Sciences Communications (Nature)</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Survey + PLS-SEM modeling</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Ease of use and usefulness of GenAI tools boost employee engagement (vigor &amp; dedication), mediated by trust.</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Chatbots and AI Assistant in HR: Revolutionizing Employee Support and Services (2026)</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Kumar, D. K. (ICDSMLA 2024)</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Review of chatbot applications in HR</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AI chatbots improve productivity, engagement and satisfaction across onboarding, leave and benefits services.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Towards Optimizing and Evaluating a Retrieval-Augmented QA Chatbot using LLMs with Human-in-the-Loop (2024)</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SAP SE Research Team (arXiv)</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RAG-based LLM chatbot + human-in-the-loop evaluation</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RAG chatbot effectively answers employee HR queries; proposes prompt- and tuning-based evaluation methods.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7" name="Text 4"/>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Literature Survey</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Text 2"/>
          <p:cNvSpPr/>
          <p:nvPr/>
        </p:nvSpPr>
        <p:spPr>
          <a:xfrm>
            <a:off x="566928" y="1170432"/>
            <a:ext cx="9144000" cy="320040"/>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Papers 6–10 of 10</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754880"/>
        </p:xfrm>
        <a:graphic>
          <a:graphicData uri="http://schemas.openxmlformats.org/drawingml/2006/table">
            <a:tbl>
              <a:tblPr/>
              <a:tblGrid>
                <a:gridCol w="640080"/>
                <a:gridCol w="3246120"/>
                <a:gridCol w="1965960"/>
                <a:gridCol w="2194560"/>
                <a:gridCol w="3017520"/>
              </a:tblGrid>
              <a:tr h="792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S.No</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Title of Paper with Published Year</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Author(s)</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Methodology</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Findings</a:t>
                      </a:r>
                      <a:endParaRPr lang="en-US" sz="11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1E2761"/>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Can Large Language Models Predict Employee Attrition? (2024)</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arXiv Research Team</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LLM-based prediction vs. traditional ML models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LLMs show competitive performance against conventional ML models in predicting employee attrition.</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Exploring the Impact of AI on Employee Engagement and Productivity in Human Resource Management (2024)</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ResearchGate Authors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Survey-based study, IT sector</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AI-enabled HR chatbots positively impact digital employee experience, engagement and productivity.</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Artificial Intelligence in HR: Employee Engagement Using Chatbots (2024)</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ResearchGate Authors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Mixed-method survey and case analysis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AI improves transparency, real-time communication and self-learning; highlights associated risks and challenges.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HR Chatbots and the Future of Employee Services: Rethinking Digital Employee Experience in the Age of Conversational AI (2025)</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European Economic Letters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Literature review with case studies</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Chatbots streamline HR inquiries and automate onboarding, leave and benefits administration, boosting engagement.</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2F5FB"/>
                    </a:solidFill>
                  </a:tcPr>
                </a:tc>
              </a:tr>
              <a:tr h="792480">
                <a:tc>
                  <a:txBody>
                    <a:bodyPr/>
                    <a:lstStyle/>
                    <a:p>
                      <a:pPr algn="ctr" indent="0" marL="0">
                        <a:buNone/>
                      </a:pPr>
                      <a:r>
                        <a:rPr lang="en-US" sz="1000" dirty="0">
                          <a:solidFill>
                            <a:srgbClr val="1B1F3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1000" b="1" dirty="0">
                          <a:solidFill>
                            <a:srgbClr val="1B1F3B"/>
                          </a:solidFill>
                          <a:latin typeface="Calibri" pitchFamily="34" charset="0"/>
                          <a:ea typeface="Calibri" pitchFamily="34" charset="-122"/>
                          <a:cs typeface="Calibri" pitchFamily="34" charset="-120"/>
                        </a:rPr>
                        <a:t>The Impact of Generative AI on HR Operations and Jobs (2026)</a:t>
                      </a:r>
                      <a:endParaRPr lang="en-US" sz="100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International Journal of Research &amp; Technology</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5B6178"/>
                          </a:solidFill>
                          <a:latin typeface="Calibri" pitchFamily="34" charset="0"/>
                          <a:ea typeface="Calibri" pitchFamily="34" charset="-122"/>
                          <a:cs typeface="Calibri" pitchFamily="34" charset="-120"/>
                        </a:rPr>
                        <a:t>Secondary research methodology</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c>
                  <a:txBody>
                    <a:bodyPr/>
                    <a:lstStyle/>
                    <a:p>
                      <a:pPr indent="0" marL="0">
                        <a:buNone/>
                      </a:pPr>
                      <a:r>
                        <a:rPr lang="en-US" sz="950" dirty="0">
                          <a:solidFill>
                            <a:srgbClr val="1B1F3B"/>
                          </a:solidFill>
                          <a:latin typeface="Calibri" pitchFamily="34" charset="0"/>
                          <a:ea typeface="Calibri" pitchFamily="34" charset="-122"/>
                          <a:cs typeface="Calibri" pitchFamily="34" charset="-120"/>
                        </a:rPr>
                        <a:t>GenAI reshapes HR operations and job roles, generating intelligent recommendations for HR decision-making.</a:t>
                      </a:r>
                      <a:endParaRPr lang="en-US" sz="950" dirty="0">
                        <a:latin typeface="Calibri" charset="0"/>
                        <a:ea typeface="Calibri" charset="0"/>
                        <a:cs typeface="Calibri" charset="0"/>
                      </a:endParaRPr>
                    </a:p>
                  </a:txBody>
                  <a:tcPr marL="91440" marR="91440" marT="45720" marB="45720" anchor="ctr">
                    <a:lnL w="9525" cap="flat" cmpd="sng" algn="ctr">
                      <a:solidFill>
                        <a:srgbClr val="E4E7F2"/>
                      </a:solidFill>
                      <a:prstDash val="solid"/>
                      <a:round/>
                      <a:headEnd type="none" w="med" len="med"/>
                      <a:tailEnd type="none" w="med" len="med"/>
                    </a:lnL>
                    <a:lnR w="9525" cap="flat" cmpd="sng" algn="ctr">
                      <a:solidFill>
                        <a:srgbClr val="E4E7F2"/>
                      </a:solidFill>
                      <a:prstDash val="solid"/>
                      <a:round/>
                      <a:headEnd type="none" w="med" len="med"/>
                      <a:tailEnd type="none" w="med" len="med"/>
                    </a:lnR>
                    <a:lnT w="9525" cap="flat" cmpd="sng" algn="ctr">
                      <a:solidFill>
                        <a:srgbClr val="E4E7F2"/>
                      </a:solidFill>
                      <a:prstDash val="solid"/>
                      <a:round/>
                      <a:headEnd type="none" w="med" len="med"/>
                      <a:tailEnd type="none" w="med" len="med"/>
                    </a:lnT>
                    <a:lnB w="9525" cap="flat" cmpd="sng" algn="ctr">
                      <a:solidFill>
                        <a:srgbClr val="E4E7F2"/>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7" name="Text 4"/>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Literature Survey — Reference Links</a:t>
            </a:r>
            <a:endParaRPr lang="en-US" sz="3400" dirty="0"/>
          </a:p>
        </p:txBody>
      </p:sp>
      <p:sp>
        <p:nvSpPr>
          <p:cNvPr id="3" name="Shape 1"/>
          <p:cNvSpPr/>
          <p:nvPr/>
        </p:nvSpPr>
        <p:spPr>
          <a:xfrm>
            <a:off x="566928" y="1115568"/>
            <a:ext cx="548640" cy="54864"/>
          </a:xfrm>
          <a:prstGeom prst="roundRect">
            <a:avLst>
              <a:gd name="adj" fmla="val 50000"/>
            </a:avLst>
          </a:prstGeom>
          <a:solidFill>
            <a:srgbClr val="3DDC97"/>
          </a:solidFill>
          <a:ln/>
        </p:spPr>
      </p:sp>
      <p:sp>
        <p:nvSpPr>
          <p:cNvPr id="4" name="Text 2"/>
          <p:cNvSpPr/>
          <p:nvPr/>
        </p:nvSpPr>
        <p:spPr>
          <a:xfrm>
            <a:off x="640080" y="155448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1. https://link.springer.com/chapter/10.1007/978-3-032-19160-1_19</a:t>
            </a:r>
            <a:endParaRPr lang="en-US" sz="1200" dirty="0"/>
          </a:p>
        </p:txBody>
      </p:sp>
      <p:sp>
        <p:nvSpPr>
          <p:cNvPr id="5" name="Text 3"/>
          <p:cNvSpPr/>
          <p:nvPr/>
        </p:nvSpPr>
        <p:spPr>
          <a:xfrm>
            <a:off x="640080" y="242316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2. https://www.sciencedirect.com/science/article/pii/S0040162526002775</a:t>
            </a:r>
            <a:endParaRPr lang="en-US" sz="1200" dirty="0"/>
          </a:p>
        </p:txBody>
      </p:sp>
      <p:sp>
        <p:nvSpPr>
          <p:cNvPr id="6" name="Text 4"/>
          <p:cNvSpPr/>
          <p:nvPr/>
        </p:nvSpPr>
        <p:spPr>
          <a:xfrm>
            <a:off x="640080" y="329184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3. https://www.nature.com/articles/s41599-024-03842-4</a:t>
            </a:r>
            <a:endParaRPr lang="en-US" sz="1200" dirty="0"/>
          </a:p>
        </p:txBody>
      </p:sp>
      <p:sp>
        <p:nvSpPr>
          <p:cNvPr id="7" name="Text 5"/>
          <p:cNvSpPr/>
          <p:nvPr/>
        </p:nvSpPr>
        <p:spPr>
          <a:xfrm>
            <a:off x="640080" y="416052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4. https://link.springer.com/chapter/10.1007/978-981-95-5835-3_155</a:t>
            </a:r>
            <a:endParaRPr lang="en-US" sz="1200" dirty="0"/>
          </a:p>
        </p:txBody>
      </p:sp>
      <p:sp>
        <p:nvSpPr>
          <p:cNvPr id="8" name="Text 6"/>
          <p:cNvSpPr/>
          <p:nvPr/>
        </p:nvSpPr>
        <p:spPr>
          <a:xfrm>
            <a:off x="640080" y="502920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5. https://arxiv.org/abs/2407.05925</a:t>
            </a:r>
            <a:endParaRPr lang="en-US" sz="1200" dirty="0"/>
          </a:p>
        </p:txBody>
      </p:sp>
      <p:sp>
        <p:nvSpPr>
          <p:cNvPr id="9" name="Text 7"/>
          <p:cNvSpPr/>
          <p:nvPr/>
        </p:nvSpPr>
        <p:spPr>
          <a:xfrm>
            <a:off x="6309360" y="155448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6. https://arxiv.org/abs/2411.01353</a:t>
            </a:r>
            <a:endParaRPr lang="en-US" sz="1200" dirty="0"/>
          </a:p>
        </p:txBody>
      </p:sp>
      <p:sp>
        <p:nvSpPr>
          <p:cNvPr id="10" name="Text 8"/>
          <p:cNvSpPr/>
          <p:nvPr/>
        </p:nvSpPr>
        <p:spPr>
          <a:xfrm>
            <a:off x="6309360" y="242316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7. https://www.researchgate.net/publication/385683806</a:t>
            </a:r>
            <a:endParaRPr lang="en-US" sz="1200" dirty="0"/>
          </a:p>
        </p:txBody>
      </p:sp>
      <p:sp>
        <p:nvSpPr>
          <p:cNvPr id="11" name="Text 9"/>
          <p:cNvSpPr/>
          <p:nvPr/>
        </p:nvSpPr>
        <p:spPr>
          <a:xfrm>
            <a:off x="6309360" y="329184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8. https://www.researchgate.net/publication/380787637</a:t>
            </a:r>
            <a:endParaRPr lang="en-US" sz="1200" dirty="0"/>
          </a:p>
        </p:txBody>
      </p:sp>
      <p:sp>
        <p:nvSpPr>
          <p:cNvPr id="12" name="Text 10"/>
          <p:cNvSpPr/>
          <p:nvPr/>
        </p:nvSpPr>
        <p:spPr>
          <a:xfrm>
            <a:off x="6309360" y="416052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9. https://www.eelet.org.uk/index.php/journal/article/view/3161</a:t>
            </a:r>
            <a:endParaRPr lang="en-US" sz="1200" dirty="0"/>
          </a:p>
        </p:txBody>
      </p:sp>
      <p:sp>
        <p:nvSpPr>
          <p:cNvPr id="13" name="Text 11"/>
          <p:cNvSpPr/>
          <p:nvPr/>
        </p:nvSpPr>
        <p:spPr>
          <a:xfrm>
            <a:off x="6309360" y="5029200"/>
            <a:ext cx="5394960" cy="731520"/>
          </a:xfrm>
          <a:prstGeom prst="rect">
            <a:avLst/>
          </a:prstGeom>
          <a:noFill/>
          <a:ln/>
        </p:spPr>
        <p:txBody>
          <a:bodyPr wrap="square" lIns="0" tIns="0" rIns="0" bIns="0" rtlCol="0" anchor="t"/>
          <a:lstStyle/>
          <a:p>
            <a:pPr indent="0" marL="0">
              <a:buNone/>
            </a:pPr>
            <a:r>
              <a:rPr lang="en-US" sz="1200" dirty="0">
                <a:solidFill>
                  <a:srgbClr val="1B1F3B"/>
                </a:solidFill>
                <a:latin typeface="Calibri" pitchFamily="34" charset="0"/>
                <a:ea typeface="Calibri" pitchFamily="34" charset="-122"/>
                <a:cs typeface="Calibri" pitchFamily="34" charset="-120"/>
              </a:rPr>
              <a:t>10. https://ijrt.org/j/article/view/1690</a:t>
            </a:r>
            <a:endParaRPr lang="en-US" sz="1200" dirty="0"/>
          </a:p>
        </p:txBody>
      </p:sp>
      <p:sp>
        <p:nvSpPr>
          <p:cNvPr id="14" name="Text 12"/>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i="1" dirty="0">
                <a:solidFill>
                  <a:srgbClr val="5B6178"/>
                </a:solidFill>
                <a:latin typeface="Calibri" pitchFamily="34" charset="0"/>
                <a:ea typeface="Calibri" pitchFamily="34" charset="-122"/>
                <a:cs typeface="Calibri" pitchFamily="34" charset="-120"/>
              </a:rPr>
              <a:t>HRCompanion — Major Project</a:t>
            </a:r>
            <a:endParaRPr lang="en-US" sz="1000" dirty="0"/>
          </a:p>
        </p:txBody>
      </p:sp>
      <p:sp>
        <p:nvSpPr>
          <p:cNvPr id="15" name="Text 13"/>
          <p:cNvSpPr/>
          <p:nvPr/>
        </p:nvSpPr>
        <p:spPr>
          <a:xfrm>
            <a:off x="9875520" y="6473952"/>
            <a:ext cx="1828800" cy="274320"/>
          </a:xfrm>
          <a:prstGeom prst="rect">
            <a:avLst/>
          </a:prstGeom>
          <a:noFill/>
          <a:ln/>
        </p:spPr>
        <p:txBody>
          <a:bodyPr wrap="square" lIns="0" tIns="0" rIns="0" bIns="0"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2026-09-15T04:03:46Z</dcterms:created>
  <dcterms:modified xsi:type="dcterms:W3CDTF">2026-09-15T04:03:46Z</dcterms:modified>
</cp:coreProperties>
</file>